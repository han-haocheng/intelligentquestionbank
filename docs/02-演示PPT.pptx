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1447" r:id="rId3"/>
    <p:sldId id="278" r:id="rId5"/>
    <p:sldId id="1446" r:id="rId6"/>
    <p:sldId id="1435" r:id="rId7"/>
    <p:sldId id="1438" r:id="rId8"/>
    <p:sldId id="1436" r:id="rId9"/>
    <p:sldId id="1434" r:id="rId10"/>
    <p:sldId id="1440" r:id="rId11"/>
    <p:sldId id="1444" r:id="rId12"/>
    <p:sldId id="1437" r:id="rId13"/>
    <p:sldId id="1433" r:id="rId14"/>
    <p:sldId id="1442" r:id="rId15"/>
    <p:sldId id="1445" r:id="rId16"/>
    <p:sldId id="1441" r:id="rId17"/>
    <p:sldId id="1448" r:id="rId18"/>
  </p:sldIdLst>
  <p:sldSz cx="12192000" cy="6858000"/>
  <p:notesSz cx="6858000" cy="9144000"/>
  <p:embeddedFontLst>
    <p:embeddedFont>
      <p:font typeface="思源宋体 CN SemiBold" panose="02020600000000000000" pitchFamily="18" charset="-122"/>
      <p:bold r:id="rId23"/>
    </p:embeddedFont>
    <p:embeddedFont>
      <p:font typeface="思源宋体 CN Heavy" panose="02020900000000000000" pitchFamily="18" charset="-122"/>
      <p:bold r:id="rId24"/>
    </p:embeddedFont>
  </p:embeddedFontLst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8" userDrawn="1">
          <p15:clr>
            <a:srgbClr val="A4A3A4"/>
          </p15:clr>
        </p15:guide>
        <p15:guide id="2" pos="3830" userDrawn="1">
          <p15:clr>
            <a:srgbClr val="A4A3A4"/>
          </p15:clr>
        </p15:guide>
        <p15:guide id="3" pos="415" userDrawn="1">
          <p15:clr>
            <a:srgbClr val="A4A3A4"/>
          </p15:clr>
        </p15:guide>
        <p15:guide id="4" pos="7236" userDrawn="1">
          <p15:clr>
            <a:srgbClr val="A4A3A4"/>
          </p15:clr>
        </p15:guide>
        <p15:guide id="5" orient="horz" pos="617" userDrawn="1">
          <p15:clr>
            <a:srgbClr val="A4A3A4"/>
          </p15:clr>
        </p15:guide>
        <p15:guide id="6" orient="horz" pos="712" userDrawn="1">
          <p15:clr>
            <a:srgbClr val="A4A3A4"/>
          </p15:clr>
        </p15:guide>
        <p15:guide id="7" orient="horz" pos="3929" userDrawn="1">
          <p15:clr>
            <a:srgbClr val="A4A3A4"/>
          </p15:clr>
        </p15:guide>
        <p15:guide id="8" orient="horz" pos="3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35F3"/>
    <a:srgbClr val="444EF7"/>
    <a:srgbClr val="BFC3FC"/>
    <a:srgbClr val="0912C9"/>
    <a:srgbClr val="646BF8"/>
    <a:srgbClr val="2D353A"/>
    <a:srgbClr val="D44750"/>
    <a:srgbClr val="6AB566"/>
    <a:srgbClr val="61AA70"/>
    <a:srgbClr val="00F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476" autoAdjust="0"/>
    <p:restoredTop sz="94694" autoAdjust="0"/>
  </p:normalViewPr>
  <p:slideViewPr>
    <p:cSldViewPr snapToGrid="0" showGuides="1">
      <p:cViewPr>
        <p:scale>
          <a:sx n="75" d="100"/>
          <a:sy n="75" d="100"/>
        </p:scale>
        <p:origin x="48" y="324"/>
      </p:cViewPr>
      <p:guideLst>
        <p:guide orient="horz" pos="2278"/>
        <p:guide pos="3830"/>
        <p:guide pos="415"/>
        <p:guide pos="7236"/>
        <p:guide orient="horz" pos="617"/>
        <p:guide orient="horz" pos="712"/>
        <p:guide orient="horz" pos="3929"/>
        <p:guide orient="horz" pos="38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7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思源宋体 CN SemiBold" panose="02020600000000000000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rPr>
            </a:fld>
            <a:endParaRPr lang="zh-CN" altLang="en-US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思源宋体 CN SemiBold" panose="02020600000000000000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思源宋体 CN SemiBold" panose="02020600000000000000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rPr>
            </a:fld>
            <a:endParaRPr lang="zh-CN" altLang="en-US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思源宋体 CN SemiBold" panose="02020600000000000000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fld id="{283CE2B5-C7CF-4FCB-A687-2965513C8919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fld id="{9DAEF730-554A-4C31-AC8F-C3E8827AFB11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 CN SemiBold" panose="02020600000000000000" pitchFamily="18" charset="-122"/>
        <a:ea typeface="思源宋体 CN SemiBold" panose="02020600000000000000" pitchFamily="18" charset="-122"/>
        <a:cs typeface="思源宋体 CN SemiBold" panose="02020600000000000000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 CN SemiBold" panose="02020600000000000000" pitchFamily="18" charset="-122"/>
        <a:ea typeface="思源宋体 CN SemiBold" panose="02020600000000000000" pitchFamily="18" charset="-122"/>
        <a:cs typeface="思源宋体 CN SemiBold" panose="02020600000000000000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 CN SemiBold" panose="02020600000000000000" pitchFamily="18" charset="-122"/>
        <a:ea typeface="思源宋体 CN SemiBold" panose="02020600000000000000" pitchFamily="18" charset="-122"/>
        <a:cs typeface="思源宋体 CN SemiBold" panose="02020600000000000000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 CN SemiBold" panose="02020600000000000000" pitchFamily="18" charset="-122"/>
        <a:ea typeface="思源宋体 CN SemiBold" panose="02020600000000000000" pitchFamily="18" charset="-122"/>
        <a:cs typeface="思源宋体 CN SemiBold" panose="02020600000000000000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 CN SemiBold" panose="02020600000000000000" pitchFamily="18" charset="-122"/>
        <a:ea typeface="思源宋体 CN SemiBold" panose="02020600000000000000" pitchFamily="18" charset="-122"/>
        <a:cs typeface="思源宋体 CN SemiBold" panose="02020600000000000000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【P1 封面 · 建议 0.5 分钟】</a:t>
            </a:r>
          </a:p>
          <a:p>
            <a:r>
              <a:t>口播：大家好，我们带来的作品叫《智能题库管理系统》。它解决一个很具体的问题：把散落在 Word、Excel 里的题目，变成老师随手可管、学生随时可练、数据越用越聪明的在线题库。接下来我用三分钟 Demo 和几个关键设计，向大家介绍这套系统。</a:t>
            </a:r>
          </a:p>
          <a:p>
            <a:r>
              <a:t>画面建议：产品桌面端或统计看板截图做背景；项目 GitHub 二维码（github.com/Han-Haocheng/IntelligentQuestionBank）。</a:t>
            </a:r>
          </a:p>
          <a:p>
            <a:r>
              <a:t>待填项：【学校名称】【团队/课程名称】【成员A】【成员B】【成员C】【日期】。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【目录 · 建议 0.5 分钟】本页为新增的章节导航，把文案中的 14 页结构归并为 9 个章节：</a:t>
            </a:r>
          </a:p>
          <a:p>
            <a:r>
              <a:t>痛点与价值（P2-P3）· 功能全景（P4）· 建题与导入（P5）· 练习与判分（P6）· 数据与洞察（P7）· 协作与主题（P8）· 架构与安全（P9-P10）· 开源与规划（P11-P12）· 团队与愿景（P13-P14）。</a:t>
            </a:r>
          </a:p>
          <a:p>
            <a:r>
              <a:t>整体节奏 10~12 分钟；若时间紧（8 分钟）：合并 P2+P3、P8 并入 P4，保留 P5~P7 三个 Demo 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B905D4-827C-4148-B7A2-BD99F4484BE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【P2 痛点 · 建议 1 分钟】</a:t>
            </a:r>
          </a:p>
          <a:p>
            <a:r>
              <a:t>口播：我们观察到的第一个事实是：对老师来说“出题”是专业活，但“管题”是体力活；对学生来说“刷题”是常态，但“错题复盘”几乎没有工具支撑；而机构一旦把题库放进商业平台，数据和 AI 能力都绑定了厂商。痛点其实集中在三个字——散、慢、绑。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【P3 产品一句话与价值 · 建议 1 分钟】</a:t>
            </a:r>
          </a:p>
          <a:p>
            <a:r>
              <a:t>口播：一句话概括——这是一套把“管题、练题、分析”做成完整闭环的题库软件。老师几分钟把 Excel 旧题变成在线题库；学生练完即时判分、错题自动进本；在此基础上，AI 提供质量分析与个人学情报告，而且所有数据都可以部署在学校自己的服务器上。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【P4 功能全景 · 建议 1.5 分钟】</a:t>
            </a:r>
          </a:p>
          <a:p>
            <a:r>
              <a:t>口播：系统按六个模块组织：题目管理覆盖五种题型和完整元数据；批量导入支持 Excel/CSV，错误行自动标红，缺失的答案和解析还能用 AI 补全；练习提供顺序、随机、错题重做三种模式，交卷自动判分，错题自动进入错题本；题目和题库支持共享协作，细到“只读/可编辑”两级权限；统计看板给每个学生和老师图形化的数据反馈；最后是体验层：主题皮肤、三平台桌面客户端、以及给低配服务器准备的服务端渲染轻量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AC32F-0DF6-48F7-9C35-CA03B8D8E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【P5 Demo ① 建题与批量导入 · 现场演示 2 分钟】</a:t>
            </a:r>
          </a:p>
          <a:p>
            <a:r>
              <a:t>口播：我们现场演示批量导入。这是一份老师们常见的 Excel 表格，里面几十道题只有题干没有答案。上传后系统先做格式校验，缺答案的行标出来；我们勾选这些行点“AI 补全”，几秒钟大模型把答案和解析补上——注意，补全结果只是写进预览，人可以逐行修改，确认后才入库。也就是说，AI 在这里只当助手，决定权始终在老师手里。</a:t>
            </a:r>
          </a:p>
          <a:p>
            <a:r>
              <a:t>备用方案：（若现场网络/Key 不可用，演示仅走到“标红+手工补填”并口头说明 AI 补全。）</a:t>
            </a:r>
          </a:p>
          <a:p>
            <a:r>
              <a:t>附录 A · 第 1 步（对应 P5）：admin 登录 → 题目管理 → 新建 1 题（展示录入表单）→ 批量导入 → 下载模板/选测试文件上传 → 预览页指出标红错误行 → 勾选“AI 补全”→ 展示结果 → 修改其中一行（体现人工可改）→ 完成导入 → 列表验证条数。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【P6 Demo ② 练习→判分→错题 · 现场演示 1.5 分钟】</a:t>
            </a:r>
          </a:p>
          <a:p>
            <a:r>
              <a:t>口播：学生端的练习体验是这样的：可以选择顺序、随机或错题重做，练习过程中界面故意不显示答案，防止边做边抄；交卷后系统用确定性规则自动判分——单选多选判断精确匹配、填空按空给分、简答宽松匹配。答错的题自动进错题本并累计错误次数，下次可以直接“错题重做”。对备考来说，这个闭环的价值是：每一次做错的题都不会再丢。</a:t>
            </a:r>
          </a:p>
          <a:p>
            <a:r>
              <a:t>附录 A · 第 2 步（对应 P6）：切 demo 账号 → 练习页选“随机 + 某分类”→ 展示筛选题量与开始 → 答 2~3 题（其中故意答错 1 题）→ 交卷 → 展示判分 → 进错题本看到刚才那题与次数 → “错题重做”入口。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730213-C7A7-41CC-918A-A6DC9FA17251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【P7 Demo ③ 统计看板与 AI 学情报告 · 现场演示 1.5 分钟】</a:t>
            </a:r>
          </a:p>
          <a:p>
            <a:r>
              <a:t>口播：统计页把练习数据变成图表：正确率趋势、题型难度分布、错题最多的分类。右上角点“AI 学情报告”，系统把这些统计数据交给大模型，生成四段式报告：总体评价、薄弱知识点、具体学习建议、后续练习计划。这里要强调两点：第一，报告基于学生自己真实的练习数据，不是空泛的“多刷题”；第二，数据只发给用户自己配置的大模型服务商，API Key 存在本机浏览器，不经过我们的服务器——这个隐私设计我 P10 还会讲。</a:t>
            </a:r>
          </a:p>
          <a:p>
            <a:r>
              <a:t>附录 A · 第 3 步（对应 P7）：统计页逐图口头带过 → 点“AI 学情报告”→ 展示四段式报告 → 切“我的 → AI 设置”展示配置项与历史 50 条（可选）。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787946-F38A-442D-8B4B-7C33473CC73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【P8 共享协作与主题 · 现场演示/截图 1 分钟】</a:t>
            </a:r>
          </a:p>
          <a:p>
            <a:r>
              <a:t>口播：老师之间最常用的场景是集体备课：备课组长把题库共享给组员，设置“可编辑”，大家共同维护一套题；也可以只读共享给学生。系统里被共享的题目有明确的“已共享/被共享·只读/可编辑”状态标识，避免越权修改。界面层还做了主题系统，管理员定义多套皮肤，学生可以切到暗色模式——细节虽小，但体现了我们对真实使用场景的考虑。</a:t>
            </a:r>
          </a:p>
          <a:p>
            <a:r>
              <a:t>附录 A · 第 4 步（对应 P8）：admin 把 1 个题库“共享”给 demo（可编辑）→ demo 收到后订阅/拷贝 → 展示只读共享禁止编辑的交互；右上角切换暗色主题。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B8CC2-32B0-4125-B326-8DF03F3532D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【P9 技术架构与工程化 · 建议 1 分钟】</a:t>
            </a:r>
          </a:p>
          <a:p>
            <a:r>
              <a:t>口播：技术选型以成熟、可维护、可私有化部署为原则：Vue3 + Spring Boot + MySQL 是国内团队最熟悉的组合，教师机房的老机器也带得动；安全上做了一整套加固——JWT 加服务端会话白名单、BCrypt 密码、登录限流、越权校验，这些都在 changelog 里有对应记录。工程化方面，我们搭了完整的自动发布流水线：推标签自动构建三平台安装包并发布 Release，目前已经发布了 9 个版本；后端有 17 个测试类、193 个单测覆盖核心业务。作为一个学生项目，我们用“工程化”而不是“demo 化”的标准要求自己。</a:t>
            </a:r>
          </a:p>
          <a:p>
            <a:r>
              <a:t>质量补充：数据库脚本幂等可重跑（初始化与升级分离）。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【P10 数据安全与 AI 隐私设计 · 重点页，建议 1 分钟，并作为评委提问准备】</a:t>
            </a:r>
          </a:p>
          <a:p>
            <a:r>
              <a:t>口播：这是评委可能会问到的隐私问题，我们提前设计了答案。第一，系统可以整体部署在校园内网，这是商业 SaaS 给不了的；第二，AI 调用不走我们的服务器，用户在“AI 设置”里填自己的 API Key，Key 保存在本机浏览器；只有当用户点“分析”或“补全”的那一刻，当前这一道题或一组统计摘要才会发给用户自己选的服务商；如果不允许任何题目出校，还可以配本地模型 Ollama，一行都不出内网。第三，也是最关键的一条：系统里没有任何一个环节是 AI 自动做决定的——判分、权限、写库全部是确定性代码，AI 的输出永远停留在“建议”层，人工确认后才生效。</a:t>
            </a:r>
          </a:p>
          <a:p>
            <a:r>
              <a:t>附录 B · 追问备答：Q：AI 生成错误答案怎么办？A：AI 结果全部经过人工确认环节：导入补全写入预览可修改，质量分析仅展示不自动写库；判分不依赖 AI；系统对未补全行提示人工处理。Q：怎么保证判分公平/可解释？A：判分是确定性规则代码（精确匹配与宽松匹配规则在源码中可审计），与 AI 无关，可复现。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【P11 开源与交付物 · 建议 0.5 分钟】</a:t>
            </a:r>
          </a:p>
          <a:p>
            <a:r>
              <a:t>口播：我们的项目完全开源，MIT 协议，任何人都能下载、修改甚至商用。GitHub Release 里可以直接下载 Windows、macOS、Linux 三平台的安装包，还有后端 jar 和网页版。部署也很简单：初始化脚本建库建表灌演示数据，一条命令启动后端，前端打包托管即可。仓库里有完整的 README、更新日志和部署文档。</a:t>
            </a:r>
          </a:p>
          <a:p>
            <a:r>
              <a:t>附录 B · 追问备答：Q：和题库类商业产品比，你们优势是什么？A：开源免费、可私有化部署、数据自主可控；AI 不绑定厂商，可用本地模型实现数据不出内网；我们聚焦自建题库+练习闭环，不卖内容。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【P12 商业模式与发展规划 · 建议 1 分钟】</a:t>
            </a:r>
          </a:p>
          <a:p>
            <a:r>
              <a:t>口播：关于商业模式我们如实说明：目前是纯开源免费阶段，还没有收入；但我们认为它在“私有化部署”这个场景里有清晰的商业化路径——学校采购或定制、部署实施与培训。近期目标是先在高校课程里做真实试点，用教师反馈迭代产品；中期实现按知识点、难度、题型比例自动组卷；远期愿景是让每个学习者都拥有专属的“智能学习教练”，基于他真实的练习数据个性化出题。</a:t>
            </a:r>
          </a:p>
          <a:p>
            <a:r>
              <a:t>附录 B · 追问备答：Q：商业化进展？A：如实说明——目前开源免费、9 个版本、无收入；商业化路径为私有化部署授权与定制服务，正在寻找试点学校。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B9BE38-5C12-4F04-9796-5D38F69CF36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【P13 团队 · 建议 0.5 分钟】</a:t>
            </a:r>
          </a:p>
          <a:p>
            <a:r>
              <a:t>口播：我们团队 3 人，均来自【学校名称】【专业】，从需求梳理到架构设计再到自动化发布，全部由团队成员独立完成。作为在校大学生，我们最大的优势是离“教与学”的场景最近——用户就是我们的同学和老师。</a:t>
            </a:r>
          </a:p>
          <a:p>
            <a:r>
              <a:t>附录 B · 追问备答：Q：三人如何分工/工作量？A：见本条分工表；如被追问可补充各自负责模块与 git 提交记录（建议三人分别用各自账号提交以形成可核查记录）。Q：有真实用户吗？A：如实回答——当前为演示数据与内部试用【若已有试点反馈请如实补充：N 名师生试用，反馈要点…】。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EF730-554A-4C31-AC8F-C3E8827AFB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【P14 愿景与致谢 · 建议 0.5 分钟】</a:t>
            </a:r>
          </a:p>
          <a:p>
            <a:r>
              <a:t>口播：我们的愿景是让每一道好题都被好好使用。感谢【评委/老师】的聆听，欢迎扫码体验或到 GitHub 查看源码，谢谢大家！</a:t>
            </a:r>
          </a:p>
          <a:p>
            <a:r>
              <a:t>待填项：【指导教师/学院/评委致谢文案】。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 noChangeAspect="1"/>
          </p:cNvSpPr>
          <p:nvPr>
            <p:ph type="pic" sz="quarter" idx="25"/>
          </p:nvPr>
        </p:nvSpPr>
        <p:spPr>
          <a:xfrm>
            <a:off x="536046" y="2170642"/>
            <a:ext cx="5689600" cy="3200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id-ID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 noChangeAspect="1"/>
          </p:cNvSpPr>
          <p:nvPr>
            <p:ph type="pic" sz="quarter" idx="25"/>
          </p:nvPr>
        </p:nvSpPr>
        <p:spPr>
          <a:xfrm>
            <a:off x="536046" y="1351491"/>
            <a:ext cx="11084454" cy="186795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id-ID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 noChangeAspect="1"/>
          </p:cNvSpPr>
          <p:nvPr>
            <p:ph type="pic" sz="quarter" idx="25"/>
          </p:nvPr>
        </p:nvSpPr>
        <p:spPr>
          <a:xfrm>
            <a:off x="3280835" y="1756588"/>
            <a:ext cx="3308347" cy="352424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id-ID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 noChangeAspect="1"/>
          </p:cNvSpPr>
          <p:nvPr>
            <p:ph type="pic" sz="quarter" idx="25"/>
          </p:nvPr>
        </p:nvSpPr>
        <p:spPr>
          <a:xfrm>
            <a:off x="8201178" y="1756588"/>
            <a:ext cx="3308347" cy="409266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id-ID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 noChangeAspect="1"/>
          </p:cNvSpPr>
          <p:nvPr>
            <p:ph type="pic" sz="quarter" idx="25"/>
          </p:nvPr>
        </p:nvSpPr>
        <p:spPr>
          <a:xfrm>
            <a:off x="4205515" y="1904399"/>
            <a:ext cx="2896418" cy="176212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id-ID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endParaRPr lang="id-ID" dirty="0"/>
          </a:p>
        </p:txBody>
      </p:sp>
      <p:sp>
        <p:nvSpPr>
          <p:cNvPr id="5" name="Picture Placeholder 2"/>
          <p:cNvSpPr>
            <a:spLocks noGrp="1" noChangeAspect="1"/>
          </p:cNvSpPr>
          <p:nvPr>
            <p:ph type="pic" sz="quarter" idx="26"/>
          </p:nvPr>
        </p:nvSpPr>
        <p:spPr>
          <a:xfrm>
            <a:off x="4205515" y="4454775"/>
            <a:ext cx="2896418" cy="176212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id-ID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 noChangeAspect="1"/>
          </p:cNvSpPr>
          <p:nvPr>
            <p:ph type="pic" sz="quarter" idx="25"/>
          </p:nvPr>
        </p:nvSpPr>
        <p:spPr>
          <a:xfrm>
            <a:off x="2770710" y="1829552"/>
            <a:ext cx="2269795" cy="440773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id-ID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5"/>
          <p:cNvSpPr/>
          <p:nvPr userDrawn="1"/>
        </p:nvSpPr>
        <p:spPr>
          <a:xfrm>
            <a:off x="675543" y="1944217"/>
            <a:ext cx="2447690" cy="3566428"/>
          </a:xfrm>
          <a:prstGeom prst="roundRect">
            <a:avLst>
              <a:gd name="adj" fmla="val 5164"/>
            </a:avLst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400" b="1" u="sng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" name="Rounded Rectangle 27"/>
          <p:cNvSpPr/>
          <p:nvPr userDrawn="1"/>
        </p:nvSpPr>
        <p:spPr>
          <a:xfrm>
            <a:off x="6310504" y="1944217"/>
            <a:ext cx="2447690" cy="3566428"/>
          </a:xfrm>
          <a:prstGeom prst="roundRect">
            <a:avLst>
              <a:gd name="adj" fmla="val 5164"/>
            </a:avLst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400" b="1" u="sng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8" name="Picture Placeholder 2"/>
          <p:cNvSpPr>
            <a:spLocks noGrp="1" noChangeAspect="1"/>
          </p:cNvSpPr>
          <p:nvPr>
            <p:ph type="pic" sz="quarter" idx="25"/>
          </p:nvPr>
        </p:nvSpPr>
        <p:spPr>
          <a:xfrm>
            <a:off x="675543" y="1944218"/>
            <a:ext cx="2447690" cy="3566428"/>
          </a:xfrm>
          <a:prstGeom prst="roundRect">
            <a:avLst>
              <a:gd name="adj" fmla="val 4733"/>
            </a:avLst>
          </a:prstGeo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id-ID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endParaRPr lang="id-ID" dirty="0"/>
          </a:p>
        </p:txBody>
      </p:sp>
      <p:sp>
        <p:nvSpPr>
          <p:cNvPr id="5" name="Picture Placeholder 2"/>
          <p:cNvSpPr>
            <a:spLocks noGrp="1" noChangeAspect="1"/>
          </p:cNvSpPr>
          <p:nvPr>
            <p:ph type="pic" sz="quarter" idx="26"/>
          </p:nvPr>
        </p:nvSpPr>
        <p:spPr>
          <a:xfrm>
            <a:off x="6310504" y="1944218"/>
            <a:ext cx="2447690" cy="3566428"/>
          </a:xfrm>
          <a:prstGeom prst="roundRect">
            <a:avLst>
              <a:gd name="adj" fmla="val 4733"/>
            </a:avLst>
          </a:prstGeo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id-ID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4"/>
          <p:cNvSpPr>
            <a:spLocks noGrp="1"/>
          </p:cNvSpPr>
          <p:nvPr>
            <p:ph type="pic" sz="quarter" idx="13"/>
          </p:nvPr>
        </p:nvSpPr>
        <p:spPr>
          <a:xfrm>
            <a:off x="8559796" y="3789798"/>
            <a:ext cx="3106739" cy="2016211"/>
          </a:xfr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endParaRPr lang="zh-CN" altLang="en-US" dirty="0"/>
          </a:p>
        </p:txBody>
      </p:sp>
      <p:sp>
        <p:nvSpPr>
          <p:cNvPr id="12" name="图片占位符 4"/>
          <p:cNvSpPr>
            <a:spLocks noGrp="1"/>
          </p:cNvSpPr>
          <p:nvPr>
            <p:ph type="pic" sz="quarter" idx="14"/>
          </p:nvPr>
        </p:nvSpPr>
        <p:spPr>
          <a:xfrm>
            <a:off x="8559796" y="1557887"/>
            <a:ext cx="3106739" cy="2016211"/>
          </a:xfr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endParaRPr lang="zh-CN" altLang="en-US" dirty="0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1"/>
          </p:nvPr>
        </p:nvSpPr>
        <p:spPr>
          <a:xfrm>
            <a:off x="5235533" y="3789798"/>
            <a:ext cx="3106739" cy="2016211"/>
          </a:xfr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endParaRPr lang="zh-CN" altLang="en-US" dirty="0"/>
          </a:p>
        </p:txBody>
      </p:sp>
      <p:sp>
        <p:nvSpPr>
          <p:cNvPr id="10" name="图片占位符 4"/>
          <p:cNvSpPr>
            <a:spLocks noGrp="1"/>
          </p:cNvSpPr>
          <p:nvPr>
            <p:ph type="pic" sz="quarter" idx="12"/>
          </p:nvPr>
        </p:nvSpPr>
        <p:spPr>
          <a:xfrm>
            <a:off x="5235533" y="1557887"/>
            <a:ext cx="3106739" cy="2016211"/>
          </a:xfr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 noChangeAspect="1"/>
          </p:cNvSpPr>
          <p:nvPr>
            <p:ph type="pic" sz="quarter" idx="25"/>
          </p:nvPr>
        </p:nvSpPr>
        <p:spPr>
          <a:xfrm>
            <a:off x="3676111" y="1672996"/>
            <a:ext cx="4448714" cy="253705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id-ID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endParaRPr lang="id-ID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Image Stand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1170705" y="1514475"/>
            <a:ext cx="2297602" cy="4565611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r>
              <a:rPr lang="en-US" dirty="0" smtClean="0"/>
              <a:t>Image</a:t>
            </a:r>
            <a:r>
              <a:rPr lang="en-US" dirty="0"/>
              <a:t>#</a:t>
            </a:r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4260155" y="1514475"/>
            <a:ext cx="2297602" cy="4565611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pPr marL="0" lvl="0" indent="0" algn="ctr">
              <a:buNone/>
            </a:pPr>
            <a:r>
              <a:rPr lang="zh-CN" altLang="en-US" dirty="0" smtClean="0"/>
              <a:t>图片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fld id="{B6D21B80-9413-4EE8-A058-97DF2E8B882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宋体 CN SemiBold" panose="02020600000000000000" pitchFamily="18" charset="-122"/>
              </a:defRPr>
            </a:lvl1pPr>
          </a:lstStyle>
          <a:p>
            <a:fld id="{0C2F1850-6661-42FC-9D6D-89140B9F616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444E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思源宋体 CN SemiBold" panose="02020600000000000000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宋体 CN SemiBold" panose="02020600000000000000" pitchFamily="18" charset="-122"/>
          <a:ea typeface="思源宋体 CN SemiBold" panose="02020600000000000000" pitchFamily="18" charset="-122"/>
          <a:cs typeface="思源宋体 CN SemiBold" panose="02020600000000000000" pitchFamily="18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 SemiBold" panose="02020600000000000000" pitchFamily="18" charset="-122"/>
          <a:ea typeface="思源宋体 CN SemiBold" panose="02020600000000000000" pitchFamily="18" charset="-122"/>
          <a:cs typeface="思源宋体 CN SemiBold" panose="02020600000000000000" pitchFamily="18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 SemiBold" panose="02020600000000000000" pitchFamily="18" charset="-122"/>
          <a:ea typeface="思源宋体 CN SemiBold" panose="02020600000000000000" pitchFamily="18" charset="-122"/>
          <a:cs typeface="思源宋体 CN SemiBold" panose="02020600000000000000" pitchFamily="18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 SemiBold" panose="02020600000000000000" pitchFamily="18" charset="-122"/>
          <a:ea typeface="思源宋体 CN SemiBold" panose="02020600000000000000" pitchFamily="18" charset="-122"/>
          <a:cs typeface="思源宋体 CN SemiBold" panose="02020600000000000000" pitchFamily="18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 SemiBold" panose="02020600000000000000" pitchFamily="18" charset="-122"/>
          <a:ea typeface="思源宋体 CN SemiBold" panose="02020600000000000000" pitchFamily="18" charset="-122"/>
          <a:cs typeface="思源宋体 CN SemiBold" panose="02020600000000000000" pitchFamily="18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 SemiBold" panose="02020600000000000000" pitchFamily="18" charset="-122"/>
          <a:ea typeface="思源宋体 CN SemiBold" panose="02020600000000000000" pitchFamily="18" charset="-122"/>
          <a:cs typeface="思源宋体 CN SemiBold" panose="02020600000000000000" pitchFamily="18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44E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18" y="847725"/>
            <a:ext cx="7395004" cy="51625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62100" y="0"/>
            <a:ext cx="10629900" cy="6839479"/>
          </a:xfrm>
          <a:prstGeom prst="rect">
            <a:avLst/>
          </a:prstGeom>
          <a:gradFill>
            <a:gsLst>
              <a:gs pos="45000">
                <a:srgbClr val="444EF7">
                  <a:alpha val="0"/>
                </a:srgbClr>
              </a:gs>
              <a:gs pos="95000">
                <a:srgbClr val="0912C9">
                  <a:alpha val="52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3" name="直角三角形 22"/>
          <p:cNvSpPr/>
          <p:nvPr/>
        </p:nvSpPr>
        <p:spPr>
          <a:xfrm flipH="1">
            <a:off x="9202197" y="5083162"/>
            <a:ext cx="2989802" cy="1774838"/>
          </a:xfrm>
          <a:prstGeom prst="rtTriangle">
            <a:avLst/>
          </a:prstGeom>
          <a:solidFill>
            <a:srgbClr val="646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5" name="直角三角形 24"/>
          <p:cNvSpPr/>
          <p:nvPr/>
        </p:nvSpPr>
        <p:spPr>
          <a:xfrm flipH="1">
            <a:off x="8795816" y="4823402"/>
            <a:ext cx="3396182" cy="2016077"/>
          </a:xfrm>
          <a:prstGeom prst="rtTriangle">
            <a:avLst/>
          </a:prstGeom>
          <a:solidFill>
            <a:srgbClr val="646BF8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1" name="矩形 259"/>
          <p:cNvSpPr>
            <a:spLocks noChangeArrowheads="1"/>
          </p:cNvSpPr>
          <p:nvPr/>
        </p:nvSpPr>
        <p:spPr bwMode="auto">
          <a:xfrm>
            <a:off x="6000322" y="1637939"/>
            <a:ext cx="532607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27432" rIns="45720" bIns="27432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 defTabSz="914400"/>
            <a:r>
              <a:rPr lang="zh-CN" altLang="zh-CN" sz="2000" b="0" cap="all" spc="300" dirty="0" smtClean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INTELLIGENT QUESTION BANK</a:t>
            </a:r>
            <a:endParaRPr lang="zh-CN" altLang="zh-CN" sz="2000" b="0" cap="all" spc="300" dirty="0" smtClean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0686106" y="3584654"/>
            <a:ext cx="61811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8795816" y="3717416"/>
            <a:ext cx="2616309" cy="613886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zh-CN" sz="1200" b="0" dirty="0" smtClean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管题 · 练题 · 分析</a:t>
            </a:r>
            <a:endParaRPr lang="zh-CN" altLang="zh-CN" sz="1200" b="0" dirty="0" smtClean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  <a:p>
            <a:pPr algn="r" defTabSz="914400">
              <a:lnSpc>
                <a:spcPct val="150000"/>
              </a:lnSpc>
              <a:defRPr/>
            </a:pPr>
            <a:r>
              <a:rPr lang="zh-CN" altLang="zh-CN" sz="1100" b="0" dirty="0" smtClean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教师轻松建题库，学生高效练与学</a:t>
            </a:r>
            <a:endParaRPr lang="zh-CN" altLang="zh-CN" sz="1100" b="0" dirty="0" smtClean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4" name="矩形 259"/>
          <p:cNvSpPr>
            <a:spLocks noChangeArrowheads="1"/>
          </p:cNvSpPr>
          <p:nvPr/>
        </p:nvSpPr>
        <p:spPr bwMode="auto">
          <a:xfrm>
            <a:off x="6086047" y="2206362"/>
            <a:ext cx="5326078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27432" rIns="45720" bIns="27432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 defTabSz="914400"/>
            <a:r>
              <a:rPr lang="zh-CN" altLang="en-US" sz="5100" b="1" cap="all" spc="300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智能题库管理系统</a:t>
            </a:r>
            <a:endParaRPr lang="zh-CN" altLang="en-US" sz="5100" b="1" cap="all" spc="300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9202197" y="4553081"/>
            <a:ext cx="2124203" cy="52919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dirty="0">
              <a:solidFill>
                <a:srgbClr val="444EF7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526680" y="4624490"/>
            <a:ext cx="1475236" cy="400110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/>
          <a:p>
            <a:pPr algn="ctr" defTabSz="1371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0" dirty="0" smtClean="0">
                <a:solidFill>
                  <a:srgbClr val="444EF7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项目演示</a:t>
            </a:r>
            <a:endParaRPr lang="zh-CN" altLang="en-US" sz="2000" b="0" dirty="0" smtClean="0">
              <a:solidFill>
                <a:srgbClr val="444EF7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0406291" y="1320161"/>
            <a:ext cx="920109" cy="118536"/>
            <a:chOff x="908146" y="1355577"/>
            <a:chExt cx="920109" cy="118536"/>
          </a:xfrm>
        </p:grpSpPr>
        <p:sp>
          <p:nvSpPr>
            <p:cNvPr id="18" name="椭圆 17"/>
            <p:cNvSpPr/>
            <p:nvPr/>
          </p:nvSpPr>
          <p:spPr>
            <a:xfrm>
              <a:off x="908146" y="1355577"/>
              <a:ext cx="118536" cy="118536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175337" y="1355577"/>
              <a:ext cx="118536" cy="118536"/>
            </a:xfrm>
            <a:prstGeom prst="ellipse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1442528" y="1355577"/>
              <a:ext cx="118536" cy="118536"/>
            </a:xfrm>
            <a:prstGeom prst="ellipse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709719" y="1355577"/>
              <a:ext cx="118536" cy="118536"/>
            </a:xfrm>
            <a:prstGeom prst="ellipse">
              <a:avLst/>
            </a:prstGeom>
            <a:solidFill>
              <a:schemeClr val="bg1"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</p:grpSp>
      <p:sp>
        <p:nvSpPr>
          <p:cNvPr id="22" name="直角三角形 21"/>
          <p:cNvSpPr/>
          <p:nvPr/>
        </p:nvSpPr>
        <p:spPr>
          <a:xfrm flipV="1">
            <a:off x="7888370" y="4333850"/>
            <a:ext cx="657010" cy="390021"/>
          </a:xfrm>
          <a:prstGeom prst="rtTriangle">
            <a:avLst/>
          </a:prstGeom>
          <a:solidFill>
            <a:srgbClr val="646BF8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658813" cy="6839479"/>
          </a:xfrm>
          <a:prstGeom prst="rect">
            <a:avLst/>
          </a:prstGeom>
          <a:solidFill>
            <a:srgbClr val="3E35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90103" y="309562"/>
            <a:ext cx="278606" cy="0"/>
          </a:xfrm>
          <a:prstGeom prst="line">
            <a:avLst/>
          </a:prstGeom>
          <a:ln w="19050">
            <a:solidFill>
              <a:srgbClr val="BFC3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90103" y="395287"/>
            <a:ext cx="278606" cy="0"/>
          </a:xfrm>
          <a:prstGeom prst="line">
            <a:avLst/>
          </a:prstGeom>
          <a:ln w="19050">
            <a:solidFill>
              <a:srgbClr val="BFC3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90103" y="481012"/>
            <a:ext cx="278606" cy="0"/>
          </a:xfrm>
          <a:prstGeom prst="line">
            <a:avLst/>
          </a:prstGeom>
          <a:ln w="19050">
            <a:solidFill>
              <a:srgbClr val="BFC3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直角三角形 27"/>
          <p:cNvSpPr/>
          <p:nvPr/>
        </p:nvSpPr>
        <p:spPr>
          <a:xfrm flipV="1">
            <a:off x="7477434" y="5391653"/>
            <a:ext cx="657010" cy="390021"/>
          </a:xfrm>
          <a:prstGeom prst="rtTriangle">
            <a:avLst/>
          </a:prstGeom>
          <a:solidFill>
            <a:srgbClr val="646BF8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9" name="直角三角形 28"/>
          <p:cNvSpPr/>
          <p:nvPr/>
        </p:nvSpPr>
        <p:spPr>
          <a:xfrm flipV="1">
            <a:off x="8760257" y="5376658"/>
            <a:ext cx="657010" cy="390021"/>
          </a:xfrm>
          <a:prstGeom prst="rtTriangle">
            <a:avLst/>
          </a:prstGeom>
          <a:solidFill>
            <a:srgbClr val="646BF8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0" name="直角三角形 29"/>
          <p:cNvSpPr/>
          <p:nvPr/>
        </p:nvSpPr>
        <p:spPr>
          <a:xfrm flipV="1">
            <a:off x="9541070" y="1052464"/>
            <a:ext cx="657010" cy="390021"/>
          </a:xfrm>
          <a:prstGeom prst="rtTriangle">
            <a:avLst/>
          </a:prstGeom>
          <a:solidFill>
            <a:srgbClr val="646BF8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1" name="直角三角形 30"/>
          <p:cNvSpPr/>
          <p:nvPr/>
        </p:nvSpPr>
        <p:spPr>
          <a:xfrm flipV="1">
            <a:off x="7559865" y="839248"/>
            <a:ext cx="657010" cy="390021"/>
          </a:xfrm>
          <a:prstGeom prst="rtTriangle">
            <a:avLst/>
          </a:prstGeom>
          <a:solidFill>
            <a:srgbClr val="646BF8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2" name="直角三角形 31"/>
          <p:cNvSpPr/>
          <p:nvPr/>
        </p:nvSpPr>
        <p:spPr>
          <a:xfrm flipV="1">
            <a:off x="6491920" y="1030783"/>
            <a:ext cx="657010" cy="390021"/>
          </a:xfrm>
          <a:prstGeom prst="rtTriangle">
            <a:avLst/>
          </a:prstGeom>
          <a:solidFill>
            <a:srgbClr val="646BF8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3" name="直角三角形 32"/>
          <p:cNvSpPr/>
          <p:nvPr/>
        </p:nvSpPr>
        <p:spPr>
          <a:xfrm flipV="1">
            <a:off x="8205540" y="1637939"/>
            <a:ext cx="657010" cy="390021"/>
          </a:xfrm>
          <a:prstGeom prst="rtTriangle">
            <a:avLst/>
          </a:prstGeom>
          <a:solidFill>
            <a:srgbClr val="646BF8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4" name="直角三角形 33"/>
          <p:cNvSpPr/>
          <p:nvPr/>
        </p:nvSpPr>
        <p:spPr>
          <a:xfrm flipV="1">
            <a:off x="11473557" y="3233989"/>
            <a:ext cx="657010" cy="390021"/>
          </a:xfrm>
          <a:prstGeom prst="rtTriangle">
            <a:avLst/>
          </a:prstGeom>
          <a:solidFill>
            <a:srgbClr val="646BF8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5" name="直角三角形 34"/>
          <p:cNvSpPr/>
          <p:nvPr/>
        </p:nvSpPr>
        <p:spPr>
          <a:xfrm flipV="1">
            <a:off x="9249221" y="3462056"/>
            <a:ext cx="657010" cy="390021"/>
          </a:xfrm>
          <a:prstGeom prst="rtTriangle">
            <a:avLst/>
          </a:prstGeom>
          <a:solidFill>
            <a:srgbClr val="646BF8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6" name="直角三角形 35"/>
          <p:cNvSpPr/>
          <p:nvPr/>
        </p:nvSpPr>
        <p:spPr>
          <a:xfrm flipV="1">
            <a:off x="10879359" y="378561"/>
            <a:ext cx="657010" cy="390021"/>
          </a:xfrm>
          <a:prstGeom prst="rtTriangle">
            <a:avLst/>
          </a:prstGeom>
          <a:solidFill>
            <a:srgbClr val="646BF8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7" name="直角三角形 36"/>
          <p:cNvSpPr/>
          <p:nvPr/>
        </p:nvSpPr>
        <p:spPr>
          <a:xfrm flipV="1">
            <a:off x="5834910" y="5955239"/>
            <a:ext cx="657010" cy="390021"/>
          </a:xfrm>
          <a:prstGeom prst="rtTriangle">
            <a:avLst/>
          </a:prstGeom>
          <a:solidFill>
            <a:srgbClr val="646BF8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8" name="直角三角形 37"/>
          <p:cNvSpPr/>
          <p:nvPr/>
        </p:nvSpPr>
        <p:spPr>
          <a:xfrm flipV="1">
            <a:off x="6699466" y="4748452"/>
            <a:ext cx="657010" cy="390021"/>
          </a:xfrm>
          <a:prstGeom prst="rtTriangle">
            <a:avLst/>
          </a:prstGeom>
          <a:solidFill>
            <a:srgbClr val="646BF8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931920" y="5961888"/>
            <a:ext cx="475488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zh-CN" sz="1100" b="0" dirty="0" smtClean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山东财经大学燕山学院 ·自定义名称队 · 韩昊骋</a:t>
            </a:r>
            <a:r>
              <a:rPr lang="en-US" altLang="zh-CN" sz="1100" b="0" dirty="0" smtClean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 </a:t>
            </a:r>
            <a:r>
              <a:rPr lang="zh-CN" altLang="zh-CN" sz="1100" b="0" dirty="0" smtClean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耿桂彤</a:t>
            </a:r>
            <a:r>
              <a:rPr lang="en-US" altLang="zh-CN" sz="1100" b="0" dirty="0" smtClean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 </a:t>
            </a:r>
            <a:r>
              <a:rPr lang="zh-CN" altLang="en-US" sz="1100" b="0" dirty="0" smtClean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郭智斌</a:t>
            </a:r>
            <a:r>
              <a:rPr lang="zh-CN" altLang="zh-CN" sz="1100" b="0" dirty="0" smtClean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  </a:t>
            </a:r>
            <a:endParaRPr lang="zh-CN" altLang="zh-CN" sz="1100" b="0" dirty="0" smtClean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100" b="0" dirty="0" smtClean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2026-09-10</a:t>
            </a:r>
            <a:endParaRPr lang="zh-CN" altLang="zh-CN" sz="1100" b="0" dirty="0" smtClean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  <a:p>
            <a:pPr algn="r" defTabSz="914400">
              <a:lnSpc>
                <a:spcPct val="150000"/>
              </a:lnSpc>
              <a:defRPr/>
            </a:pPr>
            <a:r>
              <a:rPr lang="zh-CN" altLang="zh-CN" sz="1000" b="0" dirty="0" smtClean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github.com/Han-Haocheng/IntelligentQuestionBank</a:t>
            </a:r>
            <a:endParaRPr lang="zh-CN" altLang="zh-CN" sz="1000" b="0" dirty="0" smtClean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12192000" cy="3378199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58812" y="1276282"/>
            <a:ext cx="33289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9600" b="1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目录</a:t>
            </a:r>
            <a:endParaRPr lang="zh-CN" altLang="en-US" sz="96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130675" y="1961805"/>
            <a:ext cx="8477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019"/>
          <a:stretch>
            <a:fillRect/>
          </a:stretch>
        </p:blipFill>
        <p:spPr>
          <a:xfrm>
            <a:off x="6605510" y="1276282"/>
            <a:ext cx="4563234" cy="2101917"/>
          </a:xfrm>
          <a:custGeom>
            <a:avLst/>
            <a:gdLst>
              <a:gd name="connsiteX0" fmla="*/ 0 w 4563234"/>
              <a:gd name="connsiteY0" fmla="*/ 0 h 2101917"/>
              <a:gd name="connsiteX1" fmla="*/ 4563234 w 4563234"/>
              <a:gd name="connsiteY1" fmla="*/ 0 h 2101917"/>
              <a:gd name="connsiteX2" fmla="*/ 4563234 w 4563234"/>
              <a:gd name="connsiteY2" fmla="*/ 2101917 h 2101917"/>
              <a:gd name="connsiteX3" fmla="*/ 0 w 4563234"/>
              <a:gd name="connsiteY3" fmla="*/ 2101917 h 2101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3234" h="2101917">
                <a:moveTo>
                  <a:pt x="0" y="0"/>
                </a:moveTo>
                <a:lnTo>
                  <a:pt x="4563234" y="0"/>
                </a:lnTo>
                <a:lnTo>
                  <a:pt x="4563234" y="2101917"/>
                </a:lnTo>
                <a:lnTo>
                  <a:pt x="0" y="2101917"/>
                </a:lnTo>
                <a:close/>
              </a:path>
            </a:pathLst>
          </a:custGeom>
        </p:spPr>
      </p:pic>
      <p:sp>
        <p:nvSpPr>
          <p:cNvPr id="20" name="双括号 19"/>
          <p:cNvSpPr/>
          <p:nvPr/>
        </p:nvSpPr>
        <p:spPr>
          <a:xfrm>
            <a:off x="4978400" y="4225076"/>
            <a:ext cx="2235200" cy="462898"/>
          </a:xfrm>
          <a:prstGeom prst="bracketPair">
            <a:avLst/>
          </a:prstGeom>
          <a:solidFill>
            <a:schemeClr val="bg1"/>
          </a:solidFill>
          <a:ln w="28575"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u="sng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1" name="双括号 20"/>
          <p:cNvSpPr/>
          <p:nvPr/>
        </p:nvSpPr>
        <p:spPr>
          <a:xfrm>
            <a:off x="8663449" y="4225076"/>
            <a:ext cx="2235200" cy="462898"/>
          </a:xfrm>
          <a:prstGeom prst="bracketPair">
            <a:avLst/>
          </a:prstGeom>
          <a:solidFill>
            <a:schemeClr val="bg1"/>
          </a:solidFill>
          <a:ln w="28575"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u="sng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3" name="双括号 22"/>
          <p:cNvSpPr/>
          <p:nvPr/>
        </p:nvSpPr>
        <p:spPr>
          <a:xfrm>
            <a:off x="1293351" y="4986558"/>
            <a:ext cx="2235200" cy="462898"/>
          </a:xfrm>
          <a:prstGeom prst="bracketPair">
            <a:avLst/>
          </a:prstGeom>
          <a:solidFill>
            <a:schemeClr val="bg1"/>
          </a:solidFill>
          <a:ln w="28575"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u="sng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8" name="双括号 27"/>
          <p:cNvSpPr/>
          <p:nvPr/>
        </p:nvSpPr>
        <p:spPr>
          <a:xfrm>
            <a:off x="4978400" y="4986558"/>
            <a:ext cx="2235200" cy="462898"/>
          </a:xfrm>
          <a:prstGeom prst="bracketPair">
            <a:avLst/>
          </a:prstGeom>
          <a:solidFill>
            <a:schemeClr val="bg1"/>
          </a:solidFill>
          <a:ln w="28575"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u="sng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9" name="双括号 28"/>
          <p:cNvSpPr/>
          <p:nvPr/>
        </p:nvSpPr>
        <p:spPr>
          <a:xfrm>
            <a:off x="8663449" y="4986558"/>
            <a:ext cx="2235200" cy="462898"/>
          </a:xfrm>
          <a:prstGeom prst="bracketPair">
            <a:avLst/>
          </a:prstGeom>
          <a:solidFill>
            <a:schemeClr val="bg1"/>
          </a:solidFill>
          <a:ln w="28575"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u="sng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2" name="双括号 31"/>
          <p:cNvSpPr/>
          <p:nvPr/>
        </p:nvSpPr>
        <p:spPr>
          <a:xfrm>
            <a:off x="1293351" y="4225076"/>
            <a:ext cx="2235200" cy="462898"/>
          </a:xfrm>
          <a:prstGeom prst="bracketPair">
            <a:avLst/>
          </a:prstGeom>
          <a:solidFill>
            <a:schemeClr val="bg1"/>
          </a:solidFill>
          <a:ln w="28575"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u="sng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3" name="Text Placeholder 33"/>
          <p:cNvSpPr txBox="1"/>
          <p:nvPr/>
        </p:nvSpPr>
        <p:spPr>
          <a:xfrm>
            <a:off x="1487582" y="5017952"/>
            <a:ext cx="1846737" cy="400110"/>
          </a:xfrm>
          <a:prstGeom prst="rect">
            <a:avLst/>
          </a:prstGeom>
          <a:noFill/>
        </p:spPr>
        <p:txBody>
          <a:bodyPr wrap="square" lIns="45720" tIns="27432" rIns="45720" bIns="27432" rtlCol="0" anchor="ctr"/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 b="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练习与判分</a:t>
            </a:r>
            <a:endParaRPr lang="zh-CN" altLang="en-US" sz="2000" b="0" u="sng" dirty="0" smtClean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4" name="Text Placeholder 33"/>
          <p:cNvSpPr txBox="1"/>
          <p:nvPr/>
        </p:nvSpPr>
        <p:spPr>
          <a:xfrm>
            <a:off x="5172631" y="4256470"/>
            <a:ext cx="1846737" cy="400110"/>
          </a:xfrm>
          <a:prstGeom prst="rect">
            <a:avLst/>
          </a:prstGeom>
          <a:noFill/>
        </p:spPr>
        <p:txBody>
          <a:bodyPr wrap="square" lIns="45720" tIns="27432" rIns="45720" bIns="27432" rtlCol="0" anchor="ctr"/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 b="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功能全景</a:t>
            </a:r>
            <a:endParaRPr lang="zh-CN" altLang="en-US" sz="2000" b="0" u="sng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5" name="Text Placeholder 33"/>
          <p:cNvSpPr txBox="1"/>
          <p:nvPr/>
        </p:nvSpPr>
        <p:spPr>
          <a:xfrm>
            <a:off x="5172631" y="5017952"/>
            <a:ext cx="1846737" cy="400110"/>
          </a:xfrm>
          <a:prstGeom prst="rect">
            <a:avLst/>
          </a:prstGeom>
          <a:noFill/>
        </p:spPr>
        <p:txBody>
          <a:bodyPr wrap="square" lIns="45720" tIns="27432" rIns="45720" bIns="27432" rtlCol="0" anchor="ctr"/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 b="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数据与洞察</a:t>
            </a:r>
            <a:endParaRPr lang="zh-CN" altLang="en-US" sz="2000" b="0" u="sng" dirty="0" smtClean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6" name="Text Placeholder 33"/>
          <p:cNvSpPr txBox="1"/>
          <p:nvPr/>
        </p:nvSpPr>
        <p:spPr>
          <a:xfrm>
            <a:off x="8857680" y="4256470"/>
            <a:ext cx="1846737" cy="400110"/>
          </a:xfrm>
          <a:prstGeom prst="rect">
            <a:avLst/>
          </a:prstGeom>
          <a:noFill/>
        </p:spPr>
        <p:txBody>
          <a:bodyPr wrap="square" lIns="45720" tIns="27432" rIns="45720" bIns="27432" rtlCol="0" anchor="ctr"/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 b="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建题与导入</a:t>
            </a:r>
            <a:endParaRPr lang="zh-CN" altLang="en-US" sz="2000" b="0" u="sng" dirty="0" smtClean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7" name="Text Placeholder 33"/>
          <p:cNvSpPr txBox="1"/>
          <p:nvPr/>
        </p:nvSpPr>
        <p:spPr>
          <a:xfrm>
            <a:off x="1487582" y="4256470"/>
            <a:ext cx="1846737" cy="400110"/>
          </a:xfrm>
          <a:prstGeom prst="rect">
            <a:avLst/>
          </a:prstGeom>
          <a:noFill/>
        </p:spPr>
        <p:txBody>
          <a:bodyPr wrap="square" lIns="45720" tIns="27432" rIns="45720" bIns="27432" rtlCol="0" anchor="ctr"/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 b="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痛点与价值</a:t>
            </a:r>
            <a:endParaRPr lang="zh-CN" altLang="en-US" sz="2000" b="0" u="sng" dirty="0" smtClean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9" name="Text Placeholder 33"/>
          <p:cNvSpPr txBox="1"/>
          <p:nvPr/>
        </p:nvSpPr>
        <p:spPr>
          <a:xfrm>
            <a:off x="8857680" y="5017952"/>
            <a:ext cx="1846737" cy="400110"/>
          </a:xfrm>
          <a:prstGeom prst="rect">
            <a:avLst/>
          </a:prstGeom>
          <a:noFill/>
        </p:spPr>
        <p:txBody>
          <a:bodyPr wrap="square" lIns="45720" tIns="27432" rIns="45720" bIns="27432" rtlCol="0" anchor="ctr"/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 b="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协作与主题</a:t>
            </a:r>
            <a:endParaRPr lang="zh-CN" altLang="en-US" sz="2000" b="0" u="sng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0" name="双括号 39"/>
          <p:cNvSpPr/>
          <p:nvPr/>
        </p:nvSpPr>
        <p:spPr>
          <a:xfrm>
            <a:off x="1293351" y="5709302"/>
            <a:ext cx="2235200" cy="462898"/>
          </a:xfrm>
          <a:prstGeom prst="bracketPair">
            <a:avLst/>
          </a:prstGeom>
          <a:solidFill>
            <a:schemeClr val="bg1"/>
          </a:solidFill>
          <a:ln w="28575"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u="sng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1" name="双括号 40"/>
          <p:cNvSpPr/>
          <p:nvPr/>
        </p:nvSpPr>
        <p:spPr>
          <a:xfrm>
            <a:off x="4978400" y="5709302"/>
            <a:ext cx="2235200" cy="462898"/>
          </a:xfrm>
          <a:prstGeom prst="bracketPair">
            <a:avLst/>
          </a:prstGeom>
          <a:solidFill>
            <a:schemeClr val="bg1"/>
          </a:solidFill>
          <a:ln w="28575"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u="sng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2" name="双括号 41"/>
          <p:cNvSpPr/>
          <p:nvPr/>
        </p:nvSpPr>
        <p:spPr>
          <a:xfrm>
            <a:off x="8663449" y="5709302"/>
            <a:ext cx="2235200" cy="462898"/>
          </a:xfrm>
          <a:prstGeom prst="bracketPair">
            <a:avLst/>
          </a:prstGeom>
          <a:solidFill>
            <a:schemeClr val="bg1"/>
          </a:solidFill>
          <a:ln w="28575"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u="sng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3" name="Text Placeholder 33"/>
          <p:cNvSpPr txBox="1"/>
          <p:nvPr/>
        </p:nvSpPr>
        <p:spPr>
          <a:xfrm>
            <a:off x="1487582" y="5740696"/>
            <a:ext cx="1846737" cy="400110"/>
          </a:xfrm>
          <a:prstGeom prst="rect">
            <a:avLst/>
          </a:prstGeom>
          <a:noFill/>
        </p:spPr>
        <p:txBody>
          <a:bodyPr wrap="square" lIns="45720" tIns="27432" rIns="45720" bIns="27432" rtlCol="0" anchor="ctr"/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 b="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架构与安全</a:t>
            </a:r>
            <a:endParaRPr lang="zh-CN" altLang="en-US" sz="2000" b="0" u="sng" dirty="0" smtClean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4" name="Text Placeholder 33"/>
          <p:cNvSpPr txBox="1"/>
          <p:nvPr/>
        </p:nvSpPr>
        <p:spPr>
          <a:xfrm>
            <a:off x="5172631" y="5740696"/>
            <a:ext cx="1846737" cy="400110"/>
          </a:xfrm>
          <a:prstGeom prst="rect">
            <a:avLst/>
          </a:prstGeom>
          <a:noFill/>
        </p:spPr>
        <p:txBody>
          <a:bodyPr wrap="square" lIns="45720" tIns="27432" rIns="45720" bIns="27432" rtlCol="0" anchor="ctr"/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 b="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开源与规划</a:t>
            </a:r>
            <a:endParaRPr lang="zh-CN" altLang="en-US" sz="2000" b="0" u="sng" dirty="0" smtClean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5" name="Text Placeholder 33"/>
          <p:cNvSpPr txBox="1"/>
          <p:nvPr/>
        </p:nvSpPr>
        <p:spPr>
          <a:xfrm>
            <a:off x="8857680" y="5740696"/>
            <a:ext cx="1846737" cy="400110"/>
          </a:xfrm>
          <a:prstGeom prst="rect">
            <a:avLst/>
          </a:prstGeom>
          <a:noFill/>
        </p:spPr>
        <p:txBody>
          <a:bodyPr wrap="square" lIns="45720" tIns="27432" rIns="45720" bIns="27432" rtlCol="0" anchor="ctr"/>
          <a:lstStyle>
            <a:defPPr>
              <a:defRPr lang="en-US"/>
            </a:defPPr>
            <a:lvl1pPr defTabSz="1219200">
              <a:lnSpc>
                <a:spcPct val="100000"/>
              </a:lnSpc>
              <a:spcBef>
                <a:spcPct val="20000"/>
              </a:spcBef>
              <a:defRPr sz="3000" b="1">
                <a:solidFill>
                  <a:srgbClr val="54578E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 b="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团队与愿景</a:t>
            </a:r>
            <a:endParaRPr lang="zh-CN" altLang="en-US" sz="2000" b="0" u="sng" dirty="0" smtClean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986078" y="3404652"/>
            <a:ext cx="1726905" cy="27432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CN" altLang="zh-CN" sz="105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01 建题难</a:t>
            </a:r>
            <a:endParaRPr lang="zh-CN" altLang="zh-CN" sz="105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" name="Folded Corner 3"/>
          <p:cNvSpPr/>
          <p:nvPr/>
        </p:nvSpPr>
        <p:spPr>
          <a:xfrm>
            <a:off x="986078" y="3644899"/>
            <a:ext cx="1726905" cy="1850951"/>
          </a:xfrm>
          <a:prstGeom prst="foldedCorner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86078" y="3982586"/>
            <a:ext cx="1726905" cy="369332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pPr algn="ctr"/>
            <a:r>
              <a:rPr lang="zh-CN" altLang="en-US" sz="1200" b="1" u="sng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手工整理一两天</a:t>
            </a:r>
            <a:endParaRPr lang="zh-CN" altLang="en-US" sz="1200" b="1" u="sng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8352" y="3404653"/>
            <a:ext cx="1726905" cy="27432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CN" altLang="zh-CN" sz="105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02 练题散</a:t>
            </a:r>
            <a:endParaRPr lang="zh-CN" altLang="zh-CN" sz="105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5" name="Folded Corner 14"/>
          <p:cNvSpPr/>
          <p:nvPr/>
        </p:nvSpPr>
        <p:spPr>
          <a:xfrm>
            <a:off x="3048352" y="3644900"/>
            <a:ext cx="1726905" cy="1850951"/>
          </a:xfrm>
          <a:prstGeom prst="foldedCorner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48352" y="3982587"/>
            <a:ext cx="1726905" cy="369332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pPr algn="ctr"/>
            <a:r>
              <a:rPr lang="zh-CN" altLang="en-US" sz="1200" b="1" u="sng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错题不复盘</a:t>
            </a:r>
            <a:endParaRPr lang="zh-CN" altLang="en-US" sz="1200" b="1" u="sng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110626" y="3404652"/>
            <a:ext cx="1726905" cy="27432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CN" altLang="zh-CN" sz="105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03 反馈慢</a:t>
            </a:r>
            <a:endParaRPr lang="zh-CN" altLang="zh-CN" sz="105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5" name="Folded Corner 24"/>
          <p:cNvSpPr/>
          <p:nvPr/>
        </p:nvSpPr>
        <p:spPr>
          <a:xfrm>
            <a:off x="5110626" y="3644899"/>
            <a:ext cx="1726905" cy="1850951"/>
          </a:xfrm>
          <a:prstGeom prst="foldedCorner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110626" y="3982586"/>
            <a:ext cx="1726905" cy="369332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pPr algn="ctr"/>
            <a:r>
              <a:rPr lang="zh-CN" altLang="en-US" sz="1200" b="1" u="sng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交卷无即时判分</a:t>
            </a:r>
            <a:endParaRPr lang="zh-CN" altLang="en-US" sz="1200" b="1" u="sng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172900" y="3404653"/>
            <a:ext cx="1726905" cy="27432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CN" altLang="zh-CN" sz="105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04 数据不自主</a:t>
            </a:r>
            <a:endParaRPr lang="zh-CN" altLang="zh-CN" sz="105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9" name="Folded Corner 28"/>
          <p:cNvSpPr/>
          <p:nvPr/>
        </p:nvSpPr>
        <p:spPr>
          <a:xfrm>
            <a:off x="7172900" y="3644900"/>
            <a:ext cx="1726905" cy="1850951"/>
          </a:xfrm>
          <a:prstGeom prst="foldedCorner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172900" y="3982587"/>
            <a:ext cx="1726905" cy="369332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pPr algn="ctr"/>
            <a:r>
              <a:rPr lang="zh-CN" altLang="en-US" sz="1200" b="1" u="sng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易进难出</a:t>
            </a:r>
            <a:endParaRPr lang="zh-CN" altLang="en-US" sz="1200" b="1" u="sng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235175" y="3404652"/>
            <a:ext cx="1726905" cy="27432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CN" altLang="zh-CN" sz="105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05 AI 用不上</a:t>
            </a:r>
            <a:endParaRPr lang="zh-CN" altLang="zh-CN" sz="105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3" name="Folded Corner 32"/>
          <p:cNvSpPr/>
          <p:nvPr/>
        </p:nvSpPr>
        <p:spPr>
          <a:xfrm>
            <a:off x="9235178" y="3644899"/>
            <a:ext cx="1726905" cy="1850951"/>
          </a:xfrm>
          <a:prstGeom prst="foldedCorner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235175" y="3982586"/>
            <a:ext cx="1726905" cy="369332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pPr algn="ctr"/>
            <a:r>
              <a:rPr lang="zh-CN" altLang="en-US" sz="1200" b="1" u="sng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绑定订阅</a:t>
            </a:r>
            <a:endParaRPr lang="zh-CN" altLang="en-US" sz="1200" b="1" u="sng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6" name="Rectangle 19"/>
          <p:cNvSpPr/>
          <p:nvPr/>
        </p:nvSpPr>
        <p:spPr>
          <a:xfrm>
            <a:off x="1686522" y="1864587"/>
            <a:ext cx="8818959" cy="646331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pPr algn="ctr"/>
            <a:r>
              <a:rPr lang="zh-CN" altLang="en-US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题目那么多，为什么还是“难出、难练、难复盘”？</a:t>
            </a:r>
            <a:endParaRPr lang="zh-CN" altLang="en-US" sz="1800" b="0" dirty="0">
              <a:solidFill>
                <a:schemeClr val="tx1">
                  <a:lumMod val="50000"/>
                  <a:lumOff val="50000"/>
                </a:schemeClr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191002" y="69850"/>
            <a:ext cx="3809998" cy="646331"/>
          </a:xfrm>
          <a:prstGeom prst="rect">
            <a:avLst/>
          </a:prstGeom>
          <a:noFill/>
        </p:spPr>
        <p:txBody>
          <a:bodyPr wrap="square" lIns="45720" tIns="27432" rIns="45720" bIns="27432"/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6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痛点</a:t>
            </a:r>
            <a:endParaRPr lang="zh-CN" altLang="en-US" sz="36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2141839" y="346785"/>
            <a:ext cx="7908323" cy="108542"/>
            <a:chOff x="1837039" y="691984"/>
            <a:chExt cx="7908323" cy="108542"/>
          </a:xfrm>
        </p:grpSpPr>
        <p:cxnSp>
          <p:nvCxnSpPr>
            <p:cNvPr id="48" name="直接连接符 47"/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/>
          <p:nvPr/>
        </p:nvSpPr>
        <p:spPr>
          <a:xfrm>
            <a:off x="987552" y="4389120"/>
            <a:ext cx="1728216" cy="102412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b="0" u="sng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纸质试卷 / Excel 表格手工整理，一门课几十上百题，动辄一两天</a:t>
            </a:r>
            <a:endParaRPr lang="zh-CN" altLang="en-US" sz="1100" b="0" u="sng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044952" y="4389120"/>
            <a:ext cx="1728216" cy="102412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b="0" u="sng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练习分散在纸质卷和不同 App，错题不复盘、数据不成体系</a:t>
            </a:r>
            <a:endParaRPr lang="zh-CN" altLang="en-US" sz="1100" b="0" u="sng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111496" y="4389120"/>
            <a:ext cx="1728216" cy="102412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b="0" u="sng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交卷无即时判分，老师难以及时掌握班级薄弱点</a:t>
            </a:r>
            <a:endParaRPr lang="zh-CN" altLang="en-US" sz="1100" b="0" u="sng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168896" y="4389120"/>
            <a:ext cx="1728216" cy="102412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b="0" u="sng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商业平台建题库易进难出，学校数据无法私有化管控</a:t>
            </a:r>
            <a:endParaRPr lang="zh-CN" altLang="en-US" sz="1100" b="0" u="sng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235440" y="4389120"/>
            <a:ext cx="1728216" cy="102412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b="0" u="sng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通用聊天大模型不是题库工具，商业平台的 AI 又绑定订阅</a:t>
            </a:r>
            <a:endParaRPr lang="zh-CN" altLang="en-US" sz="1100" b="0" u="sng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4875456" y="1944217"/>
            <a:ext cx="2447690" cy="3566428"/>
          </a:xfrm>
          <a:prstGeom prst="roundRect">
            <a:avLst>
              <a:gd name="adj" fmla="val 5164"/>
            </a:avLst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4882314" y="2663888"/>
            <a:ext cx="2447690" cy="0"/>
          </a:xfrm>
          <a:prstGeom prst="line">
            <a:avLst/>
          </a:prstGeom>
          <a:ln w="222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872479" y="2742548"/>
            <a:ext cx="2447690" cy="0"/>
          </a:xfrm>
          <a:prstGeom prst="line">
            <a:avLst/>
          </a:prstGeom>
          <a:ln w="222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27115" y="4768310"/>
            <a:ext cx="1944372" cy="44245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91415" y="2064427"/>
            <a:ext cx="1415772" cy="46166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老师端</a:t>
            </a:r>
            <a:endParaRPr lang="zh-CN" altLang="en-US" sz="16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17402" y="4804870"/>
            <a:ext cx="806632" cy="369332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/>
          <a:p>
            <a:pPr algn="ctr"/>
            <a:r>
              <a:rPr lang="zh-CN" sz="1000" b="0" dirty="0" smtClean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TEACHER</a:t>
            </a:r>
            <a:endParaRPr lang="zh-CN" sz="1000" b="0" dirty="0" smtClean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27115" y="3050575"/>
            <a:ext cx="2441694" cy="1384995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Excel 一键导入建库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共享协作出题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班级学情洞察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509118" y="1944217"/>
            <a:ext cx="2447690" cy="3566428"/>
          </a:xfrm>
          <a:prstGeom prst="roundRect">
            <a:avLst>
              <a:gd name="adj" fmla="val 5164"/>
            </a:avLst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cxnSp>
        <p:nvCxnSpPr>
          <p:cNvPr id="40" name="Straight Connector 39"/>
          <p:cNvCxnSpPr/>
          <p:nvPr/>
        </p:nvCxnSpPr>
        <p:spPr>
          <a:xfrm>
            <a:off x="8357099" y="2652458"/>
            <a:ext cx="2447690" cy="0"/>
          </a:xfrm>
          <a:prstGeom prst="line">
            <a:avLst/>
          </a:prstGeom>
          <a:ln w="222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8347264" y="2731118"/>
            <a:ext cx="2447690" cy="0"/>
          </a:xfrm>
          <a:prstGeom prst="line">
            <a:avLst/>
          </a:prstGeom>
          <a:ln w="222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760777" y="4768310"/>
            <a:ext cx="1944372" cy="44245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025078" y="2058521"/>
            <a:ext cx="1415772" cy="46166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学生端</a:t>
            </a:r>
            <a:endParaRPr lang="zh-CN" altLang="en-US" sz="16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351065" y="4804870"/>
            <a:ext cx="806632" cy="369332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/>
          <a:p>
            <a:pPr algn="ctr"/>
            <a:r>
              <a:rPr lang="zh-CN" sz="1000" b="0" dirty="0" smtClean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STUDENT</a:t>
            </a:r>
            <a:endParaRPr lang="zh-CN" sz="1000" b="0" dirty="0" smtClean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65801" y="3050575"/>
            <a:ext cx="2441694" cy="1384995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即时判分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错题自动沉淀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AI 学情报告与针对性补漏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191002" y="69850"/>
            <a:ext cx="3809998" cy="646331"/>
          </a:xfrm>
          <a:prstGeom prst="rect">
            <a:avLst/>
          </a:prstGeom>
          <a:noFill/>
        </p:spPr>
        <p:txBody>
          <a:bodyPr wrap="square" lIns="45720" tIns="27432" rIns="45720" bIns="27432"/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6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价值主张</a:t>
            </a:r>
            <a:endParaRPr lang="zh-CN" altLang="en-US" sz="36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2141839" y="346785"/>
            <a:ext cx="7908323" cy="108542"/>
            <a:chOff x="1837039" y="691984"/>
            <a:chExt cx="7908323" cy="108542"/>
          </a:xfrm>
        </p:grpSpPr>
        <p:cxnSp>
          <p:nvCxnSpPr>
            <p:cNvPr id="53" name="直接连接符 52"/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椭圆 1"/>
          <p:cNvSpPr/>
          <p:nvPr/>
        </p:nvSpPr>
        <p:spPr>
          <a:xfrm>
            <a:off x="3508474" y="3217349"/>
            <a:ext cx="92589" cy="925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宋体 CN SemiBold" panose="02020600000000000000" pitchFamily="18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508474" y="3536879"/>
            <a:ext cx="92589" cy="925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宋体 CN SemiBold" panose="02020600000000000000" pitchFamily="18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508474" y="3856409"/>
            <a:ext cx="92589" cy="925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宋体 CN SemiBold" panose="02020600000000000000" pitchFamily="18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508474" y="4175940"/>
            <a:ext cx="92589" cy="925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宋体 CN SemiBold" panose="02020600000000000000" pitchFamily="18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234440" y="914400"/>
            <a:ext cx="969264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一套“管题—练题—分析”完整闭环的开源题库系统</a:t>
            </a:r>
            <a:endParaRPr lang="zh-CN" altLang="en-US" sz="2000" b="1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集题目管理、练习判分、数据洞察与 AI 增强于一体的私有化智能题库软件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59" name="Rounded Rectangle 16"/>
          <p:cNvSpPr/>
          <p:nvPr/>
        </p:nvSpPr>
        <p:spPr>
          <a:xfrm>
            <a:off x="1236143" y="1944217"/>
            <a:ext cx="2447690" cy="3566428"/>
          </a:xfrm>
          <a:prstGeom prst="roundRect">
            <a:avLst>
              <a:gd name="adj" fmla="val 5164"/>
            </a:avLst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60" name="TextBox 20"/>
          <p:cNvSpPr txBox="1"/>
          <p:nvPr/>
        </p:nvSpPr>
        <p:spPr>
          <a:xfrm>
            <a:off x="1752102" y="2064427"/>
            <a:ext cx="1415772" cy="46166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部署端</a:t>
            </a:r>
            <a:endParaRPr lang="zh-CN" altLang="en-US" sz="16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61" name="TextBox 22"/>
          <p:cNvSpPr txBox="1"/>
          <p:nvPr/>
        </p:nvSpPr>
        <p:spPr>
          <a:xfrm>
            <a:off x="1487802" y="3050575"/>
            <a:ext cx="2441694" cy="1384995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开源免费 · 可私有化部署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数据自主可控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AI 自由接入不绑定厂商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62" name="Rounded Rectangle 19"/>
          <p:cNvSpPr/>
          <p:nvPr/>
        </p:nvSpPr>
        <p:spPr>
          <a:xfrm>
            <a:off x="1487802" y="4768310"/>
            <a:ext cx="1944372" cy="44245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63" name="TextBox 21"/>
          <p:cNvSpPr txBox="1"/>
          <p:nvPr/>
        </p:nvSpPr>
        <p:spPr>
          <a:xfrm>
            <a:off x="2078090" y="4804870"/>
            <a:ext cx="806632" cy="369332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/>
          <a:p>
            <a:pPr algn="ctr"/>
            <a:r>
              <a:rPr lang="zh-CN" sz="1000" b="0" dirty="0" smtClean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DEPLOY</a:t>
            </a:r>
            <a:endParaRPr lang="zh-CN" sz="1000" b="0" dirty="0" smtClean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23"/>
          <p:cNvSpPr/>
          <p:nvPr/>
        </p:nvSpPr>
        <p:spPr>
          <a:xfrm>
            <a:off x="8559796" y="3131619"/>
            <a:ext cx="3106739" cy="442479"/>
          </a:xfrm>
          <a:prstGeom prst="rect">
            <a:avLst/>
          </a:prstGeom>
          <a:solidFill>
            <a:srgbClr val="444EF7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27432" rIns="45720" bIns="27432" rtlCol="0" anchor="ctr"/>
          <a:lstStyle/>
          <a:p>
            <a:pPr algn="ctr"/>
            <a:r>
              <a:rPr lang="zh-CN" altLang="en-US" sz="1200" b="0" kern="0" dirty="0" smtClean="0">
                <a:solidFill>
                  <a:prstClr val="white">
                    <a:lumMod val="9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批量导入</a:t>
            </a:r>
            <a:endParaRPr lang="zh-CN" altLang="en-US" sz="1200" b="0" kern="0" dirty="0" smtClean="0">
              <a:solidFill>
                <a:prstClr val="white">
                  <a:lumMod val="95000"/>
                </a:prst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8" name="Rectangle 25"/>
          <p:cNvSpPr/>
          <p:nvPr/>
        </p:nvSpPr>
        <p:spPr>
          <a:xfrm>
            <a:off x="5232968" y="5361636"/>
            <a:ext cx="3111869" cy="442479"/>
          </a:xfrm>
          <a:prstGeom prst="rect">
            <a:avLst/>
          </a:prstGeom>
          <a:solidFill>
            <a:srgbClr val="444EF7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27432" rIns="45720" bIns="27432" rtlCol="0" anchor="ctr"/>
          <a:lstStyle/>
          <a:p>
            <a:pPr algn="ctr"/>
            <a:r>
              <a:rPr lang="zh-CN" altLang="en-US" sz="1200" b="0" kern="0" dirty="0" smtClean="0">
                <a:solidFill>
                  <a:prstClr val="white">
                    <a:lumMod val="9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练习闭环</a:t>
            </a:r>
            <a:endParaRPr lang="zh-CN" altLang="en-US" sz="1200" b="0" kern="0" dirty="0" smtClean="0">
              <a:solidFill>
                <a:prstClr val="white">
                  <a:lumMod val="95000"/>
                </a:prst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9" name="Rectangle 26"/>
          <p:cNvSpPr/>
          <p:nvPr/>
        </p:nvSpPr>
        <p:spPr>
          <a:xfrm>
            <a:off x="8559796" y="5361636"/>
            <a:ext cx="3106739" cy="442479"/>
          </a:xfrm>
          <a:prstGeom prst="rect">
            <a:avLst/>
          </a:prstGeom>
          <a:solidFill>
            <a:srgbClr val="444EF7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27432" rIns="45720" bIns="27432" rtlCol="0" anchor="ctr"/>
          <a:lstStyle/>
          <a:p>
            <a:pPr algn="ctr"/>
            <a:r>
              <a:rPr lang="zh-CN" altLang="en-US" sz="1200" b="0" kern="0" dirty="0" smtClean="0">
                <a:solidFill>
                  <a:prstClr val="white">
                    <a:lumMod val="9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数据洞察</a:t>
            </a:r>
            <a:endParaRPr lang="zh-CN" altLang="en-US" sz="1200" b="0" kern="0" dirty="0" smtClean="0">
              <a:solidFill>
                <a:prstClr val="white">
                  <a:lumMod val="95000"/>
                </a:prst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8" name="Rectangle 87"/>
          <p:cNvSpPr>
            <a:spLocks noChangeArrowheads="1"/>
          </p:cNvSpPr>
          <p:nvPr/>
        </p:nvSpPr>
        <p:spPr bwMode="auto">
          <a:xfrm>
            <a:off x="659481" y="2437344"/>
            <a:ext cx="4358528" cy="830997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r>
              <a:rPr lang="zh-CN" altLang="en-US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从建库、练习到分析，一套系统覆盖教与学全流程；六大模块均可私有化部署、离线可用。</a:t>
            </a:r>
            <a:endParaRPr lang="zh-CN" altLang="en-US" sz="1200" b="0" dirty="0">
              <a:solidFill>
                <a:schemeClr val="tx1">
                  <a:lumMod val="50000"/>
                  <a:lumOff val="50000"/>
                </a:schemeClr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9" name="Rectangle 88"/>
          <p:cNvSpPr>
            <a:spLocks noChangeArrowheads="1"/>
          </p:cNvSpPr>
          <p:nvPr/>
        </p:nvSpPr>
        <p:spPr bwMode="auto">
          <a:xfrm>
            <a:off x="659481" y="1851190"/>
            <a:ext cx="407338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27432" rIns="45720" bIns="27432"/>
          <a:lstStyle/>
          <a:p>
            <a:pPr>
              <a:buFont typeface="思源宋体 CN SemiBold" panose="02020600000000000000" pitchFamily="18" charset="-122"/>
            </a:pPr>
            <a:r>
              <a:rPr lang="zh-CN" alt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五大能力 + 个性体验，覆盖教与学全流程</a:t>
            </a:r>
            <a:endParaRPr lang="zh-CN" altLang="en-US" sz="1700" b="1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0" name="Text Placeholder 33"/>
          <p:cNvSpPr txBox="1"/>
          <p:nvPr/>
        </p:nvSpPr>
        <p:spPr>
          <a:xfrm>
            <a:off x="1154164" y="3608273"/>
            <a:ext cx="1328470" cy="369332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lnSpc>
                <a:spcPct val="150000"/>
              </a:lnSpc>
              <a:spcBef>
                <a:spcPct val="20000"/>
              </a:spcBef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1800" b="0" dirty="0" smtClean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共享协作</a:t>
            </a:r>
            <a:endParaRPr lang="zh-CN" altLang="en-US" sz="1800" b="0" dirty="0" smtClean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6" name="TextBox 20"/>
          <p:cNvSpPr txBox="1"/>
          <p:nvPr/>
        </p:nvSpPr>
        <p:spPr>
          <a:xfrm>
            <a:off x="1154164" y="3954612"/>
            <a:ext cx="3578702" cy="584775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10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题目 / 题库共享 · 只读 / 可编辑两级权限 · 订阅实时跟随或拷贝副本</a:t>
            </a:r>
            <a:endParaRPr lang="zh-CN" altLang="en-US" sz="110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40" name="Rounded Rectangle 67"/>
          <p:cNvSpPr/>
          <p:nvPr/>
        </p:nvSpPr>
        <p:spPr>
          <a:xfrm>
            <a:off x="756815" y="3645645"/>
            <a:ext cx="308967" cy="30896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2" name="Text Placeholder 33"/>
          <p:cNvSpPr txBox="1"/>
          <p:nvPr/>
        </p:nvSpPr>
        <p:spPr>
          <a:xfrm>
            <a:off x="1154164" y="4880695"/>
            <a:ext cx="1328470" cy="369332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lnSpc>
                <a:spcPct val="150000"/>
              </a:lnSpc>
              <a:spcBef>
                <a:spcPct val="20000"/>
              </a:spcBef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1800" b="0" dirty="0" smtClean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个性体验</a:t>
            </a:r>
            <a:endParaRPr lang="zh-CN" altLang="en-US" sz="1800" b="0" dirty="0" smtClean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3" name="TextBox 20"/>
          <p:cNvSpPr txBox="1"/>
          <p:nvPr/>
        </p:nvSpPr>
        <p:spPr>
          <a:xfrm>
            <a:off x="1154164" y="5227034"/>
            <a:ext cx="3578702" cy="584775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10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多套界面主题 · 桌面三平台客户端 · 服务端渲染轻量版</a:t>
            </a:r>
            <a:endParaRPr lang="zh-CN" altLang="en-US" sz="110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44" name="Rounded Rectangle 67"/>
          <p:cNvSpPr/>
          <p:nvPr/>
        </p:nvSpPr>
        <p:spPr>
          <a:xfrm>
            <a:off x="756815" y="4918067"/>
            <a:ext cx="308967" cy="30896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191002" y="69850"/>
            <a:ext cx="3809998" cy="646331"/>
          </a:xfrm>
          <a:prstGeom prst="rect">
            <a:avLst/>
          </a:prstGeom>
          <a:noFill/>
        </p:spPr>
        <p:txBody>
          <a:bodyPr wrap="square" lIns="45720" tIns="27432" rIns="45720" bIns="27432"/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600" b="1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功能全景</a:t>
            </a:r>
            <a:endParaRPr lang="zh-CN" altLang="en-US" sz="3600" b="1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141839" y="346785"/>
            <a:ext cx="7908323" cy="108542"/>
            <a:chOff x="1837039" y="691984"/>
            <a:chExt cx="7908323" cy="108542"/>
          </a:xfrm>
        </p:grpSpPr>
        <p:cxnSp>
          <p:nvCxnSpPr>
            <p:cNvPr id="32" name="直接连接符 31"/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14"/>
          <p:cNvSpPr/>
          <p:nvPr/>
        </p:nvSpPr>
        <p:spPr>
          <a:xfrm>
            <a:off x="5232968" y="1557887"/>
            <a:ext cx="3109304" cy="2009164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5" name="Rectangle 14"/>
          <p:cNvSpPr/>
          <p:nvPr/>
        </p:nvSpPr>
        <p:spPr>
          <a:xfrm>
            <a:off x="8558784" y="1554480"/>
            <a:ext cx="3109304" cy="2009164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6" name="Rectangle 14"/>
          <p:cNvSpPr/>
          <p:nvPr/>
        </p:nvSpPr>
        <p:spPr>
          <a:xfrm>
            <a:off x="5239512" y="3785615"/>
            <a:ext cx="3109304" cy="2009164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7" name="Rectangle 14"/>
          <p:cNvSpPr/>
          <p:nvPr/>
        </p:nvSpPr>
        <p:spPr>
          <a:xfrm>
            <a:off x="8558784" y="3785615"/>
            <a:ext cx="3109304" cy="2009164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8" name="Rectangle 23"/>
          <p:cNvSpPr/>
          <p:nvPr/>
        </p:nvSpPr>
        <p:spPr>
          <a:xfrm>
            <a:off x="5230368" y="3127248"/>
            <a:ext cx="3106739" cy="442479"/>
          </a:xfrm>
          <a:prstGeom prst="rect">
            <a:avLst/>
          </a:prstGeom>
          <a:solidFill>
            <a:srgbClr val="444EF7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45720" tIns="27432" rIns="45720" bIns="27432" rtlCol="0" anchor="ctr"/>
          <a:lstStyle/>
          <a:p>
            <a:pPr algn="ctr"/>
            <a:r>
              <a:rPr lang="zh-CN" altLang="en-US" sz="1200" b="0" kern="0" dirty="0" smtClean="0">
                <a:solidFill>
                  <a:prstClr val="white">
                    <a:lumMod val="9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题目管理</a:t>
            </a:r>
            <a:endParaRPr lang="zh-CN" altLang="en-US" sz="1200" b="0" kern="0" dirty="0" smtClean="0">
              <a:solidFill>
                <a:prstClr val="white">
                  <a:lumMod val="95000"/>
                </a:prst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394959" y="1755648"/>
            <a:ext cx="2788920" cy="12070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5 种题型 · 难度 / 标签 / 二级分类 · 检索分页</a:t>
            </a:r>
            <a:endParaRPr lang="zh-CN" altLang="en-US" sz="11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23376" y="1755648"/>
            <a:ext cx="2788920" cy="12070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Excel / CSV 模板导入 · 错误行标红 · AI 补全答案与解析</a:t>
            </a:r>
            <a:endParaRPr lang="zh-CN" altLang="en-US" sz="11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404104" y="3986783"/>
            <a:ext cx="2788920" cy="12070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顺序 / 随机 / 错题重做 · 交卷自动判分 · 错题本自动沉淀</a:t>
            </a:r>
            <a:endParaRPr lang="zh-CN" altLang="en-US" sz="11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723376" y="3986783"/>
            <a:ext cx="2788920" cy="12070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1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统计看板 · 正确率趋势 · 易错分类 Top5 · 管理员全站视角</a:t>
            </a:r>
            <a:endParaRPr lang="zh-CN" altLang="en-US" sz="11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1形 25"/>
          <p:cNvSpPr/>
          <p:nvPr/>
        </p:nvSpPr>
        <p:spPr>
          <a:xfrm>
            <a:off x="0" y="4233333"/>
            <a:ext cx="12192000" cy="2624667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ja-JP" altLang="en-US" sz="2400" b="1" u="sng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54" name="任意多边形 53"/>
          <p:cNvSpPr/>
          <p:nvPr/>
        </p:nvSpPr>
        <p:spPr>
          <a:xfrm>
            <a:off x="535896" y="1839469"/>
            <a:ext cx="10362963" cy="5018531"/>
          </a:xfrm>
          <a:custGeom>
            <a:avLst/>
            <a:gdLst>
              <a:gd name="connsiteX0" fmla="*/ 0 w 10362963"/>
              <a:gd name="connsiteY0" fmla="*/ 0 h 5018531"/>
              <a:gd name="connsiteX1" fmla="*/ 5605610 w 10362963"/>
              <a:gd name="connsiteY1" fmla="*/ 0 h 5018531"/>
              <a:gd name="connsiteX2" fmla="*/ 10362963 w 10362963"/>
              <a:gd name="connsiteY2" fmla="*/ 5018531 h 5018531"/>
              <a:gd name="connsiteX3" fmla="*/ 1442128 w 10362963"/>
              <a:gd name="connsiteY3" fmla="*/ 5018531 h 5018531"/>
              <a:gd name="connsiteX4" fmla="*/ 0 w 10362963"/>
              <a:gd name="connsiteY4" fmla="*/ 3497231 h 5018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62963" h="5018531">
                <a:moveTo>
                  <a:pt x="0" y="0"/>
                </a:moveTo>
                <a:lnTo>
                  <a:pt x="5605610" y="0"/>
                </a:lnTo>
                <a:lnTo>
                  <a:pt x="10362963" y="5018531"/>
                </a:lnTo>
                <a:lnTo>
                  <a:pt x="1442128" y="5018531"/>
                </a:lnTo>
                <a:lnTo>
                  <a:pt x="0" y="3497231"/>
                </a:lnTo>
                <a:close/>
              </a:path>
            </a:pathLst>
          </a:custGeom>
          <a:solidFill>
            <a:schemeClr val="tx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20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0" name="1ー 19"/>
          <p:cNvSpPr txBox="1"/>
          <p:nvPr/>
        </p:nvSpPr>
        <p:spPr>
          <a:xfrm>
            <a:off x="535895" y="2170492"/>
            <a:ext cx="5689600" cy="3200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lIns="45720" tIns="27432" rIns="45720" bIns="27432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2865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8665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ja-JP" sz="125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① 登录管理员 admin →「题目管理」页，检索 / 新增示意</a:t>
            </a:r>
            <a:endParaRPr kumimoji="1" lang="zh-CN" altLang="ja-JP" sz="125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  <a:p>
            <a:r>
              <a:rPr kumimoji="1" lang="zh-CN" altLang="ja-JP" sz="125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②「批量导入」向导：下载模板 → 上传含缺答案行的文件 → 预览校验（错误行标红）→ 勾选缺失行 → AI 补全 → 核对 → 导入</a:t>
            </a:r>
            <a:endParaRPr kumimoji="1" lang="zh-CN" altLang="ja-JP" sz="125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  <a:p>
            <a:r>
              <a:rPr kumimoji="1" lang="zh-CN" altLang="ja-JP" sz="125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③ 导入完成后展示题目列表、分类与题库归属</a:t>
            </a:r>
            <a:endParaRPr kumimoji="1" lang="zh-CN" altLang="ja-JP" sz="125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1" name="角丸四角形 7"/>
          <p:cNvSpPr/>
          <p:nvPr/>
        </p:nvSpPr>
        <p:spPr>
          <a:xfrm>
            <a:off x="536045" y="1845583"/>
            <a:ext cx="5689600" cy="324760"/>
          </a:xfrm>
          <a:custGeom>
            <a:avLst/>
            <a:gdLst/>
            <a:ahLst/>
            <a:cxnLst/>
            <a:rect l="l" t="t" r="r" b="b"/>
            <a:pathLst>
              <a:path w="8534400" h="487140">
                <a:moveTo>
                  <a:pt x="148176" y="0"/>
                </a:moveTo>
                <a:lnTo>
                  <a:pt x="8386224" y="0"/>
                </a:lnTo>
                <a:cubicBezTo>
                  <a:pt x="8468059" y="0"/>
                  <a:pt x="8534400" y="66341"/>
                  <a:pt x="8534400" y="148176"/>
                </a:cubicBezTo>
                <a:lnTo>
                  <a:pt x="8534400" y="487140"/>
                </a:lnTo>
                <a:lnTo>
                  <a:pt x="0" y="487140"/>
                </a:lnTo>
                <a:lnTo>
                  <a:pt x="0" y="148176"/>
                </a:lnTo>
                <a:cubicBezTo>
                  <a:pt x="0" y="66341"/>
                  <a:pt x="66341" y="0"/>
                  <a:pt x="14817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r>
              <a:rPr lang="zh-CN" sz="1200" b="0" dirty="0"/>
              <a:t>操作路径：把 Excel 旧题变成在线题库</a:t>
            </a:r>
            <a:endParaRPr lang="zh-CN" sz="1200" b="0" dirty="0"/>
          </a:p>
        </p:txBody>
      </p:sp>
      <p:sp>
        <p:nvSpPr>
          <p:cNvPr id="32" name="1形 16"/>
          <p:cNvSpPr/>
          <p:nvPr/>
        </p:nvSpPr>
        <p:spPr>
          <a:xfrm>
            <a:off x="536045" y="2128010"/>
            <a:ext cx="5689600" cy="4233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33" name="117"/>
          <p:cNvGrpSpPr/>
          <p:nvPr/>
        </p:nvGrpSpPr>
        <p:grpSpPr>
          <a:xfrm>
            <a:off x="657603" y="1938114"/>
            <a:ext cx="361950" cy="95250"/>
            <a:chOff x="2524125" y="1614487"/>
            <a:chExt cx="542925" cy="142875"/>
          </a:xfrm>
        </p:grpSpPr>
        <p:sp>
          <p:nvSpPr>
            <p:cNvPr id="34" name="118"/>
            <p:cNvSpPr/>
            <p:nvPr userDrawn="1"/>
          </p:nvSpPr>
          <p:spPr>
            <a:xfrm>
              <a:off x="2524125" y="1614487"/>
              <a:ext cx="142875" cy="142875"/>
            </a:xfrm>
            <a:prstGeom prst="ellipse">
              <a:avLst/>
            </a:prstGeom>
            <a:solidFill>
              <a:srgbClr val="444E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35" name="1 19"/>
            <p:cNvSpPr/>
            <p:nvPr userDrawn="1"/>
          </p:nvSpPr>
          <p:spPr>
            <a:xfrm>
              <a:off x="2724150" y="1614487"/>
              <a:ext cx="142875" cy="1428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36" name="1 20"/>
            <p:cNvSpPr/>
            <p:nvPr userDrawn="1"/>
          </p:nvSpPr>
          <p:spPr>
            <a:xfrm>
              <a:off x="2924175" y="1614487"/>
              <a:ext cx="142875" cy="14287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</p:grpSp>
      <p:grpSp>
        <p:nvGrpSpPr>
          <p:cNvPr id="37" name="121"/>
          <p:cNvGrpSpPr/>
          <p:nvPr/>
        </p:nvGrpSpPr>
        <p:grpSpPr>
          <a:xfrm>
            <a:off x="5972552" y="1922238"/>
            <a:ext cx="133351" cy="127000"/>
            <a:chOff x="7781924" y="1704975"/>
            <a:chExt cx="200026" cy="1905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38" name="矩形22"/>
            <p:cNvSpPr/>
            <p:nvPr userDrawn="1"/>
          </p:nvSpPr>
          <p:spPr>
            <a:xfrm>
              <a:off x="7781925" y="1704975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39" name="矩形 23"/>
            <p:cNvSpPr/>
            <p:nvPr userDrawn="1"/>
          </p:nvSpPr>
          <p:spPr>
            <a:xfrm>
              <a:off x="7781925" y="1776413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40" name="矩形 24"/>
            <p:cNvSpPr/>
            <p:nvPr userDrawn="1"/>
          </p:nvSpPr>
          <p:spPr>
            <a:xfrm>
              <a:off x="7781924" y="1847850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</p:grpSp>
      <p:sp>
        <p:nvSpPr>
          <p:cNvPr id="15" name="Text Placeholder 33"/>
          <p:cNvSpPr txBox="1"/>
          <p:nvPr/>
        </p:nvSpPr>
        <p:spPr>
          <a:xfrm>
            <a:off x="7554138" y="1531692"/>
            <a:ext cx="1260605" cy="369332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800" b="0" dirty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格式校验</a:t>
            </a:r>
            <a:endParaRPr lang="zh-CN" altLang="en-US" sz="1800" b="0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16" name="TextBox 20"/>
          <p:cNvSpPr txBox="1"/>
          <p:nvPr/>
        </p:nvSpPr>
        <p:spPr>
          <a:xfrm>
            <a:off x="7554137" y="1839469"/>
            <a:ext cx="3097459" cy="584775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10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上传即校验，错误行标红，缺答案行一目了然</a:t>
            </a:r>
            <a:endParaRPr lang="zh-CN" altLang="en-US" sz="110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23" name="Text Placeholder 33"/>
          <p:cNvSpPr txBox="1"/>
          <p:nvPr/>
        </p:nvSpPr>
        <p:spPr>
          <a:xfrm>
            <a:off x="7554138" y="2563534"/>
            <a:ext cx="1260605" cy="369332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800" b="0" dirty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AI 补全</a:t>
            </a:r>
            <a:endParaRPr lang="zh-CN" altLang="en-US" sz="1800" b="0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24" name="TextBox 20"/>
          <p:cNvSpPr txBox="1"/>
          <p:nvPr/>
        </p:nvSpPr>
        <p:spPr>
          <a:xfrm>
            <a:off x="7554137" y="2871311"/>
            <a:ext cx="3097459" cy="584775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10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勾选缺失行一键补全答案与解析，结果写入预览、可逐行修改</a:t>
            </a:r>
            <a:endParaRPr lang="zh-CN" altLang="en-US" sz="110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27" name="1 31"/>
          <p:cNvSpPr/>
          <p:nvPr/>
        </p:nvSpPr>
        <p:spPr>
          <a:xfrm>
            <a:off x="7363179" y="1588785"/>
            <a:ext cx="142428" cy="142428"/>
          </a:xfrm>
          <a:prstGeom prst="ellipse">
            <a:avLst/>
          </a:prstGeom>
          <a:solidFill>
            <a:srgbClr val="444E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8" name="1 33"/>
          <p:cNvSpPr/>
          <p:nvPr/>
        </p:nvSpPr>
        <p:spPr>
          <a:xfrm>
            <a:off x="7363179" y="2659112"/>
            <a:ext cx="142428" cy="142428"/>
          </a:xfrm>
          <a:prstGeom prst="ellipse">
            <a:avLst/>
          </a:prstGeom>
          <a:solidFill>
            <a:srgbClr val="444E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191002" y="69850"/>
            <a:ext cx="3809998" cy="646331"/>
          </a:xfrm>
          <a:prstGeom prst="rect">
            <a:avLst/>
          </a:prstGeom>
          <a:noFill/>
        </p:spPr>
        <p:txBody>
          <a:bodyPr wrap="square" lIns="45720" tIns="27432" rIns="45720" bIns="27432"/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250" b="1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Demo ① 建题与导入</a:t>
            </a:r>
            <a:endParaRPr lang="zh-CN" altLang="en-US" sz="3250" b="1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2141839" y="346785"/>
            <a:ext cx="7908323" cy="108542"/>
            <a:chOff x="1837039" y="691984"/>
            <a:chExt cx="7908323" cy="108542"/>
          </a:xfrm>
        </p:grpSpPr>
        <p:cxnSp>
          <p:nvCxnSpPr>
            <p:cNvPr id="49" name="直接连接符 48"/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圆角矩形 1"/>
          <p:cNvSpPr/>
          <p:nvPr/>
        </p:nvSpPr>
        <p:spPr>
          <a:xfrm>
            <a:off x="7028597" y="3637814"/>
            <a:ext cx="4468078" cy="1361622"/>
          </a:xfrm>
          <a:prstGeom prst="roundRect">
            <a:avLst>
              <a:gd name="adj" fmla="val 5642"/>
            </a:avLst>
          </a:prstGeom>
          <a:solidFill>
            <a:schemeClr val="bg1"/>
          </a:solidFill>
          <a:ln>
            <a:noFill/>
          </a:ln>
          <a:effectLst>
            <a:outerShdw blurRad="292100" dist="38100" dir="5400000" algn="t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5" name="Text Placeholder 33"/>
          <p:cNvSpPr txBox="1"/>
          <p:nvPr/>
        </p:nvSpPr>
        <p:spPr>
          <a:xfrm>
            <a:off x="7554138" y="3869878"/>
            <a:ext cx="1260605" cy="369332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800" b="0" dirty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人工确认</a:t>
            </a:r>
            <a:endParaRPr lang="zh-CN" altLang="en-US" sz="1800" b="0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26" name="TextBox 20"/>
          <p:cNvSpPr txBox="1"/>
          <p:nvPr/>
        </p:nvSpPr>
        <p:spPr>
          <a:xfrm>
            <a:off x="7554137" y="4177655"/>
            <a:ext cx="3097459" cy="584775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10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AI 只是助手，决定权始终在老师手里；核对后才入库</a:t>
            </a:r>
            <a:endParaRPr lang="zh-CN" altLang="en-US" sz="110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29" name="1 35"/>
          <p:cNvSpPr/>
          <p:nvPr/>
        </p:nvSpPr>
        <p:spPr>
          <a:xfrm>
            <a:off x="7363179" y="4003941"/>
            <a:ext cx="142428" cy="142428"/>
          </a:xfrm>
          <a:prstGeom prst="ellipse">
            <a:avLst/>
          </a:prstGeom>
          <a:solidFill>
            <a:srgbClr val="444E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1"/>
          <p:cNvSpPr>
            <a:spLocks noChangeArrowheads="1"/>
          </p:cNvSpPr>
          <p:nvPr/>
        </p:nvSpPr>
        <p:spPr bwMode="auto">
          <a:xfrm>
            <a:off x="1" y="1756589"/>
            <a:ext cx="3225799" cy="3524249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2400" b="1" u="sng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auto">
          <a:xfrm>
            <a:off x="9518651" y="1756589"/>
            <a:ext cx="2673349" cy="3524249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2400" b="1" u="sng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auto">
          <a:xfrm>
            <a:off x="6644217" y="1756589"/>
            <a:ext cx="2819400" cy="4542367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2400" b="1" u="sng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205317" y="2223552"/>
            <a:ext cx="121058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思源宋体 CN SemiBold" panose="02020600000000000000" pitchFamily="18" charset="-122"/>
              <a:buNone/>
            </a:pPr>
            <a:r>
              <a:rPr lang="en-US" altLang="zh-CN" sz="800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“</a:t>
            </a:r>
            <a:endParaRPr lang="en-US" altLang="zh-CN" sz="800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9" name="Rectangle 26"/>
          <p:cNvSpPr>
            <a:spLocks noChangeArrowheads="1"/>
          </p:cNvSpPr>
          <p:nvPr/>
        </p:nvSpPr>
        <p:spPr bwMode="auto">
          <a:xfrm>
            <a:off x="397933" y="3005422"/>
            <a:ext cx="2497667" cy="1815882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练习过程界面刻意不显示答案，防止边做边抄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0" name="Rectangle 27"/>
          <p:cNvSpPr>
            <a:spLocks noChangeArrowheads="1"/>
          </p:cNvSpPr>
          <p:nvPr/>
        </p:nvSpPr>
        <p:spPr bwMode="auto">
          <a:xfrm>
            <a:off x="6910918" y="3705423"/>
            <a:ext cx="2353733" cy="1815882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r>
              <a:rPr lang="zh-CN" altLang="en-US" sz="1300" b="1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每一次做错的题都不会再丢</a:t>
            </a:r>
            <a:endParaRPr lang="zh-CN" altLang="en-US" sz="1300" b="1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610186" y="2206534"/>
            <a:ext cx="845125" cy="84512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190500" dir="3540000" sx="105000" sy="105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478137" y="2074485"/>
            <a:ext cx="1109224" cy="1109224"/>
          </a:xfrm>
          <a:prstGeom prst="ellipse">
            <a:avLst/>
          </a:prstGeom>
          <a:solidFill>
            <a:schemeClr val="bg1"/>
          </a:solidFill>
          <a:ln w="25400">
            <a:noFill/>
          </a:ln>
          <a:effectLst>
            <a:outerShdw blurRad="254000" dist="190500" dir="3540000" sx="105000" sy="105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6" name="Rectangle 31"/>
          <p:cNvSpPr>
            <a:spLocks noChangeArrowheads="1"/>
          </p:cNvSpPr>
          <p:nvPr/>
        </p:nvSpPr>
        <p:spPr bwMode="auto">
          <a:xfrm>
            <a:off x="7183284" y="2410353"/>
            <a:ext cx="16989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27432" rIns="45720" bIns="27432"/>
          <a:lstStyle/>
          <a:p>
            <a:pPr algn="ctr">
              <a:buFont typeface="思源宋体 CN SemiBold" panose="02020600000000000000" pitchFamily="18" charset="-122"/>
            </a:pPr>
            <a:r>
              <a:rPr lang="zh-CN" altLang="zh-CN" sz="1200" b="0" u="sng" dirty="0" smtClean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1.5 分钟</a:t>
            </a:r>
            <a:endParaRPr lang="zh-CN" altLang="zh-CN" sz="1200" b="0" u="sng" dirty="0" smtClean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10826569" y="4389108"/>
            <a:ext cx="121058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思源宋体 CN SemiBold" panose="02020600000000000000" pitchFamily="18" charset="-122"/>
              <a:buNone/>
            </a:pPr>
            <a:r>
              <a:rPr lang="en-US" altLang="zh-CN" sz="800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“</a:t>
            </a:r>
            <a:endParaRPr lang="en-US" altLang="zh-CN" sz="800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191002" y="69850"/>
            <a:ext cx="3809998" cy="646331"/>
          </a:xfrm>
          <a:prstGeom prst="rect">
            <a:avLst/>
          </a:prstGeom>
          <a:noFill/>
        </p:spPr>
        <p:txBody>
          <a:bodyPr wrap="square" lIns="45720" tIns="27432" rIns="45720" bIns="27432"/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2250" b="1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Demo ② 练完即判、错题沉淀</a:t>
            </a:r>
            <a:endParaRPr lang="zh-CN" altLang="en-US" sz="2250" b="1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141839" y="346785"/>
            <a:ext cx="7908323" cy="108542"/>
            <a:chOff x="1837039" y="691984"/>
            <a:chExt cx="7908323" cy="108542"/>
          </a:xfrm>
        </p:grpSpPr>
        <p:cxnSp>
          <p:nvCxnSpPr>
            <p:cNvPr id="29" name="直接连接符 28"/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9149023" y="1887396"/>
            <a:ext cx="121058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思源宋体 CN SemiBold" panose="02020600000000000000" pitchFamily="18" charset="-122"/>
              <a:buNone/>
            </a:pPr>
            <a:r>
              <a:rPr lang="en-US" altLang="zh-CN" sz="800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“</a:t>
            </a:r>
            <a:endParaRPr lang="en-US" altLang="zh-CN" sz="800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5" name="Rectangle 26"/>
          <p:cNvSpPr>
            <a:spLocks noChangeArrowheads="1"/>
          </p:cNvSpPr>
          <p:nvPr/>
        </p:nvSpPr>
        <p:spPr bwMode="auto">
          <a:xfrm>
            <a:off x="9694333" y="2736959"/>
            <a:ext cx="2497667" cy="1815882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确定性判分：单选多选判断精确匹配、填空按空给分、简答宽松匹配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82696" y="1755648"/>
            <a:ext cx="3310128" cy="35204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/>
            <a:r>
              <a:rPr lang="zh-CN" altLang="en-US" sz="13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① 选择分类与题型，开始练习</a:t>
            </a:r>
            <a:endParaRPr lang="zh-CN" altLang="en-US" sz="13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  <a:p>
            <a:pPr algn="ctr"/>
            <a:r>
              <a:rPr lang="zh-CN" altLang="en-US" sz="13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② 顺序 / 随机 / 错题重做</a:t>
            </a:r>
            <a:endParaRPr lang="zh-CN" altLang="en-US" sz="13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  <a:p>
            <a:pPr algn="ctr"/>
            <a:r>
              <a:rPr lang="zh-CN" altLang="en-US" sz="13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③ 交卷 → 立即看到判分结果</a:t>
            </a:r>
            <a:endParaRPr lang="zh-CN" altLang="en-US" sz="13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  <a:p>
            <a:pPr algn="ctr"/>
            <a:r>
              <a:rPr lang="zh-CN" altLang="en-US" sz="13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④ 错题自动收录并累计错误次数</a:t>
            </a:r>
            <a:endParaRPr lang="zh-CN" altLang="en-US" sz="13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  <a:p>
            <a:pPr algn="ctr"/>
            <a:r>
              <a:rPr lang="zh-CN" altLang="en-US" sz="13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⑤ 标记掌握 / 错题重练</a:t>
            </a:r>
            <a:endParaRPr lang="zh-CN" altLang="en-US" sz="13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>
        <p14:gallery dir="l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矩形 88"/>
          <p:cNvSpPr/>
          <p:nvPr/>
        </p:nvSpPr>
        <p:spPr>
          <a:xfrm>
            <a:off x="0" y="1"/>
            <a:ext cx="12192000" cy="3644900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04" name="任意多边形 103"/>
          <p:cNvSpPr/>
          <p:nvPr/>
        </p:nvSpPr>
        <p:spPr>
          <a:xfrm flipH="1">
            <a:off x="3550734" y="0"/>
            <a:ext cx="8641265" cy="3616272"/>
          </a:xfrm>
          <a:custGeom>
            <a:avLst/>
            <a:gdLst>
              <a:gd name="connsiteX0" fmla="*/ 7260621 w 8641265"/>
              <a:gd name="connsiteY0" fmla="*/ 0 h 3616272"/>
              <a:gd name="connsiteX1" fmla="*/ 0 w 8641265"/>
              <a:gd name="connsiteY1" fmla="*/ 0 h 3616272"/>
              <a:gd name="connsiteX2" fmla="*/ 0 w 8641265"/>
              <a:gd name="connsiteY2" fmla="*/ 641560 h 3616272"/>
              <a:gd name="connsiteX3" fmla="*/ 2153745 w 8641265"/>
              <a:gd name="connsiteY3" fmla="*/ 3616272 h 3616272"/>
              <a:gd name="connsiteX4" fmla="*/ 8641265 w 8641265"/>
              <a:gd name="connsiteY4" fmla="*/ 3616272 h 3616272"/>
              <a:gd name="connsiteX5" fmla="*/ 8641265 w 8641265"/>
              <a:gd name="connsiteY5" fmla="*/ 1906921 h 3616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41265" h="3616272">
                <a:moveTo>
                  <a:pt x="7260621" y="0"/>
                </a:moveTo>
                <a:lnTo>
                  <a:pt x="0" y="0"/>
                </a:lnTo>
                <a:lnTo>
                  <a:pt x="0" y="641560"/>
                </a:lnTo>
                <a:lnTo>
                  <a:pt x="2153745" y="3616272"/>
                </a:lnTo>
                <a:lnTo>
                  <a:pt x="8641265" y="3616272"/>
                </a:lnTo>
                <a:lnTo>
                  <a:pt x="8641265" y="1906921"/>
                </a:lnTo>
                <a:close/>
              </a:path>
            </a:pathLst>
          </a:cu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20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149" name="Group 148"/>
          <p:cNvGrpSpPr>
            <a:grpSpLocks noChangeAspect="1"/>
          </p:cNvGrpSpPr>
          <p:nvPr/>
        </p:nvGrpSpPr>
        <p:grpSpPr>
          <a:xfrm>
            <a:off x="3550735" y="1492840"/>
            <a:ext cx="4684176" cy="3773597"/>
            <a:chOff x="4300539" y="1984376"/>
            <a:chExt cx="3589338" cy="2890838"/>
          </a:xfrm>
        </p:grpSpPr>
        <p:sp>
          <p:nvSpPr>
            <p:cNvPr id="186" name="矩形 5"/>
            <p:cNvSpPr/>
            <p:nvPr/>
          </p:nvSpPr>
          <p:spPr bwMode="auto">
            <a:xfrm>
              <a:off x="4300539" y="1984376"/>
              <a:ext cx="3589338" cy="2170113"/>
            </a:xfrm>
            <a:custGeom>
              <a:avLst/>
              <a:gdLst>
                <a:gd name="T0" fmla="*/ 2537 w 2537"/>
                <a:gd name="T1" fmla="*/ 1533 h 1533"/>
                <a:gd name="T2" fmla="*/ 2537 w 2537"/>
                <a:gd name="T3" fmla="*/ 71 h 1533"/>
                <a:gd name="T4" fmla="*/ 2467 w 2537"/>
                <a:gd name="T5" fmla="*/ 0 h 1533"/>
                <a:gd name="T6" fmla="*/ 71 w 2537"/>
                <a:gd name="T7" fmla="*/ 0 h 1533"/>
                <a:gd name="T8" fmla="*/ 0 w 2537"/>
                <a:gd name="T9" fmla="*/ 71 h 1533"/>
                <a:gd name="T10" fmla="*/ 0 w 2537"/>
                <a:gd name="T11" fmla="*/ 1533 h 1533"/>
                <a:gd name="T12" fmla="*/ 2537 w 2537"/>
                <a:gd name="T13" fmla="*/ 1533 h 1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7" h="1533">
                  <a:moveTo>
                    <a:pt x="2537" y="1533"/>
                  </a:moveTo>
                  <a:cubicBezTo>
                    <a:pt x="2537" y="71"/>
                    <a:pt x="2537" y="71"/>
                    <a:pt x="2537" y="71"/>
                  </a:cubicBezTo>
                  <a:cubicBezTo>
                    <a:pt x="2537" y="32"/>
                    <a:pt x="2506" y="0"/>
                    <a:pt x="2467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32" y="0"/>
                    <a:pt x="0" y="32"/>
                    <a:pt x="0" y="71"/>
                  </a:cubicBezTo>
                  <a:cubicBezTo>
                    <a:pt x="0" y="1533"/>
                    <a:pt x="0" y="1533"/>
                    <a:pt x="0" y="1533"/>
                  </a:cubicBezTo>
                  <a:lnTo>
                    <a:pt x="2537" y="1533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87" name="矩形 6"/>
            <p:cNvSpPr>
              <a:spLocks noEditPoints="1"/>
            </p:cNvSpPr>
            <p:nvPr/>
          </p:nvSpPr>
          <p:spPr bwMode="auto">
            <a:xfrm>
              <a:off x="4440239" y="2132014"/>
              <a:ext cx="3309938" cy="1873250"/>
            </a:xfrm>
            <a:custGeom>
              <a:avLst/>
              <a:gdLst>
                <a:gd name="T0" fmla="*/ 2075 w 2085"/>
                <a:gd name="T1" fmla="*/ 10 h 1180"/>
                <a:gd name="T2" fmla="*/ 2075 w 2085"/>
                <a:gd name="T3" fmla="*/ 1170 h 1180"/>
                <a:gd name="T4" fmla="*/ 10 w 2085"/>
                <a:gd name="T5" fmla="*/ 1170 h 1180"/>
                <a:gd name="T6" fmla="*/ 10 w 2085"/>
                <a:gd name="T7" fmla="*/ 10 h 1180"/>
                <a:gd name="T8" fmla="*/ 2075 w 2085"/>
                <a:gd name="T9" fmla="*/ 10 h 1180"/>
                <a:gd name="T10" fmla="*/ 2085 w 2085"/>
                <a:gd name="T11" fmla="*/ 0 h 1180"/>
                <a:gd name="T12" fmla="*/ 2075 w 2085"/>
                <a:gd name="T13" fmla="*/ 0 h 1180"/>
                <a:gd name="T14" fmla="*/ 10 w 2085"/>
                <a:gd name="T15" fmla="*/ 0 h 1180"/>
                <a:gd name="T16" fmla="*/ 0 w 2085"/>
                <a:gd name="T17" fmla="*/ 0 h 1180"/>
                <a:gd name="T18" fmla="*/ 0 w 2085"/>
                <a:gd name="T19" fmla="*/ 10 h 1180"/>
                <a:gd name="T20" fmla="*/ 0 w 2085"/>
                <a:gd name="T21" fmla="*/ 1170 h 1180"/>
                <a:gd name="T22" fmla="*/ 0 w 2085"/>
                <a:gd name="T23" fmla="*/ 1180 h 1180"/>
                <a:gd name="T24" fmla="*/ 10 w 2085"/>
                <a:gd name="T25" fmla="*/ 1180 h 1180"/>
                <a:gd name="T26" fmla="*/ 2075 w 2085"/>
                <a:gd name="T27" fmla="*/ 1180 h 1180"/>
                <a:gd name="T28" fmla="*/ 2085 w 2085"/>
                <a:gd name="T29" fmla="*/ 1180 h 1180"/>
                <a:gd name="T30" fmla="*/ 2085 w 2085"/>
                <a:gd name="T31" fmla="*/ 1170 h 1180"/>
                <a:gd name="T32" fmla="*/ 2085 w 2085"/>
                <a:gd name="T33" fmla="*/ 10 h 1180"/>
                <a:gd name="T34" fmla="*/ 2085 w 2085"/>
                <a:gd name="T35" fmla="*/ 0 h 1180"/>
                <a:gd name="T36" fmla="*/ 2085 w 2085"/>
                <a:gd name="T37" fmla="*/ 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85" h="1180">
                  <a:moveTo>
                    <a:pt x="2075" y="10"/>
                  </a:moveTo>
                  <a:lnTo>
                    <a:pt x="2075" y="1170"/>
                  </a:lnTo>
                  <a:lnTo>
                    <a:pt x="10" y="1170"/>
                  </a:lnTo>
                  <a:lnTo>
                    <a:pt x="10" y="10"/>
                  </a:lnTo>
                  <a:lnTo>
                    <a:pt x="2075" y="10"/>
                  </a:lnTo>
                  <a:close/>
                  <a:moveTo>
                    <a:pt x="2085" y="0"/>
                  </a:moveTo>
                  <a:lnTo>
                    <a:pt x="2075" y="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170"/>
                  </a:lnTo>
                  <a:lnTo>
                    <a:pt x="0" y="1180"/>
                  </a:lnTo>
                  <a:lnTo>
                    <a:pt x="10" y="1180"/>
                  </a:lnTo>
                  <a:lnTo>
                    <a:pt x="2075" y="1180"/>
                  </a:lnTo>
                  <a:lnTo>
                    <a:pt x="2085" y="1180"/>
                  </a:lnTo>
                  <a:lnTo>
                    <a:pt x="2085" y="1170"/>
                  </a:lnTo>
                  <a:lnTo>
                    <a:pt x="2085" y="10"/>
                  </a:lnTo>
                  <a:lnTo>
                    <a:pt x="2085" y="0"/>
                  </a:lnTo>
                  <a:lnTo>
                    <a:pt x="2085" y="0"/>
                  </a:lnTo>
                  <a:close/>
                </a:path>
              </a:pathLst>
            </a:custGeom>
            <a:solidFill>
              <a:srgbClr val="0C0D11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88" name="矩形7"/>
            <p:cNvSpPr>
              <a:spLocks noEditPoints="1"/>
            </p:cNvSpPr>
            <p:nvPr/>
          </p:nvSpPr>
          <p:spPr bwMode="auto">
            <a:xfrm>
              <a:off x="4440239" y="2132014"/>
              <a:ext cx="3309938" cy="1873250"/>
            </a:xfrm>
            <a:custGeom>
              <a:avLst/>
              <a:gdLst>
                <a:gd name="T0" fmla="*/ 2075 w 2085"/>
                <a:gd name="T1" fmla="*/ 10 h 1180"/>
                <a:gd name="T2" fmla="*/ 2075 w 2085"/>
                <a:gd name="T3" fmla="*/ 1170 h 1180"/>
                <a:gd name="T4" fmla="*/ 10 w 2085"/>
                <a:gd name="T5" fmla="*/ 1170 h 1180"/>
                <a:gd name="T6" fmla="*/ 10 w 2085"/>
                <a:gd name="T7" fmla="*/ 10 h 1180"/>
                <a:gd name="T8" fmla="*/ 2075 w 2085"/>
                <a:gd name="T9" fmla="*/ 10 h 1180"/>
                <a:gd name="T10" fmla="*/ 2085 w 2085"/>
                <a:gd name="T11" fmla="*/ 0 h 1180"/>
                <a:gd name="T12" fmla="*/ 2075 w 2085"/>
                <a:gd name="T13" fmla="*/ 0 h 1180"/>
                <a:gd name="T14" fmla="*/ 10 w 2085"/>
                <a:gd name="T15" fmla="*/ 0 h 1180"/>
                <a:gd name="T16" fmla="*/ 0 w 2085"/>
                <a:gd name="T17" fmla="*/ 0 h 1180"/>
                <a:gd name="T18" fmla="*/ 0 w 2085"/>
                <a:gd name="T19" fmla="*/ 10 h 1180"/>
                <a:gd name="T20" fmla="*/ 0 w 2085"/>
                <a:gd name="T21" fmla="*/ 1170 h 1180"/>
                <a:gd name="T22" fmla="*/ 0 w 2085"/>
                <a:gd name="T23" fmla="*/ 1180 h 1180"/>
                <a:gd name="T24" fmla="*/ 10 w 2085"/>
                <a:gd name="T25" fmla="*/ 1180 h 1180"/>
                <a:gd name="T26" fmla="*/ 2075 w 2085"/>
                <a:gd name="T27" fmla="*/ 1180 h 1180"/>
                <a:gd name="T28" fmla="*/ 2085 w 2085"/>
                <a:gd name="T29" fmla="*/ 1180 h 1180"/>
                <a:gd name="T30" fmla="*/ 2085 w 2085"/>
                <a:gd name="T31" fmla="*/ 1170 h 1180"/>
                <a:gd name="T32" fmla="*/ 2085 w 2085"/>
                <a:gd name="T33" fmla="*/ 10 h 1180"/>
                <a:gd name="T34" fmla="*/ 2085 w 2085"/>
                <a:gd name="T35" fmla="*/ 0 h 1180"/>
                <a:gd name="T36" fmla="*/ 2085 w 2085"/>
                <a:gd name="T37" fmla="*/ 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85" h="1180">
                  <a:moveTo>
                    <a:pt x="2075" y="10"/>
                  </a:moveTo>
                  <a:lnTo>
                    <a:pt x="2075" y="1170"/>
                  </a:lnTo>
                  <a:lnTo>
                    <a:pt x="10" y="1170"/>
                  </a:lnTo>
                  <a:lnTo>
                    <a:pt x="10" y="10"/>
                  </a:lnTo>
                  <a:lnTo>
                    <a:pt x="2075" y="10"/>
                  </a:lnTo>
                  <a:moveTo>
                    <a:pt x="2085" y="0"/>
                  </a:moveTo>
                  <a:lnTo>
                    <a:pt x="2075" y="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170"/>
                  </a:lnTo>
                  <a:lnTo>
                    <a:pt x="0" y="1180"/>
                  </a:lnTo>
                  <a:lnTo>
                    <a:pt x="10" y="1180"/>
                  </a:lnTo>
                  <a:lnTo>
                    <a:pt x="2075" y="1180"/>
                  </a:lnTo>
                  <a:lnTo>
                    <a:pt x="2085" y="1180"/>
                  </a:lnTo>
                  <a:lnTo>
                    <a:pt x="2085" y="1170"/>
                  </a:lnTo>
                  <a:lnTo>
                    <a:pt x="2085" y="10"/>
                  </a:lnTo>
                  <a:lnTo>
                    <a:pt x="2085" y="0"/>
                  </a:lnTo>
                  <a:lnTo>
                    <a:pt x="2085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89" name="Rectangle 8"/>
            <p:cNvSpPr>
              <a:spLocks noChangeArrowheads="1"/>
            </p:cNvSpPr>
            <p:nvPr/>
          </p:nvSpPr>
          <p:spPr bwMode="auto">
            <a:xfrm>
              <a:off x="4456114" y="2147889"/>
              <a:ext cx="3278188" cy="1841500"/>
            </a:xfrm>
            <a:prstGeom prst="rect">
              <a:avLst/>
            </a:prstGeom>
            <a:solidFill>
              <a:srgbClr val="7E7E7E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90" name="矩形 9"/>
            <p:cNvSpPr/>
            <p:nvPr/>
          </p:nvSpPr>
          <p:spPr bwMode="auto">
            <a:xfrm>
              <a:off x="5484814" y="4826001"/>
              <a:ext cx="1208088" cy="49213"/>
            </a:xfrm>
            <a:custGeom>
              <a:avLst/>
              <a:gdLst>
                <a:gd name="T0" fmla="*/ 852 w 854"/>
                <a:gd name="T1" fmla="*/ 24 h 35"/>
                <a:gd name="T2" fmla="*/ 478 w 854"/>
                <a:gd name="T3" fmla="*/ 5 h 35"/>
                <a:gd name="T4" fmla="*/ 478 w 854"/>
                <a:gd name="T5" fmla="*/ 0 h 35"/>
                <a:gd name="T6" fmla="*/ 427 w 854"/>
                <a:gd name="T7" fmla="*/ 3 h 35"/>
                <a:gd name="T8" fmla="*/ 375 w 854"/>
                <a:gd name="T9" fmla="*/ 0 h 35"/>
                <a:gd name="T10" fmla="*/ 375 w 854"/>
                <a:gd name="T11" fmla="*/ 5 h 35"/>
                <a:gd name="T12" fmla="*/ 1 w 854"/>
                <a:gd name="T13" fmla="*/ 24 h 35"/>
                <a:gd name="T14" fmla="*/ 24 w 854"/>
                <a:gd name="T15" fmla="*/ 35 h 35"/>
                <a:gd name="T16" fmla="*/ 375 w 854"/>
                <a:gd name="T17" fmla="*/ 35 h 35"/>
                <a:gd name="T18" fmla="*/ 478 w 854"/>
                <a:gd name="T19" fmla="*/ 35 h 35"/>
                <a:gd name="T20" fmla="*/ 829 w 854"/>
                <a:gd name="T21" fmla="*/ 35 h 35"/>
                <a:gd name="T22" fmla="*/ 852 w 854"/>
                <a:gd name="T23" fmla="*/ 2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54" h="35">
                  <a:moveTo>
                    <a:pt x="852" y="24"/>
                  </a:moveTo>
                  <a:cubicBezTo>
                    <a:pt x="478" y="5"/>
                    <a:pt x="478" y="5"/>
                    <a:pt x="478" y="5"/>
                  </a:cubicBezTo>
                  <a:cubicBezTo>
                    <a:pt x="478" y="0"/>
                    <a:pt x="478" y="0"/>
                    <a:pt x="478" y="0"/>
                  </a:cubicBezTo>
                  <a:cubicBezTo>
                    <a:pt x="427" y="3"/>
                    <a:pt x="427" y="3"/>
                    <a:pt x="427" y="3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5"/>
                    <a:pt x="375" y="5"/>
                    <a:pt x="375" y="5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0" y="35"/>
                    <a:pt x="24" y="35"/>
                  </a:cubicBezTo>
                  <a:cubicBezTo>
                    <a:pt x="41" y="35"/>
                    <a:pt x="247" y="35"/>
                    <a:pt x="375" y="35"/>
                  </a:cubicBezTo>
                  <a:cubicBezTo>
                    <a:pt x="435" y="35"/>
                    <a:pt x="478" y="35"/>
                    <a:pt x="478" y="35"/>
                  </a:cubicBezTo>
                  <a:cubicBezTo>
                    <a:pt x="606" y="35"/>
                    <a:pt x="812" y="35"/>
                    <a:pt x="829" y="35"/>
                  </a:cubicBezTo>
                  <a:cubicBezTo>
                    <a:pt x="854" y="35"/>
                    <a:pt x="852" y="24"/>
                    <a:pt x="852" y="24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91" name="矩形 10"/>
            <p:cNvSpPr/>
            <p:nvPr/>
          </p:nvSpPr>
          <p:spPr bwMode="auto">
            <a:xfrm>
              <a:off x="5478464" y="4446589"/>
              <a:ext cx="1219200" cy="417513"/>
            </a:xfrm>
            <a:custGeom>
              <a:avLst/>
              <a:gdLst>
                <a:gd name="T0" fmla="*/ 790 w 861"/>
                <a:gd name="T1" fmla="*/ 274 h 295"/>
                <a:gd name="T2" fmla="*/ 738 w 861"/>
                <a:gd name="T3" fmla="*/ 224 h 295"/>
                <a:gd name="T4" fmla="*/ 714 w 861"/>
                <a:gd name="T5" fmla="*/ 0 h 295"/>
                <a:gd name="T6" fmla="*/ 431 w 861"/>
                <a:gd name="T7" fmla="*/ 4 h 295"/>
                <a:gd name="T8" fmla="*/ 147 w 861"/>
                <a:gd name="T9" fmla="*/ 0 h 295"/>
                <a:gd name="T10" fmla="*/ 124 w 861"/>
                <a:gd name="T11" fmla="*/ 224 h 295"/>
                <a:gd name="T12" fmla="*/ 72 w 861"/>
                <a:gd name="T13" fmla="*/ 274 h 295"/>
                <a:gd name="T14" fmla="*/ 0 w 861"/>
                <a:gd name="T15" fmla="*/ 291 h 295"/>
                <a:gd name="T16" fmla="*/ 0 w 861"/>
                <a:gd name="T17" fmla="*/ 295 h 295"/>
                <a:gd name="T18" fmla="*/ 379 w 861"/>
                <a:gd name="T19" fmla="*/ 295 h 295"/>
                <a:gd name="T20" fmla="*/ 482 w 861"/>
                <a:gd name="T21" fmla="*/ 295 h 295"/>
                <a:gd name="T22" fmla="*/ 861 w 861"/>
                <a:gd name="T23" fmla="*/ 295 h 295"/>
                <a:gd name="T24" fmla="*/ 861 w 861"/>
                <a:gd name="T25" fmla="*/ 291 h 295"/>
                <a:gd name="T26" fmla="*/ 790 w 861"/>
                <a:gd name="T27" fmla="*/ 27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1" h="295">
                  <a:moveTo>
                    <a:pt x="790" y="274"/>
                  </a:moveTo>
                  <a:cubicBezTo>
                    <a:pt x="760" y="268"/>
                    <a:pt x="744" y="271"/>
                    <a:pt x="738" y="224"/>
                  </a:cubicBezTo>
                  <a:cubicBezTo>
                    <a:pt x="731" y="177"/>
                    <a:pt x="714" y="0"/>
                    <a:pt x="714" y="0"/>
                  </a:cubicBezTo>
                  <a:cubicBezTo>
                    <a:pt x="431" y="4"/>
                    <a:pt x="431" y="4"/>
                    <a:pt x="431" y="4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30" y="177"/>
                    <a:pt x="124" y="224"/>
                  </a:cubicBezTo>
                  <a:cubicBezTo>
                    <a:pt x="117" y="271"/>
                    <a:pt x="102" y="268"/>
                    <a:pt x="72" y="274"/>
                  </a:cubicBezTo>
                  <a:cubicBezTo>
                    <a:pt x="42" y="280"/>
                    <a:pt x="0" y="287"/>
                    <a:pt x="0" y="291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379" y="295"/>
                    <a:pt x="379" y="295"/>
                    <a:pt x="379" y="295"/>
                  </a:cubicBezTo>
                  <a:cubicBezTo>
                    <a:pt x="482" y="295"/>
                    <a:pt x="482" y="295"/>
                    <a:pt x="482" y="295"/>
                  </a:cubicBezTo>
                  <a:cubicBezTo>
                    <a:pt x="861" y="295"/>
                    <a:pt x="861" y="295"/>
                    <a:pt x="861" y="295"/>
                  </a:cubicBezTo>
                  <a:cubicBezTo>
                    <a:pt x="861" y="295"/>
                    <a:pt x="861" y="295"/>
                    <a:pt x="861" y="291"/>
                  </a:cubicBezTo>
                  <a:cubicBezTo>
                    <a:pt x="861" y="287"/>
                    <a:pt x="820" y="280"/>
                    <a:pt x="790" y="274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92" name="Oval 11"/>
            <p:cNvSpPr>
              <a:spLocks noChangeArrowheads="1"/>
            </p:cNvSpPr>
            <p:nvPr/>
          </p:nvSpPr>
          <p:spPr bwMode="auto">
            <a:xfrm>
              <a:off x="6070602" y="2044701"/>
              <a:ext cx="49213" cy="4921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93" name="Oval 12"/>
            <p:cNvSpPr>
              <a:spLocks noChangeArrowheads="1"/>
            </p:cNvSpPr>
            <p:nvPr/>
          </p:nvSpPr>
          <p:spPr bwMode="auto">
            <a:xfrm>
              <a:off x="6070602" y="2041526"/>
              <a:ext cx="49213" cy="49213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94" name="Oval 13"/>
            <p:cNvSpPr>
              <a:spLocks noChangeArrowheads="1"/>
            </p:cNvSpPr>
            <p:nvPr/>
          </p:nvSpPr>
          <p:spPr bwMode="auto">
            <a:xfrm>
              <a:off x="6078539" y="2049464"/>
              <a:ext cx="33338" cy="317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95" name="Oval 14"/>
            <p:cNvSpPr>
              <a:spLocks noChangeArrowheads="1"/>
            </p:cNvSpPr>
            <p:nvPr/>
          </p:nvSpPr>
          <p:spPr bwMode="auto">
            <a:xfrm>
              <a:off x="6088064" y="2055814"/>
              <a:ext cx="15875" cy="19050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96" name="Oval 15"/>
            <p:cNvSpPr>
              <a:spLocks noChangeArrowheads="1"/>
            </p:cNvSpPr>
            <p:nvPr/>
          </p:nvSpPr>
          <p:spPr bwMode="auto">
            <a:xfrm>
              <a:off x="6092827" y="2063751"/>
              <a:ext cx="4763" cy="47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97" name="矩形 16"/>
            <p:cNvSpPr/>
            <p:nvPr/>
          </p:nvSpPr>
          <p:spPr bwMode="auto">
            <a:xfrm>
              <a:off x="5478464" y="4446589"/>
              <a:ext cx="985838" cy="417513"/>
            </a:xfrm>
            <a:custGeom>
              <a:avLst/>
              <a:gdLst>
                <a:gd name="T0" fmla="*/ 696 w 696"/>
                <a:gd name="T1" fmla="*/ 10 h 295"/>
                <a:gd name="T2" fmla="*/ 573 w 696"/>
                <a:gd name="T3" fmla="*/ 2 h 295"/>
                <a:gd name="T4" fmla="*/ 431 w 696"/>
                <a:gd name="T5" fmla="*/ 4 h 295"/>
                <a:gd name="T6" fmla="*/ 147 w 696"/>
                <a:gd name="T7" fmla="*/ 0 h 295"/>
                <a:gd name="T8" fmla="*/ 124 w 696"/>
                <a:gd name="T9" fmla="*/ 224 h 295"/>
                <a:gd name="T10" fmla="*/ 72 w 696"/>
                <a:gd name="T11" fmla="*/ 274 h 295"/>
                <a:gd name="T12" fmla="*/ 0 w 696"/>
                <a:gd name="T13" fmla="*/ 291 h 295"/>
                <a:gd name="T14" fmla="*/ 0 w 696"/>
                <a:gd name="T15" fmla="*/ 295 h 295"/>
                <a:gd name="T16" fmla="*/ 379 w 696"/>
                <a:gd name="T17" fmla="*/ 295 h 295"/>
                <a:gd name="T18" fmla="*/ 432 w 696"/>
                <a:gd name="T19" fmla="*/ 295 h 295"/>
                <a:gd name="T20" fmla="*/ 696 w 696"/>
                <a:gd name="T21" fmla="*/ 1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96" h="295">
                  <a:moveTo>
                    <a:pt x="696" y="10"/>
                  </a:moveTo>
                  <a:cubicBezTo>
                    <a:pt x="573" y="2"/>
                    <a:pt x="573" y="2"/>
                    <a:pt x="573" y="2"/>
                  </a:cubicBezTo>
                  <a:cubicBezTo>
                    <a:pt x="431" y="4"/>
                    <a:pt x="431" y="4"/>
                    <a:pt x="431" y="4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30" y="177"/>
                    <a:pt x="124" y="224"/>
                  </a:cubicBezTo>
                  <a:cubicBezTo>
                    <a:pt x="117" y="271"/>
                    <a:pt x="102" y="268"/>
                    <a:pt x="72" y="274"/>
                  </a:cubicBezTo>
                  <a:cubicBezTo>
                    <a:pt x="42" y="280"/>
                    <a:pt x="0" y="287"/>
                    <a:pt x="0" y="291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379" y="295"/>
                    <a:pt x="379" y="295"/>
                    <a:pt x="379" y="295"/>
                  </a:cubicBezTo>
                  <a:cubicBezTo>
                    <a:pt x="432" y="295"/>
                    <a:pt x="432" y="295"/>
                    <a:pt x="432" y="295"/>
                  </a:cubicBezTo>
                  <a:lnTo>
                    <a:pt x="696" y="10"/>
                  </a:lnTo>
                  <a:close/>
                </a:path>
              </a:pathLst>
            </a:custGeom>
            <a:solidFill>
              <a:srgbClr val="A8A9AA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98" name="矩形 17"/>
            <p:cNvSpPr/>
            <p:nvPr/>
          </p:nvSpPr>
          <p:spPr bwMode="auto">
            <a:xfrm>
              <a:off x="4300539" y="4154489"/>
              <a:ext cx="3589338" cy="341313"/>
            </a:xfrm>
            <a:custGeom>
              <a:avLst/>
              <a:gdLst>
                <a:gd name="T0" fmla="*/ 0 w 2537"/>
                <a:gd name="T1" fmla="*/ 0 h 241"/>
                <a:gd name="T2" fmla="*/ 0 w 2537"/>
                <a:gd name="T3" fmla="*/ 170 h 241"/>
                <a:gd name="T4" fmla="*/ 71 w 2537"/>
                <a:gd name="T5" fmla="*/ 241 h 241"/>
                <a:gd name="T6" fmla="*/ 2467 w 2537"/>
                <a:gd name="T7" fmla="*/ 241 h 241"/>
                <a:gd name="T8" fmla="*/ 2537 w 2537"/>
                <a:gd name="T9" fmla="*/ 170 h 241"/>
                <a:gd name="T10" fmla="*/ 2537 w 2537"/>
                <a:gd name="T11" fmla="*/ 0 h 241"/>
                <a:gd name="T12" fmla="*/ 0 w 2537"/>
                <a:gd name="T1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7" h="241">
                  <a:moveTo>
                    <a:pt x="0" y="0"/>
                  </a:moveTo>
                  <a:cubicBezTo>
                    <a:pt x="0" y="170"/>
                    <a:pt x="0" y="170"/>
                    <a:pt x="0" y="170"/>
                  </a:cubicBezTo>
                  <a:cubicBezTo>
                    <a:pt x="0" y="209"/>
                    <a:pt x="32" y="241"/>
                    <a:pt x="71" y="241"/>
                  </a:cubicBezTo>
                  <a:cubicBezTo>
                    <a:pt x="2467" y="241"/>
                    <a:pt x="2467" y="241"/>
                    <a:pt x="2467" y="241"/>
                  </a:cubicBezTo>
                  <a:cubicBezTo>
                    <a:pt x="2506" y="241"/>
                    <a:pt x="2537" y="209"/>
                    <a:pt x="2537" y="170"/>
                  </a:cubicBezTo>
                  <a:cubicBezTo>
                    <a:pt x="2537" y="0"/>
                    <a:pt x="2537" y="0"/>
                    <a:pt x="253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</p:grpSp>
      <p:sp>
        <p:nvSpPr>
          <p:cNvPr id="270" name="Oval 269"/>
          <p:cNvSpPr/>
          <p:nvPr/>
        </p:nvSpPr>
        <p:spPr>
          <a:xfrm flipH="1">
            <a:off x="911215" y="5539687"/>
            <a:ext cx="585603" cy="585755"/>
          </a:xfrm>
          <a:prstGeom prst="ellipse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AU" sz="2400" b="1" u="sng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51" name="Text Placeholder 33"/>
          <p:cNvSpPr txBox="1"/>
          <p:nvPr/>
        </p:nvSpPr>
        <p:spPr>
          <a:xfrm>
            <a:off x="1612768" y="5459144"/>
            <a:ext cx="1107996" cy="369332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800" b="0" dirty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数据看板</a:t>
            </a:r>
            <a:endParaRPr lang="zh-CN" altLang="en-US" sz="1800" b="0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607653" y="5851903"/>
            <a:ext cx="2631308" cy="584775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r>
              <a:rPr lang="zh-CN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练习数据图形化：正确率趋势、题型难度分布、错题最多的分类</a:t>
            </a:r>
            <a:endParaRPr lang="zh-CN" altLang="en-US" sz="1400" b="0" dirty="0">
              <a:solidFill>
                <a:schemeClr val="tx1">
                  <a:lumMod val="50000"/>
                  <a:lumOff val="50000"/>
                </a:schemeClr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49" name="Text Placeholder 33"/>
          <p:cNvSpPr txBox="1"/>
          <p:nvPr/>
        </p:nvSpPr>
        <p:spPr>
          <a:xfrm>
            <a:off x="5126571" y="5459144"/>
            <a:ext cx="1107996" cy="369332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400" b="0" dirty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AI 学情报告</a:t>
            </a:r>
            <a:endParaRPr lang="zh-CN" altLang="en-US" sz="1400" b="0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271" name="Oval 270"/>
          <p:cNvSpPr/>
          <p:nvPr/>
        </p:nvSpPr>
        <p:spPr>
          <a:xfrm flipH="1">
            <a:off x="4496715" y="5539692"/>
            <a:ext cx="585603" cy="585755"/>
          </a:xfrm>
          <a:prstGeom prst="ellipse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53" name="Text Placeholder 33"/>
          <p:cNvSpPr txBox="1"/>
          <p:nvPr/>
        </p:nvSpPr>
        <p:spPr>
          <a:xfrm>
            <a:off x="8756922" y="5459144"/>
            <a:ext cx="1107996" cy="369332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600" b="0" dirty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数据与隐私</a:t>
            </a:r>
            <a:endParaRPr lang="zh-CN" altLang="en-US" sz="1600" b="0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272" name="Oval 271"/>
          <p:cNvSpPr/>
          <p:nvPr/>
        </p:nvSpPr>
        <p:spPr>
          <a:xfrm flipH="1">
            <a:off x="8075447" y="5556133"/>
            <a:ext cx="585603" cy="585755"/>
          </a:xfrm>
          <a:prstGeom prst="ellipse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AU" sz="2400" b="1" u="sng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17" name="0ape 119"/>
          <p:cNvSpPr>
            <a:spLocks noChangeAspect="1"/>
          </p:cNvSpPr>
          <p:nvPr/>
        </p:nvSpPr>
        <p:spPr bwMode="auto">
          <a:xfrm>
            <a:off x="8228078" y="5682127"/>
            <a:ext cx="300189" cy="29166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28" y="11543"/>
                </a:moveTo>
                <a:cubicBezTo>
                  <a:pt x="21492" y="11930"/>
                  <a:pt x="21571" y="12337"/>
                  <a:pt x="21571" y="12758"/>
                </a:cubicBezTo>
                <a:cubicBezTo>
                  <a:pt x="21571" y="13464"/>
                  <a:pt x="21388" y="14105"/>
                  <a:pt x="21017" y="14678"/>
                </a:cubicBezTo>
                <a:cubicBezTo>
                  <a:pt x="21111" y="15215"/>
                  <a:pt x="21077" y="15745"/>
                  <a:pt x="20924" y="16285"/>
                </a:cubicBezTo>
                <a:cubicBezTo>
                  <a:pt x="20769" y="16819"/>
                  <a:pt x="20512" y="17287"/>
                  <a:pt x="20141" y="17697"/>
                </a:cubicBezTo>
                <a:cubicBezTo>
                  <a:pt x="20105" y="18451"/>
                  <a:pt x="19901" y="19081"/>
                  <a:pt x="19531" y="19580"/>
                </a:cubicBezTo>
                <a:cubicBezTo>
                  <a:pt x="19161" y="20080"/>
                  <a:pt x="18700" y="20481"/>
                  <a:pt x="18146" y="20783"/>
                </a:cubicBezTo>
                <a:cubicBezTo>
                  <a:pt x="17593" y="21088"/>
                  <a:pt x="16982" y="21297"/>
                  <a:pt x="16321" y="21419"/>
                </a:cubicBezTo>
                <a:cubicBezTo>
                  <a:pt x="15660" y="21540"/>
                  <a:pt x="15010" y="21599"/>
                  <a:pt x="14380" y="21599"/>
                </a:cubicBezTo>
                <a:cubicBezTo>
                  <a:pt x="13730" y="21599"/>
                  <a:pt x="13077" y="21554"/>
                  <a:pt x="12424" y="21461"/>
                </a:cubicBezTo>
                <a:cubicBezTo>
                  <a:pt x="11772" y="21362"/>
                  <a:pt x="11127" y="21235"/>
                  <a:pt x="10497" y="21074"/>
                </a:cubicBezTo>
                <a:cubicBezTo>
                  <a:pt x="9864" y="20894"/>
                  <a:pt x="9237" y="20702"/>
                  <a:pt x="8610" y="20493"/>
                </a:cubicBezTo>
                <a:cubicBezTo>
                  <a:pt x="7982" y="20286"/>
                  <a:pt x="7341" y="20182"/>
                  <a:pt x="6680" y="20182"/>
                </a:cubicBezTo>
                <a:lnTo>
                  <a:pt x="1607" y="20182"/>
                </a:lnTo>
                <a:cubicBezTo>
                  <a:pt x="1167" y="20182"/>
                  <a:pt x="785" y="20029"/>
                  <a:pt x="471" y="19713"/>
                </a:cubicBezTo>
                <a:cubicBezTo>
                  <a:pt x="158" y="19405"/>
                  <a:pt x="0" y="19024"/>
                  <a:pt x="0" y="18572"/>
                </a:cubicBezTo>
                <a:lnTo>
                  <a:pt x="0" y="9880"/>
                </a:lnTo>
                <a:cubicBezTo>
                  <a:pt x="0" y="9440"/>
                  <a:pt x="158" y="9064"/>
                  <a:pt x="471" y="8754"/>
                </a:cubicBezTo>
                <a:cubicBezTo>
                  <a:pt x="785" y="8440"/>
                  <a:pt x="1167" y="8285"/>
                  <a:pt x="1607" y="8285"/>
                </a:cubicBezTo>
                <a:lnTo>
                  <a:pt x="6315" y="8285"/>
                </a:lnTo>
                <a:cubicBezTo>
                  <a:pt x="6558" y="8160"/>
                  <a:pt x="6750" y="8022"/>
                  <a:pt x="6897" y="7872"/>
                </a:cubicBezTo>
                <a:cubicBezTo>
                  <a:pt x="7041" y="7723"/>
                  <a:pt x="7197" y="7548"/>
                  <a:pt x="7369" y="7342"/>
                </a:cubicBezTo>
                <a:cubicBezTo>
                  <a:pt x="7513" y="7161"/>
                  <a:pt x="7663" y="6986"/>
                  <a:pt x="7810" y="6819"/>
                </a:cubicBezTo>
                <a:cubicBezTo>
                  <a:pt x="7957" y="6653"/>
                  <a:pt x="8112" y="6483"/>
                  <a:pt x="8276" y="6311"/>
                </a:cubicBezTo>
                <a:cubicBezTo>
                  <a:pt x="8570" y="5997"/>
                  <a:pt x="8918" y="5690"/>
                  <a:pt x="9302" y="5385"/>
                </a:cubicBezTo>
                <a:cubicBezTo>
                  <a:pt x="9692" y="5085"/>
                  <a:pt x="9989" y="4749"/>
                  <a:pt x="10195" y="4379"/>
                </a:cubicBezTo>
                <a:cubicBezTo>
                  <a:pt x="10339" y="4117"/>
                  <a:pt x="10443" y="3826"/>
                  <a:pt x="10506" y="3507"/>
                </a:cubicBezTo>
                <a:cubicBezTo>
                  <a:pt x="10565" y="3188"/>
                  <a:pt x="10627" y="2866"/>
                  <a:pt x="10675" y="2538"/>
                </a:cubicBezTo>
                <a:cubicBezTo>
                  <a:pt x="10726" y="2216"/>
                  <a:pt x="10780" y="1900"/>
                  <a:pt x="10845" y="1592"/>
                </a:cubicBezTo>
                <a:cubicBezTo>
                  <a:pt x="10907" y="1287"/>
                  <a:pt x="11014" y="1016"/>
                  <a:pt x="11161" y="776"/>
                </a:cubicBezTo>
                <a:cubicBezTo>
                  <a:pt x="11311" y="536"/>
                  <a:pt x="11523" y="350"/>
                  <a:pt x="11800" y="208"/>
                </a:cubicBezTo>
                <a:cubicBezTo>
                  <a:pt x="12074" y="67"/>
                  <a:pt x="12441" y="0"/>
                  <a:pt x="12902" y="0"/>
                </a:cubicBezTo>
                <a:cubicBezTo>
                  <a:pt x="13450" y="0"/>
                  <a:pt x="13956" y="112"/>
                  <a:pt x="14411" y="344"/>
                </a:cubicBezTo>
                <a:cubicBezTo>
                  <a:pt x="14869" y="573"/>
                  <a:pt x="15250" y="881"/>
                  <a:pt x="15567" y="1270"/>
                </a:cubicBezTo>
                <a:cubicBezTo>
                  <a:pt x="15880" y="1657"/>
                  <a:pt x="16126" y="2101"/>
                  <a:pt x="16304" y="2600"/>
                </a:cubicBezTo>
                <a:cubicBezTo>
                  <a:pt x="16479" y="3103"/>
                  <a:pt x="16570" y="3609"/>
                  <a:pt x="16570" y="4123"/>
                </a:cubicBezTo>
                <a:cubicBezTo>
                  <a:pt x="16570" y="4653"/>
                  <a:pt x="16491" y="5162"/>
                  <a:pt x="16332" y="5645"/>
                </a:cubicBezTo>
                <a:cubicBezTo>
                  <a:pt x="16174" y="6125"/>
                  <a:pt x="15982" y="6610"/>
                  <a:pt x="15759" y="7096"/>
                </a:cubicBezTo>
                <a:cubicBezTo>
                  <a:pt x="16072" y="7079"/>
                  <a:pt x="16389" y="7057"/>
                  <a:pt x="16705" y="7034"/>
                </a:cubicBezTo>
                <a:cubicBezTo>
                  <a:pt x="17019" y="7011"/>
                  <a:pt x="17335" y="7000"/>
                  <a:pt x="17652" y="7000"/>
                </a:cubicBezTo>
                <a:cubicBezTo>
                  <a:pt x="18149" y="7000"/>
                  <a:pt x="18630" y="7048"/>
                  <a:pt x="19099" y="7144"/>
                </a:cubicBezTo>
                <a:cubicBezTo>
                  <a:pt x="19568" y="7237"/>
                  <a:pt x="19986" y="7395"/>
                  <a:pt x="20356" y="7616"/>
                </a:cubicBezTo>
                <a:cubicBezTo>
                  <a:pt x="20726" y="7839"/>
                  <a:pt x="21026" y="8144"/>
                  <a:pt x="21255" y="8528"/>
                </a:cubicBezTo>
                <a:cubicBezTo>
                  <a:pt x="21486" y="8918"/>
                  <a:pt x="21599" y="9409"/>
                  <a:pt x="21599" y="10002"/>
                </a:cubicBezTo>
                <a:cubicBezTo>
                  <a:pt x="21599" y="10265"/>
                  <a:pt x="21580" y="10519"/>
                  <a:pt x="21535" y="10773"/>
                </a:cubicBezTo>
                <a:cubicBezTo>
                  <a:pt x="21484" y="11030"/>
                  <a:pt x="21419" y="11284"/>
                  <a:pt x="21328" y="11543"/>
                </a:cubicBezTo>
                <a:moveTo>
                  <a:pt x="4258" y="18519"/>
                </a:moveTo>
                <a:cubicBezTo>
                  <a:pt x="4555" y="18519"/>
                  <a:pt x="4809" y="18417"/>
                  <a:pt x="5024" y="18214"/>
                </a:cubicBezTo>
                <a:cubicBezTo>
                  <a:pt x="5233" y="18013"/>
                  <a:pt x="5340" y="17759"/>
                  <a:pt x="5340" y="17454"/>
                </a:cubicBezTo>
                <a:cubicBezTo>
                  <a:pt x="5340" y="17155"/>
                  <a:pt x="5233" y="16900"/>
                  <a:pt x="5024" y="16686"/>
                </a:cubicBezTo>
                <a:cubicBezTo>
                  <a:pt x="4812" y="16477"/>
                  <a:pt x="4557" y="16372"/>
                  <a:pt x="4258" y="16372"/>
                </a:cubicBezTo>
                <a:cubicBezTo>
                  <a:pt x="3941" y="16372"/>
                  <a:pt x="3684" y="16477"/>
                  <a:pt x="3486" y="16686"/>
                </a:cubicBezTo>
                <a:cubicBezTo>
                  <a:pt x="3289" y="16900"/>
                  <a:pt x="3190" y="17155"/>
                  <a:pt x="3190" y="17454"/>
                </a:cubicBezTo>
                <a:cubicBezTo>
                  <a:pt x="3190" y="17767"/>
                  <a:pt x="3289" y="18024"/>
                  <a:pt x="3486" y="18222"/>
                </a:cubicBezTo>
                <a:cubicBezTo>
                  <a:pt x="3681" y="18420"/>
                  <a:pt x="3939" y="18519"/>
                  <a:pt x="4258" y="18519"/>
                </a:cubicBezTo>
                <a:moveTo>
                  <a:pt x="19164" y="14342"/>
                </a:moveTo>
                <a:cubicBezTo>
                  <a:pt x="19703" y="13901"/>
                  <a:pt x="19975" y="13345"/>
                  <a:pt x="19975" y="12679"/>
                </a:cubicBezTo>
                <a:cubicBezTo>
                  <a:pt x="19975" y="12473"/>
                  <a:pt x="19918" y="12281"/>
                  <a:pt x="19805" y="12097"/>
                </a:cubicBezTo>
                <a:cubicBezTo>
                  <a:pt x="19695" y="11919"/>
                  <a:pt x="19576" y="11761"/>
                  <a:pt x="19446" y="11623"/>
                </a:cubicBezTo>
                <a:cubicBezTo>
                  <a:pt x="19590" y="11363"/>
                  <a:pt x="19720" y="11106"/>
                  <a:pt x="19833" y="10849"/>
                </a:cubicBezTo>
                <a:cubicBezTo>
                  <a:pt x="19944" y="10592"/>
                  <a:pt x="20003" y="10312"/>
                  <a:pt x="20003" y="10002"/>
                </a:cubicBezTo>
                <a:cubicBezTo>
                  <a:pt x="20003" y="9688"/>
                  <a:pt x="19924" y="9440"/>
                  <a:pt x="19766" y="9251"/>
                </a:cubicBezTo>
                <a:cubicBezTo>
                  <a:pt x="19607" y="9070"/>
                  <a:pt x="19415" y="8929"/>
                  <a:pt x="19184" y="8833"/>
                </a:cubicBezTo>
                <a:cubicBezTo>
                  <a:pt x="18955" y="8739"/>
                  <a:pt x="18698" y="8683"/>
                  <a:pt x="18418" y="8663"/>
                </a:cubicBezTo>
                <a:cubicBezTo>
                  <a:pt x="18138" y="8643"/>
                  <a:pt x="17884" y="8635"/>
                  <a:pt x="17649" y="8635"/>
                </a:cubicBezTo>
                <a:cubicBezTo>
                  <a:pt x="17242" y="8635"/>
                  <a:pt x="16835" y="8649"/>
                  <a:pt x="16423" y="8677"/>
                </a:cubicBezTo>
                <a:cubicBezTo>
                  <a:pt x="16010" y="8706"/>
                  <a:pt x="15606" y="8720"/>
                  <a:pt x="15199" y="8720"/>
                </a:cubicBezTo>
                <a:cubicBezTo>
                  <a:pt x="14917" y="8720"/>
                  <a:pt x="14643" y="8706"/>
                  <a:pt x="14366" y="8677"/>
                </a:cubicBezTo>
                <a:cubicBezTo>
                  <a:pt x="14089" y="8649"/>
                  <a:pt x="13829" y="8584"/>
                  <a:pt x="13574" y="8474"/>
                </a:cubicBezTo>
                <a:cubicBezTo>
                  <a:pt x="13574" y="8104"/>
                  <a:pt x="13645" y="7754"/>
                  <a:pt x="13792" y="7421"/>
                </a:cubicBezTo>
                <a:cubicBezTo>
                  <a:pt x="13936" y="7087"/>
                  <a:pt x="14094" y="6751"/>
                  <a:pt x="14275" y="6413"/>
                </a:cubicBezTo>
                <a:cubicBezTo>
                  <a:pt x="14448" y="6074"/>
                  <a:pt x="14606" y="5721"/>
                  <a:pt x="14747" y="5351"/>
                </a:cubicBezTo>
                <a:cubicBezTo>
                  <a:pt x="14886" y="4984"/>
                  <a:pt x="14953" y="4574"/>
                  <a:pt x="14953" y="4122"/>
                </a:cubicBezTo>
                <a:cubicBezTo>
                  <a:pt x="14953" y="3823"/>
                  <a:pt x="14905" y="3529"/>
                  <a:pt x="14812" y="3236"/>
                </a:cubicBezTo>
                <a:cubicBezTo>
                  <a:pt x="14716" y="2945"/>
                  <a:pt x="14583" y="2677"/>
                  <a:pt x="14411" y="2439"/>
                </a:cubicBezTo>
                <a:cubicBezTo>
                  <a:pt x="14238" y="2199"/>
                  <a:pt x="14027" y="2002"/>
                  <a:pt x="13775" y="1843"/>
                </a:cubicBezTo>
                <a:cubicBezTo>
                  <a:pt x="13521" y="1688"/>
                  <a:pt x="13230" y="1606"/>
                  <a:pt x="12893" y="1606"/>
                </a:cubicBezTo>
                <a:lnTo>
                  <a:pt x="12744" y="1606"/>
                </a:lnTo>
                <a:cubicBezTo>
                  <a:pt x="12681" y="1606"/>
                  <a:pt x="12631" y="1617"/>
                  <a:pt x="12594" y="1634"/>
                </a:cubicBezTo>
                <a:cubicBezTo>
                  <a:pt x="12523" y="1671"/>
                  <a:pt x="12481" y="1705"/>
                  <a:pt x="12472" y="1742"/>
                </a:cubicBezTo>
                <a:cubicBezTo>
                  <a:pt x="12464" y="1778"/>
                  <a:pt x="12450" y="1838"/>
                  <a:pt x="12430" y="1920"/>
                </a:cubicBezTo>
                <a:cubicBezTo>
                  <a:pt x="12323" y="2450"/>
                  <a:pt x="12221" y="3007"/>
                  <a:pt x="12128" y="3586"/>
                </a:cubicBezTo>
                <a:cubicBezTo>
                  <a:pt x="12034" y="4167"/>
                  <a:pt x="11854" y="4698"/>
                  <a:pt x="11596" y="5176"/>
                </a:cubicBezTo>
                <a:cubicBezTo>
                  <a:pt x="11334" y="5636"/>
                  <a:pt x="11000" y="6034"/>
                  <a:pt x="10596" y="6367"/>
                </a:cubicBezTo>
                <a:cubicBezTo>
                  <a:pt x="10189" y="6701"/>
                  <a:pt x="9802" y="7051"/>
                  <a:pt x="9432" y="7421"/>
                </a:cubicBezTo>
                <a:cubicBezTo>
                  <a:pt x="9169" y="7700"/>
                  <a:pt x="8949" y="7954"/>
                  <a:pt x="8771" y="8183"/>
                </a:cubicBezTo>
                <a:cubicBezTo>
                  <a:pt x="8593" y="8412"/>
                  <a:pt x="8403" y="8632"/>
                  <a:pt x="8211" y="8833"/>
                </a:cubicBezTo>
                <a:cubicBezTo>
                  <a:pt x="8016" y="9036"/>
                  <a:pt x="7799" y="9222"/>
                  <a:pt x="7556" y="9400"/>
                </a:cubicBezTo>
                <a:cubicBezTo>
                  <a:pt x="7313" y="9575"/>
                  <a:pt x="7019" y="9736"/>
                  <a:pt x="6674" y="9880"/>
                </a:cubicBezTo>
                <a:lnTo>
                  <a:pt x="6646" y="9880"/>
                </a:lnTo>
                <a:lnTo>
                  <a:pt x="6646" y="18572"/>
                </a:lnTo>
                <a:cubicBezTo>
                  <a:pt x="7279" y="18572"/>
                  <a:pt x="7889" y="18649"/>
                  <a:pt x="8485" y="18795"/>
                </a:cubicBezTo>
                <a:cubicBezTo>
                  <a:pt x="9081" y="18945"/>
                  <a:pt x="9683" y="19103"/>
                  <a:pt x="10294" y="19270"/>
                </a:cubicBezTo>
                <a:cubicBezTo>
                  <a:pt x="10901" y="19439"/>
                  <a:pt x="11537" y="19592"/>
                  <a:pt x="12207" y="19741"/>
                </a:cubicBezTo>
                <a:cubicBezTo>
                  <a:pt x="12874" y="19891"/>
                  <a:pt x="13594" y="19965"/>
                  <a:pt x="14374" y="19965"/>
                </a:cubicBezTo>
                <a:cubicBezTo>
                  <a:pt x="14781" y="19965"/>
                  <a:pt x="15222" y="19939"/>
                  <a:pt x="15699" y="19885"/>
                </a:cubicBezTo>
                <a:cubicBezTo>
                  <a:pt x="16177" y="19829"/>
                  <a:pt x="16626" y="19710"/>
                  <a:pt x="17047" y="19527"/>
                </a:cubicBezTo>
                <a:cubicBezTo>
                  <a:pt x="17468" y="19343"/>
                  <a:pt x="17816" y="19086"/>
                  <a:pt x="18101" y="18762"/>
                </a:cubicBezTo>
                <a:cubicBezTo>
                  <a:pt x="18387" y="18440"/>
                  <a:pt x="18525" y="18010"/>
                  <a:pt x="18525" y="17477"/>
                </a:cubicBezTo>
                <a:cubicBezTo>
                  <a:pt x="18525" y="17386"/>
                  <a:pt x="18522" y="17304"/>
                  <a:pt x="18517" y="17225"/>
                </a:cubicBezTo>
                <a:cubicBezTo>
                  <a:pt x="18503" y="17152"/>
                  <a:pt x="18488" y="17070"/>
                  <a:pt x="18471" y="16980"/>
                </a:cubicBezTo>
                <a:cubicBezTo>
                  <a:pt x="18785" y="16836"/>
                  <a:pt x="19028" y="16596"/>
                  <a:pt x="19195" y="16262"/>
                </a:cubicBezTo>
                <a:cubicBezTo>
                  <a:pt x="19364" y="15929"/>
                  <a:pt x="19446" y="15593"/>
                  <a:pt x="19446" y="15263"/>
                </a:cubicBezTo>
                <a:cubicBezTo>
                  <a:pt x="19449" y="14912"/>
                  <a:pt x="19350" y="14605"/>
                  <a:pt x="19164" y="1434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9049" tIns="19049" rIns="19049" bIns="19049" anchor="ctr"/>
          <a:lstStyle/>
          <a:p>
            <a:pPr defTabSz="171450">
              <a:lnSpc>
                <a:spcPct val="150000"/>
              </a:lnSpc>
              <a:defRPr/>
            </a:pPr>
            <a:endParaRPr lang="es-ES" sz="900" dirty="0">
              <a:solidFill>
                <a:srgbClr val="444EF7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93" name="Rectangle 95"/>
          <p:cNvSpPr/>
          <p:nvPr/>
        </p:nvSpPr>
        <p:spPr>
          <a:xfrm>
            <a:off x="5119981" y="5851903"/>
            <a:ext cx="2631308" cy="584775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r>
              <a:rPr lang="zh-CN" altLang="en-US" sz="1250" b="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基于学生自己真实的练习数据生成四段式报告，而不是空泛的“多刷题”</a:t>
            </a:r>
            <a:endParaRPr lang="zh-CN" altLang="en-US" sz="1250" b="0" dirty="0">
              <a:solidFill>
                <a:schemeClr val="tx1">
                  <a:lumMod val="50000"/>
                  <a:lumOff val="50000"/>
                </a:schemeClr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94" name="Rectangle 95"/>
          <p:cNvSpPr/>
          <p:nvPr/>
        </p:nvSpPr>
        <p:spPr>
          <a:xfrm>
            <a:off x="8743638" y="5851903"/>
            <a:ext cx="2631308" cy="584775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r>
              <a:rPr lang="zh-CN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只把统计摘要发给用户自己配置的大模型服务商；Key 存本机浏览器，不经过我们的服务器</a:t>
            </a:r>
            <a:endParaRPr lang="zh-CN" altLang="en-US" sz="1100" b="0" dirty="0">
              <a:solidFill>
                <a:schemeClr val="tx1">
                  <a:lumMod val="50000"/>
                  <a:lumOff val="50000"/>
                </a:schemeClr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05" name="0ape 119"/>
          <p:cNvSpPr>
            <a:spLocks noChangeAspect="1"/>
          </p:cNvSpPr>
          <p:nvPr/>
        </p:nvSpPr>
        <p:spPr bwMode="auto">
          <a:xfrm>
            <a:off x="4641857" y="5682127"/>
            <a:ext cx="300189" cy="29166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28" y="11543"/>
                </a:moveTo>
                <a:cubicBezTo>
                  <a:pt x="21492" y="11930"/>
                  <a:pt x="21571" y="12337"/>
                  <a:pt x="21571" y="12758"/>
                </a:cubicBezTo>
                <a:cubicBezTo>
                  <a:pt x="21571" y="13464"/>
                  <a:pt x="21388" y="14105"/>
                  <a:pt x="21017" y="14678"/>
                </a:cubicBezTo>
                <a:cubicBezTo>
                  <a:pt x="21111" y="15215"/>
                  <a:pt x="21077" y="15745"/>
                  <a:pt x="20924" y="16285"/>
                </a:cubicBezTo>
                <a:cubicBezTo>
                  <a:pt x="20769" y="16819"/>
                  <a:pt x="20512" y="17287"/>
                  <a:pt x="20141" y="17697"/>
                </a:cubicBezTo>
                <a:cubicBezTo>
                  <a:pt x="20105" y="18451"/>
                  <a:pt x="19901" y="19081"/>
                  <a:pt x="19531" y="19580"/>
                </a:cubicBezTo>
                <a:cubicBezTo>
                  <a:pt x="19161" y="20080"/>
                  <a:pt x="18700" y="20481"/>
                  <a:pt x="18146" y="20783"/>
                </a:cubicBezTo>
                <a:cubicBezTo>
                  <a:pt x="17593" y="21088"/>
                  <a:pt x="16982" y="21297"/>
                  <a:pt x="16321" y="21419"/>
                </a:cubicBezTo>
                <a:cubicBezTo>
                  <a:pt x="15660" y="21540"/>
                  <a:pt x="15010" y="21599"/>
                  <a:pt x="14380" y="21599"/>
                </a:cubicBezTo>
                <a:cubicBezTo>
                  <a:pt x="13730" y="21599"/>
                  <a:pt x="13077" y="21554"/>
                  <a:pt x="12424" y="21461"/>
                </a:cubicBezTo>
                <a:cubicBezTo>
                  <a:pt x="11772" y="21362"/>
                  <a:pt x="11127" y="21235"/>
                  <a:pt x="10497" y="21074"/>
                </a:cubicBezTo>
                <a:cubicBezTo>
                  <a:pt x="9864" y="20894"/>
                  <a:pt x="9237" y="20702"/>
                  <a:pt x="8610" y="20493"/>
                </a:cubicBezTo>
                <a:cubicBezTo>
                  <a:pt x="7982" y="20286"/>
                  <a:pt x="7341" y="20182"/>
                  <a:pt x="6680" y="20182"/>
                </a:cubicBezTo>
                <a:lnTo>
                  <a:pt x="1607" y="20182"/>
                </a:lnTo>
                <a:cubicBezTo>
                  <a:pt x="1167" y="20182"/>
                  <a:pt x="785" y="20029"/>
                  <a:pt x="471" y="19713"/>
                </a:cubicBezTo>
                <a:cubicBezTo>
                  <a:pt x="158" y="19405"/>
                  <a:pt x="0" y="19024"/>
                  <a:pt x="0" y="18572"/>
                </a:cubicBezTo>
                <a:lnTo>
                  <a:pt x="0" y="9880"/>
                </a:lnTo>
                <a:cubicBezTo>
                  <a:pt x="0" y="9440"/>
                  <a:pt x="158" y="9064"/>
                  <a:pt x="471" y="8754"/>
                </a:cubicBezTo>
                <a:cubicBezTo>
                  <a:pt x="785" y="8440"/>
                  <a:pt x="1167" y="8285"/>
                  <a:pt x="1607" y="8285"/>
                </a:cubicBezTo>
                <a:lnTo>
                  <a:pt x="6315" y="8285"/>
                </a:lnTo>
                <a:cubicBezTo>
                  <a:pt x="6558" y="8160"/>
                  <a:pt x="6750" y="8022"/>
                  <a:pt x="6897" y="7872"/>
                </a:cubicBezTo>
                <a:cubicBezTo>
                  <a:pt x="7041" y="7723"/>
                  <a:pt x="7197" y="7548"/>
                  <a:pt x="7369" y="7342"/>
                </a:cubicBezTo>
                <a:cubicBezTo>
                  <a:pt x="7513" y="7161"/>
                  <a:pt x="7663" y="6986"/>
                  <a:pt x="7810" y="6819"/>
                </a:cubicBezTo>
                <a:cubicBezTo>
                  <a:pt x="7957" y="6653"/>
                  <a:pt x="8112" y="6483"/>
                  <a:pt x="8276" y="6311"/>
                </a:cubicBezTo>
                <a:cubicBezTo>
                  <a:pt x="8570" y="5997"/>
                  <a:pt x="8918" y="5690"/>
                  <a:pt x="9302" y="5385"/>
                </a:cubicBezTo>
                <a:cubicBezTo>
                  <a:pt x="9692" y="5085"/>
                  <a:pt x="9989" y="4749"/>
                  <a:pt x="10195" y="4379"/>
                </a:cubicBezTo>
                <a:cubicBezTo>
                  <a:pt x="10339" y="4117"/>
                  <a:pt x="10443" y="3826"/>
                  <a:pt x="10506" y="3507"/>
                </a:cubicBezTo>
                <a:cubicBezTo>
                  <a:pt x="10565" y="3188"/>
                  <a:pt x="10627" y="2866"/>
                  <a:pt x="10675" y="2538"/>
                </a:cubicBezTo>
                <a:cubicBezTo>
                  <a:pt x="10726" y="2216"/>
                  <a:pt x="10780" y="1900"/>
                  <a:pt x="10845" y="1592"/>
                </a:cubicBezTo>
                <a:cubicBezTo>
                  <a:pt x="10907" y="1287"/>
                  <a:pt x="11014" y="1016"/>
                  <a:pt x="11161" y="776"/>
                </a:cubicBezTo>
                <a:cubicBezTo>
                  <a:pt x="11311" y="536"/>
                  <a:pt x="11523" y="350"/>
                  <a:pt x="11800" y="208"/>
                </a:cubicBezTo>
                <a:cubicBezTo>
                  <a:pt x="12074" y="67"/>
                  <a:pt x="12441" y="0"/>
                  <a:pt x="12902" y="0"/>
                </a:cubicBezTo>
                <a:cubicBezTo>
                  <a:pt x="13450" y="0"/>
                  <a:pt x="13956" y="112"/>
                  <a:pt x="14411" y="344"/>
                </a:cubicBezTo>
                <a:cubicBezTo>
                  <a:pt x="14869" y="573"/>
                  <a:pt x="15250" y="881"/>
                  <a:pt x="15567" y="1270"/>
                </a:cubicBezTo>
                <a:cubicBezTo>
                  <a:pt x="15880" y="1657"/>
                  <a:pt x="16126" y="2101"/>
                  <a:pt x="16304" y="2600"/>
                </a:cubicBezTo>
                <a:cubicBezTo>
                  <a:pt x="16479" y="3103"/>
                  <a:pt x="16570" y="3609"/>
                  <a:pt x="16570" y="4123"/>
                </a:cubicBezTo>
                <a:cubicBezTo>
                  <a:pt x="16570" y="4653"/>
                  <a:pt x="16491" y="5162"/>
                  <a:pt x="16332" y="5645"/>
                </a:cubicBezTo>
                <a:cubicBezTo>
                  <a:pt x="16174" y="6125"/>
                  <a:pt x="15982" y="6610"/>
                  <a:pt x="15759" y="7096"/>
                </a:cubicBezTo>
                <a:cubicBezTo>
                  <a:pt x="16072" y="7079"/>
                  <a:pt x="16389" y="7057"/>
                  <a:pt x="16705" y="7034"/>
                </a:cubicBezTo>
                <a:cubicBezTo>
                  <a:pt x="17019" y="7011"/>
                  <a:pt x="17335" y="7000"/>
                  <a:pt x="17652" y="7000"/>
                </a:cubicBezTo>
                <a:cubicBezTo>
                  <a:pt x="18149" y="7000"/>
                  <a:pt x="18630" y="7048"/>
                  <a:pt x="19099" y="7144"/>
                </a:cubicBezTo>
                <a:cubicBezTo>
                  <a:pt x="19568" y="7237"/>
                  <a:pt x="19986" y="7395"/>
                  <a:pt x="20356" y="7616"/>
                </a:cubicBezTo>
                <a:cubicBezTo>
                  <a:pt x="20726" y="7839"/>
                  <a:pt x="21026" y="8144"/>
                  <a:pt x="21255" y="8528"/>
                </a:cubicBezTo>
                <a:cubicBezTo>
                  <a:pt x="21486" y="8918"/>
                  <a:pt x="21599" y="9409"/>
                  <a:pt x="21599" y="10002"/>
                </a:cubicBezTo>
                <a:cubicBezTo>
                  <a:pt x="21599" y="10265"/>
                  <a:pt x="21580" y="10519"/>
                  <a:pt x="21535" y="10773"/>
                </a:cubicBezTo>
                <a:cubicBezTo>
                  <a:pt x="21484" y="11030"/>
                  <a:pt x="21419" y="11284"/>
                  <a:pt x="21328" y="11543"/>
                </a:cubicBezTo>
                <a:moveTo>
                  <a:pt x="4258" y="18519"/>
                </a:moveTo>
                <a:cubicBezTo>
                  <a:pt x="4555" y="18519"/>
                  <a:pt x="4809" y="18417"/>
                  <a:pt x="5024" y="18214"/>
                </a:cubicBezTo>
                <a:cubicBezTo>
                  <a:pt x="5233" y="18013"/>
                  <a:pt x="5340" y="17759"/>
                  <a:pt x="5340" y="17454"/>
                </a:cubicBezTo>
                <a:cubicBezTo>
                  <a:pt x="5340" y="17155"/>
                  <a:pt x="5233" y="16900"/>
                  <a:pt x="5024" y="16686"/>
                </a:cubicBezTo>
                <a:cubicBezTo>
                  <a:pt x="4812" y="16477"/>
                  <a:pt x="4557" y="16372"/>
                  <a:pt x="4258" y="16372"/>
                </a:cubicBezTo>
                <a:cubicBezTo>
                  <a:pt x="3941" y="16372"/>
                  <a:pt x="3684" y="16477"/>
                  <a:pt x="3486" y="16686"/>
                </a:cubicBezTo>
                <a:cubicBezTo>
                  <a:pt x="3289" y="16900"/>
                  <a:pt x="3190" y="17155"/>
                  <a:pt x="3190" y="17454"/>
                </a:cubicBezTo>
                <a:cubicBezTo>
                  <a:pt x="3190" y="17767"/>
                  <a:pt x="3289" y="18024"/>
                  <a:pt x="3486" y="18222"/>
                </a:cubicBezTo>
                <a:cubicBezTo>
                  <a:pt x="3681" y="18420"/>
                  <a:pt x="3939" y="18519"/>
                  <a:pt x="4258" y="18519"/>
                </a:cubicBezTo>
                <a:moveTo>
                  <a:pt x="19164" y="14342"/>
                </a:moveTo>
                <a:cubicBezTo>
                  <a:pt x="19703" y="13901"/>
                  <a:pt x="19975" y="13345"/>
                  <a:pt x="19975" y="12679"/>
                </a:cubicBezTo>
                <a:cubicBezTo>
                  <a:pt x="19975" y="12473"/>
                  <a:pt x="19918" y="12281"/>
                  <a:pt x="19805" y="12097"/>
                </a:cubicBezTo>
                <a:cubicBezTo>
                  <a:pt x="19695" y="11919"/>
                  <a:pt x="19576" y="11761"/>
                  <a:pt x="19446" y="11623"/>
                </a:cubicBezTo>
                <a:cubicBezTo>
                  <a:pt x="19590" y="11363"/>
                  <a:pt x="19720" y="11106"/>
                  <a:pt x="19833" y="10849"/>
                </a:cubicBezTo>
                <a:cubicBezTo>
                  <a:pt x="19944" y="10592"/>
                  <a:pt x="20003" y="10312"/>
                  <a:pt x="20003" y="10002"/>
                </a:cubicBezTo>
                <a:cubicBezTo>
                  <a:pt x="20003" y="9688"/>
                  <a:pt x="19924" y="9440"/>
                  <a:pt x="19766" y="9251"/>
                </a:cubicBezTo>
                <a:cubicBezTo>
                  <a:pt x="19607" y="9070"/>
                  <a:pt x="19415" y="8929"/>
                  <a:pt x="19184" y="8833"/>
                </a:cubicBezTo>
                <a:cubicBezTo>
                  <a:pt x="18955" y="8739"/>
                  <a:pt x="18698" y="8683"/>
                  <a:pt x="18418" y="8663"/>
                </a:cubicBezTo>
                <a:cubicBezTo>
                  <a:pt x="18138" y="8643"/>
                  <a:pt x="17884" y="8635"/>
                  <a:pt x="17649" y="8635"/>
                </a:cubicBezTo>
                <a:cubicBezTo>
                  <a:pt x="17242" y="8635"/>
                  <a:pt x="16835" y="8649"/>
                  <a:pt x="16423" y="8677"/>
                </a:cubicBezTo>
                <a:cubicBezTo>
                  <a:pt x="16010" y="8706"/>
                  <a:pt x="15606" y="8720"/>
                  <a:pt x="15199" y="8720"/>
                </a:cubicBezTo>
                <a:cubicBezTo>
                  <a:pt x="14917" y="8720"/>
                  <a:pt x="14643" y="8706"/>
                  <a:pt x="14366" y="8677"/>
                </a:cubicBezTo>
                <a:cubicBezTo>
                  <a:pt x="14089" y="8649"/>
                  <a:pt x="13829" y="8584"/>
                  <a:pt x="13574" y="8474"/>
                </a:cubicBezTo>
                <a:cubicBezTo>
                  <a:pt x="13574" y="8104"/>
                  <a:pt x="13645" y="7754"/>
                  <a:pt x="13792" y="7421"/>
                </a:cubicBezTo>
                <a:cubicBezTo>
                  <a:pt x="13936" y="7087"/>
                  <a:pt x="14094" y="6751"/>
                  <a:pt x="14275" y="6413"/>
                </a:cubicBezTo>
                <a:cubicBezTo>
                  <a:pt x="14448" y="6074"/>
                  <a:pt x="14606" y="5721"/>
                  <a:pt x="14747" y="5351"/>
                </a:cubicBezTo>
                <a:cubicBezTo>
                  <a:pt x="14886" y="4984"/>
                  <a:pt x="14953" y="4574"/>
                  <a:pt x="14953" y="4122"/>
                </a:cubicBezTo>
                <a:cubicBezTo>
                  <a:pt x="14953" y="3823"/>
                  <a:pt x="14905" y="3529"/>
                  <a:pt x="14812" y="3236"/>
                </a:cubicBezTo>
                <a:cubicBezTo>
                  <a:pt x="14716" y="2945"/>
                  <a:pt x="14583" y="2677"/>
                  <a:pt x="14411" y="2439"/>
                </a:cubicBezTo>
                <a:cubicBezTo>
                  <a:pt x="14238" y="2199"/>
                  <a:pt x="14027" y="2002"/>
                  <a:pt x="13775" y="1843"/>
                </a:cubicBezTo>
                <a:cubicBezTo>
                  <a:pt x="13521" y="1688"/>
                  <a:pt x="13230" y="1606"/>
                  <a:pt x="12893" y="1606"/>
                </a:cubicBezTo>
                <a:lnTo>
                  <a:pt x="12744" y="1606"/>
                </a:lnTo>
                <a:cubicBezTo>
                  <a:pt x="12681" y="1606"/>
                  <a:pt x="12631" y="1617"/>
                  <a:pt x="12594" y="1634"/>
                </a:cubicBezTo>
                <a:cubicBezTo>
                  <a:pt x="12523" y="1671"/>
                  <a:pt x="12481" y="1705"/>
                  <a:pt x="12472" y="1742"/>
                </a:cubicBezTo>
                <a:cubicBezTo>
                  <a:pt x="12464" y="1778"/>
                  <a:pt x="12450" y="1838"/>
                  <a:pt x="12430" y="1920"/>
                </a:cubicBezTo>
                <a:cubicBezTo>
                  <a:pt x="12323" y="2450"/>
                  <a:pt x="12221" y="3007"/>
                  <a:pt x="12128" y="3586"/>
                </a:cubicBezTo>
                <a:cubicBezTo>
                  <a:pt x="12034" y="4167"/>
                  <a:pt x="11854" y="4698"/>
                  <a:pt x="11596" y="5176"/>
                </a:cubicBezTo>
                <a:cubicBezTo>
                  <a:pt x="11334" y="5636"/>
                  <a:pt x="11000" y="6034"/>
                  <a:pt x="10596" y="6367"/>
                </a:cubicBezTo>
                <a:cubicBezTo>
                  <a:pt x="10189" y="6701"/>
                  <a:pt x="9802" y="7051"/>
                  <a:pt x="9432" y="7421"/>
                </a:cubicBezTo>
                <a:cubicBezTo>
                  <a:pt x="9169" y="7700"/>
                  <a:pt x="8949" y="7954"/>
                  <a:pt x="8771" y="8183"/>
                </a:cubicBezTo>
                <a:cubicBezTo>
                  <a:pt x="8593" y="8412"/>
                  <a:pt x="8403" y="8632"/>
                  <a:pt x="8211" y="8833"/>
                </a:cubicBezTo>
                <a:cubicBezTo>
                  <a:pt x="8016" y="9036"/>
                  <a:pt x="7799" y="9222"/>
                  <a:pt x="7556" y="9400"/>
                </a:cubicBezTo>
                <a:cubicBezTo>
                  <a:pt x="7313" y="9575"/>
                  <a:pt x="7019" y="9736"/>
                  <a:pt x="6674" y="9880"/>
                </a:cubicBezTo>
                <a:lnTo>
                  <a:pt x="6646" y="9880"/>
                </a:lnTo>
                <a:lnTo>
                  <a:pt x="6646" y="18572"/>
                </a:lnTo>
                <a:cubicBezTo>
                  <a:pt x="7279" y="18572"/>
                  <a:pt x="7889" y="18649"/>
                  <a:pt x="8485" y="18795"/>
                </a:cubicBezTo>
                <a:cubicBezTo>
                  <a:pt x="9081" y="18945"/>
                  <a:pt x="9683" y="19103"/>
                  <a:pt x="10294" y="19270"/>
                </a:cubicBezTo>
                <a:cubicBezTo>
                  <a:pt x="10901" y="19439"/>
                  <a:pt x="11537" y="19592"/>
                  <a:pt x="12207" y="19741"/>
                </a:cubicBezTo>
                <a:cubicBezTo>
                  <a:pt x="12874" y="19891"/>
                  <a:pt x="13594" y="19965"/>
                  <a:pt x="14374" y="19965"/>
                </a:cubicBezTo>
                <a:cubicBezTo>
                  <a:pt x="14781" y="19965"/>
                  <a:pt x="15222" y="19939"/>
                  <a:pt x="15699" y="19885"/>
                </a:cubicBezTo>
                <a:cubicBezTo>
                  <a:pt x="16177" y="19829"/>
                  <a:pt x="16626" y="19710"/>
                  <a:pt x="17047" y="19527"/>
                </a:cubicBezTo>
                <a:cubicBezTo>
                  <a:pt x="17468" y="19343"/>
                  <a:pt x="17816" y="19086"/>
                  <a:pt x="18101" y="18762"/>
                </a:cubicBezTo>
                <a:cubicBezTo>
                  <a:pt x="18387" y="18440"/>
                  <a:pt x="18525" y="18010"/>
                  <a:pt x="18525" y="17477"/>
                </a:cubicBezTo>
                <a:cubicBezTo>
                  <a:pt x="18525" y="17386"/>
                  <a:pt x="18522" y="17304"/>
                  <a:pt x="18517" y="17225"/>
                </a:cubicBezTo>
                <a:cubicBezTo>
                  <a:pt x="18503" y="17152"/>
                  <a:pt x="18488" y="17070"/>
                  <a:pt x="18471" y="16980"/>
                </a:cubicBezTo>
                <a:cubicBezTo>
                  <a:pt x="18785" y="16836"/>
                  <a:pt x="19028" y="16596"/>
                  <a:pt x="19195" y="16262"/>
                </a:cubicBezTo>
                <a:cubicBezTo>
                  <a:pt x="19364" y="15929"/>
                  <a:pt x="19446" y="15593"/>
                  <a:pt x="19446" y="15263"/>
                </a:cubicBezTo>
                <a:cubicBezTo>
                  <a:pt x="19449" y="14912"/>
                  <a:pt x="19350" y="14605"/>
                  <a:pt x="19164" y="1434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9049" tIns="19049" rIns="19049" bIns="19049" anchor="ctr"/>
          <a:lstStyle/>
          <a:p>
            <a:pPr defTabSz="171450">
              <a:lnSpc>
                <a:spcPct val="150000"/>
              </a:lnSpc>
              <a:defRPr/>
            </a:pPr>
            <a:endParaRPr lang="es-ES" sz="900" dirty="0">
              <a:solidFill>
                <a:srgbClr val="444EF7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06" name="1 119"/>
          <p:cNvSpPr>
            <a:spLocks noChangeAspect="1"/>
          </p:cNvSpPr>
          <p:nvPr/>
        </p:nvSpPr>
        <p:spPr bwMode="auto">
          <a:xfrm>
            <a:off x="1055636" y="5682127"/>
            <a:ext cx="300189" cy="29166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28" y="11543"/>
                </a:moveTo>
                <a:cubicBezTo>
                  <a:pt x="21492" y="11930"/>
                  <a:pt x="21571" y="12337"/>
                  <a:pt x="21571" y="12758"/>
                </a:cubicBezTo>
                <a:cubicBezTo>
                  <a:pt x="21571" y="13464"/>
                  <a:pt x="21388" y="14105"/>
                  <a:pt x="21017" y="14678"/>
                </a:cubicBezTo>
                <a:cubicBezTo>
                  <a:pt x="21111" y="15215"/>
                  <a:pt x="21077" y="15745"/>
                  <a:pt x="20924" y="16285"/>
                </a:cubicBezTo>
                <a:cubicBezTo>
                  <a:pt x="20769" y="16819"/>
                  <a:pt x="20512" y="17287"/>
                  <a:pt x="20141" y="17697"/>
                </a:cubicBezTo>
                <a:cubicBezTo>
                  <a:pt x="20105" y="18451"/>
                  <a:pt x="19901" y="19081"/>
                  <a:pt x="19531" y="19580"/>
                </a:cubicBezTo>
                <a:cubicBezTo>
                  <a:pt x="19161" y="20080"/>
                  <a:pt x="18700" y="20481"/>
                  <a:pt x="18146" y="20783"/>
                </a:cubicBezTo>
                <a:cubicBezTo>
                  <a:pt x="17593" y="21088"/>
                  <a:pt x="16982" y="21297"/>
                  <a:pt x="16321" y="21419"/>
                </a:cubicBezTo>
                <a:cubicBezTo>
                  <a:pt x="15660" y="21540"/>
                  <a:pt x="15010" y="21599"/>
                  <a:pt x="14380" y="21599"/>
                </a:cubicBezTo>
                <a:cubicBezTo>
                  <a:pt x="13730" y="21599"/>
                  <a:pt x="13077" y="21554"/>
                  <a:pt x="12424" y="21461"/>
                </a:cubicBezTo>
                <a:cubicBezTo>
                  <a:pt x="11772" y="21362"/>
                  <a:pt x="11127" y="21235"/>
                  <a:pt x="10497" y="21074"/>
                </a:cubicBezTo>
                <a:cubicBezTo>
                  <a:pt x="9864" y="20894"/>
                  <a:pt x="9237" y="20702"/>
                  <a:pt x="8610" y="20493"/>
                </a:cubicBezTo>
                <a:cubicBezTo>
                  <a:pt x="7982" y="20286"/>
                  <a:pt x="7341" y="20182"/>
                  <a:pt x="6680" y="20182"/>
                </a:cubicBezTo>
                <a:lnTo>
                  <a:pt x="1607" y="20182"/>
                </a:lnTo>
                <a:cubicBezTo>
                  <a:pt x="1167" y="20182"/>
                  <a:pt x="785" y="20029"/>
                  <a:pt x="471" y="19713"/>
                </a:cubicBezTo>
                <a:cubicBezTo>
                  <a:pt x="158" y="19405"/>
                  <a:pt x="0" y="19024"/>
                  <a:pt x="0" y="18572"/>
                </a:cubicBezTo>
                <a:lnTo>
                  <a:pt x="0" y="9880"/>
                </a:lnTo>
                <a:cubicBezTo>
                  <a:pt x="0" y="9440"/>
                  <a:pt x="158" y="9064"/>
                  <a:pt x="471" y="8754"/>
                </a:cubicBezTo>
                <a:cubicBezTo>
                  <a:pt x="785" y="8440"/>
                  <a:pt x="1167" y="8285"/>
                  <a:pt x="1607" y="8285"/>
                </a:cubicBezTo>
                <a:lnTo>
                  <a:pt x="6315" y="8285"/>
                </a:lnTo>
                <a:cubicBezTo>
                  <a:pt x="6558" y="8160"/>
                  <a:pt x="6750" y="8022"/>
                  <a:pt x="6897" y="7872"/>
                </a:cubicBezTo>
                <a:cubicBezTo>
                  <a:pt x="7041" y="7723"/>
                  <a:pt x="7197" y="7548"/>
                  <a:pt x="7369" y="7342"/>
                </a:cubicBezTo>
                <a:cubicBezTo>
                  <a:pt x="7513" y="7161"/>
                  <a:pt x="7663" y="6986"/>
                  <a:pt x="7810" y="6819"/>
                </a:cubicBezTo>
                <a:cubicBezTo>
                  <a:pt x="7957" y="6653"/>
                  <a:pt x="8112" y="6483"/>
                  <a:pt x="8276" y="6311"/>
                </a:cubicBezTo>
                <a:cubicBezTo>
                  <a:pt x="8570" y="5997"/>
                  <a:pt x="8918" y="5690"/>
                  <a:pt x="9302" y="5385"/>
                </a:cubicBezTo>
                <a:cubicBezTo>
                  <a:pt x="9692" y="5085"/>
                  <a:pt x="9989" y="4749"/>
                  <a:pt x="10195" y="4379"/>
                </a:cubicBezTo>
                <a:cubicBezTo>
                  <a:pt x="10339" y="4117"/>
                  <a:pt x="10443" y="3826"/>
                  <a:pt x="10506" y="3507"/>
                </a:cubicBezTo>
                <a:cubicBezTo>
                  <a:pt x="10565" y="3188"/>
                  <a:pt x="10627" y="2866"/>
                  <a:pt x="10675" y="2538"/>
                </a:cubicBezTo>
                <a:cubicBezTo>
                  <a:pt x="10726" y="2216"/>
                  <a:pt x="10780" y="1900"/>
                  <a:pt x="10845" y="1592"/>
                </a:cubicBezTo>
                <a:cubicBezTo>
                  <a:pt x="10907" y="1287"/>
                  <a:pt x="11014" y="1016"/>
                  <a:pt x="11161" y="776"/>
                </a:cubicBezTo>
                <a:cubicBezTo>
                  <a:pt x="11311" y="536"/>
                  <a:pt x="11523" y="350"/>
                  <a:pt x="11800" y="208"/>
                </a:cubicBezTo>
                <a:cubicBezTo>
                  <a:pt x="12074" y="67"/>
                  <a:pt x="12441" y="0"/>
                  <a:pt x="12902" y="0"/>
                </a:cubicBezTo>
                <a:cubicBezTo>
                  <a:pt x="13450" y="0"/>
                  <a:pt x="13956" y="112"/>
                  <a:pt x="14411" y="344"/>
                </a:cubicBezTo>
                <a:cubicBezTo>
                  <a:pt x="14869" y="573"/>
                  <a:pt x="15250" y="881"/>
                  <a:pt x="15567" y="1270"/>
                </a:cubicBezTo>
                <a:cubicBezTo>
                  <a:pt x="15880" y="1657"/>
                  <a:pt x="16126" y="2101"/>
                  <a:pt x="16304" y="2600"/>
                </a:cubicBezTo>
                <a:cubicBezTo>
                  <a:pt x="16479" y="3103"/>
                  <a:pt x="16570" y="3609"/>
                  <a:pt x="16570" y="4123"/>
                </a:cubicBezTo>
                <a:cubicBezTo>
                  <a:pt x="16570" y="4653"/>
                  <a:pt x="16491" y="5162"/>
                  <a:pt x="16332" y="5645"/>
                </a:cubicBezTo>
                <a:cubicBezTo>
                  <a:pt x="16174" y="6125"/>
                  <a:pt x="15982" y="6610"/>
                  <a:pt x="15759" y="7096"/>
                </a:cubicBezTo>
                <a:cubicBezTo>
                  <a:pt x="16072" y="7079"/>
                  <a:pt x="16389" y="7057"/>
                  <a:pt x="16705" y="7034"/>
                </a:cubicBezTo>
                <a:cubicBezTo>
                  <a:pt x="17019" y="7011"/>
                  <a:pt x="17335" y="7000"/>
                  <a:pt x="17652" y="7000"/>
                </a:cubicBezTo>
                <a:cubicBezTo>
                  <a:pt x="18149" y="7000"/>
                  <a:pt x="18630" y="7048"/>
                  <a:pt x="19099" y="7144"/>
                </a:cubicBezTo>
                <a:cubicBezTo>
                  <a:pt x="19568" y="7237"/>
                  <a:pt x="19986" y="7395"/>
                  <a:pt x="20356" y="7616"/>
                </a:cubicBezTo>
                <a:cubicBezTo>
                  <a:pt x="20726" y="7839"/>
                  <a:pt x="21026" y="8144"/>
                  <a:pt x="21255" y="8528"/>
                </a:cubicBezTo>
                <a:cubicBezTo>
                  <a:pt x="21486" y="8918"/>
                  <a:pt x="21599" y="9409"/>
                  <a:pt x="21599" y="10002"/>
                </a:cubicBezTo>
                <a:cubicBezTo>
                  <a:pt x="21599" y="10265"/>
                  <a:pt x="21580" y="10519"/>
                  <a:pt x="21535" y="10773"/>
                </a:cubicBezTo>
                <a:cubicBezTo>
                  <a:pt x="21484" y="11030"/>
                  <a:pt x="21419" y="11284"/>
                  <a:pt x="21328" y="11543"/>
                </a:cubicBezTo>
                <a:moveTo>
                  <a:pt x="4258" y="18519"/>
                </a:moveTo>
                <a:cubicBezTo>
                  <a:pt x="4555" y="18519"/>
                  <a:pt x="4809" y="18417"/>
                  <a:pt x="5024" y="18214"/>
                </a:cubicBezTo>
                <a:cubicBezTo>
                  <a:pt x="5233" y="18013"/>
                  <a:pt x="5340" y="17759"/>
                  <a:pt x="5340" y="17454"/>
                </a:cubicBezTo>
                <a:cubicBezTo>
                  <a:pt x="5340" y="17155"/>
                  <a:pt x="5233" y="16900"/>
                  <a:pt x="5024" y="16686"/>
                </a:cubicBezTo>
                <a:cubicBezTo>
                  <a:pt x="4812" y="16477"/>
                  <a:pt x="4557" y="16372"/>
                  <a:pt x="4258" y="16372"/>
                </a:cubicBezTo>
                <a:cubicBezTo>
                  <a:pt x="3941" y="16372"/>
                  <a:pt x="3684" y="16477"/>
                  <a:pt x="3486" y="16686"/>
                </a:cubicBezTo>
                <a:cubicBezTo>
                  <a:pt x="3289" y="16900"/>
                  <a:pt x="3190" y="17155"/>
                  <a:pt x="3190" y="17454"/>
                </a:cubicBezTo>
                <a:cubicBezTo>
                  <a:pt x="3190" y="17767"/>
                  <a:pt x="3289" y="18024"/>
                  <a:pt x="3486" y="18222"/>
                </a:cubicBezTo>
                <a:cubicBezTo>
                  <a:pt x="3681" y="18420"/>
                  <a:pt x="3939" y="18519"/>
                  <a:pt x="4258" y="18519"/>
                </a:cubicBezTo>
                <a:moveTo>
                  <a:pt x="19164" y="14342"/>
                </a:moveTo>
                <a:cubicBezTo>
                  <a:pt x="19703" y="13901"/>
                  <a:pt x="19975" y="13345"/>
                  <a:pt x="19975" y="12679"/>
                </a:cubicBezTo>
                <a:cubicBezTo>
                  <a:pt x="19975" y="12473"/>
                  <a:pt x="19918" y="12281"/>
                  <a:pt x="19805" y="12097"/>
                </a:cubicBezTo>
                <a:cubicBezTo>
                  <a:pt x="19695" y="11919"/>
                  <a:pt x="19576" y="11761"/>
                  <a:pt x="19446" y="11623"/>
                </a:cubicBezTo>
                <a:cubicBezTo>
                  <a:pt x="19590" y="11363"/>
                  <a:pt x="19720" y="11106"/>
                  <a:pt x="19833" y="10849"/>
                </a:cubicBezTo>
                <a:cubicBezTo>
                  <a:pt x="19944" y="10592"/>
                  <a:pt x="20003" y="10312"/>
                  <a:pt x="20003" y="10002"/>
                </a:cubicBezTo>
                <a:cubicBezTo>
                  <a:pt x="20003" y="9688"/>
                  <a:pt x="19924" y="9440"/>
                  <a:pt x="19766" y="9251"/>
                </a:cubicBezTo>
                <a:cubicBezTo>
                  <a:pt x="19607" y="9070"/>
                  <a:pt x="19415" y="8929"/>
                  <a:pt x="19184" y="8833"/>
                </a:cubicBezTo>
                <a:cubicBezTo>
                  <a:pt x="18955" y="8739"/>
                  <a:pt x="18698" y="8683"/>
                  <a:pt x="18418" y="8663"/>
                </a:cubicBezTo>
                <a:cubicBezTo>
                  <a:pt x="18138" y="8643"/>
                  <a:pt x="17884" y="8635"/>
                  <a:pt x="17649" y="8635"/>
                </a:cubicBezTo>
                <a:cubicBezTo>
                  <a:pt x="17242" y="8635"/>
                  <a:pt x="16835" y="8649"/>
                  <a:pt x="16423" y="8677"/>
                </a:cubicBezTo>
                <a:cubicBezTo>
                  <a:pt x="16010" y="8706"/>
                  <a:pt x="15606" y="8720"/>
                  <a:pt x="15199" y="8720"/>
                </a:cubicBezTo>
                <a:cubicBezTo>
                  <a:pt x="14917" y="8720"/>
                  <a:pt x="14643" y="8706"/>
                  <a:pt x="14366" y="8677"/>
                </a:cubicBezTo>
                <a:cubicBezTo>
                  <a:pt x="14089" y="8649"/>
                  <a:pt x="13829" y="8584"/>
                  <a:pt x="13574" y="8474"/>
                </a:cubicBezTo>
                <a:cubicBezTo>
                  <a:pt x="13574" y="8104"/>
                  <a:pt x="13645" y="7754"/>
                  <a:pt x="13792" y="7421"/>
                </a:cubicBezTo>
                <a:cubicBezTo>
                  <a:pt x="13936" y="7087"/>
                  <a:pt x="14094" y="6751"/>
                  <a:pt x="14275" y="6413"/>
                </a:cubicBezTo>
                <a:cubicBezTo>
                  <a:pt x="14448" y="6074"/>
                  <a:pt x="14606" y="5721"/>
                  <a:pt x="14747" y="5351"/>
                </a:cubicBezTo>
                <a:cubicBezTo>
                  <a:pt x="14886" y="4984"/>
                  <a:pt x="14953" y="4574"/>
                  <a:pt x="14953" y="4122"/>
                </a:cubicBezTo>
                <a:cubicBezTo>
                  <a:pt x="14953" y="3823"/>
                  <a:pt x="14905" y="3529"/>
                  <a:pt x="14812" y="3236"/>
                </a:cubicBezTo>
                <a:cubicBezTo>
                  <a:pt x="14716" y="2945"/>
                  <a:pt x="14583" y="2677"/>
                  <a:pt x="14411" y="2439"/>
                </a:cubicBezTo>
                <a:cubicBezTo>
                  <a:pt x="14238" y="2199"/>
                  <a:pt x="14027" y="2002"/>
                  <a:pt x="13775" y="1843"/>
                </a:cubicBezTo>
                <a:cubicBezTo>
                  <a:pt x="13521" y="1688"/>
                  <a:pt x="13230" y="1606"/>
                  <a:pt x="12893" y="1606"/>
                </a:cubicBezTo>
                <a:lnTo>
                  <a:pt x="12744" y="1606"/>
                </a:lnTo>
                <a:cubicBezTo>
                  <a:pt x="12681" y="1606"/>
                  <a:pt x="12631" y="1617"/>
                  <a:pt x="12594" y="1634"/>
                </a:cubicBezTo>
                <a:cubicBezTo>
                  <a:pt x="12523" y="1671"/>
                  <a:pt x="12481" y="1705"/>
                  <a:pt x="12472" y="1742"/>
                </a:cubicBezTo>
                <a:cubicBezTo>
                  <a:pt x="12464" y="1778"/>
                  <a:pt x="12450" y="1838"/>
                  <a:pt x="12430" y="1920"/>
                </a:cubicBezTo>
                <a:cubicBezTo>
                  <a:pt x="12323" y="2450"/>
                  <a:pt x="12221" y="3007"/>
                  <a:pt x="12128" y="3586"/>
                </a:cubicBezTo>
                <a:cubicBezTo>
                  <a:pt x="12034" y="4167"/>
                  <a:pt x="11854" y="4698"/>
                  <a:pt x="11596" y="5176"/>
                </a:cubicBezTo>
                <a:cubicBezTo>
                  <a:pt x="11334" y="5636"/>
                  <a:pt x="11000" y="6034"/>
                  <a:pt x="10596" y="6367"/>
                </a:cubicBezTo>
                <a:cubicBezTo>
                  <a:pt x="10189" y="6701"/>
                  <a:pt x="9802" y="7051"/>
                  <a:pt x="9432" y="7421"/>
                </a:cubicBezTo>
                <a:cubicBezTo>
                  <a:pt x="9169" y="7700"/>
                  <a:pt x="8949" y="7954"/>
                  <a:pt x="8771" y="8183"/>
                </a:cubicBezTo>
                <a:cubicBezTo>
                  <a:pt x="8593" y="8412"/>
                  <a:pt x="8403" y="8632"/>
                  <a:pt x="8211" y="8833"/>
                </a:cubicBezTo>
                <a:cubicBezTo>
                  <a:pt x="8016" y="9036"/>
                  <a:pt x="7799" y="9222"/>
                  <a:pt x="7556" y="9400"/>
                </a:cubicBezTo>
                <a:cubicBezTo>
                  <a:pt x="7313" y="9575"/>
                  <a:pt x="7019" y="9736"/>
                  <a:pt x="6674" y="9880"/>
                </a:cubicBezTo>
                <a:lnTo>
                  <a:pt x="6646" y="9880"/>
                </a:lnTo>
                <a:lnTo>
                  <a:pt x="6646" y="18572"/>
                </a:lnTo>
                <a:cubicBezTo>
                  <a:pt x="7279" y="18572"/>
                  <a:pt x="7889" y="18649"/>
                  <a:pt x="8485" y="18795"/>
                </a:cubicBezTo>
                <a:cubicBezTo>
                  <a:pt x="9081" y="18945"/>
                  <a:pt x="9683" y="19103"/>
                  <a:pt x="10294" y="19270"/>
                </a:cubicBezTo>
                <a:cubicBezTo>
                  <a:pt x="10901" y="19439"/>
                  <a:pt x="11537" y="19592"/>
                  <a:pt x="12207" y="19741"/>
                </a:cubicBezTo>
                <a:cubicBezTo>
                  <a:pt x="12874" y="19891"/>
                  <a:pt x="13594" y="19965"/>
                  <a:pt x="14374" y="19965"/>
                </a:cubicBezTo>
                <a:cubicBezTo>
                  <a:pt x="14781" y="19965"/>
                  <a:pt x="15222" y="19939"/>
                  <a:pt x="15699" y="19885"/>
                </a:cubicBezTo>
                <a:cubicBezTo>
                  <a:pt x="16177" y="19829"/>
                  <a:pt x="16626" y="19710"/>
                  <a:pt x="17047" y="19527"/>
                </a:cubicBezTo>
                <a:cubicBezTo>
                  <a:pt x="17468" y="19343"/>
                  <a:pt x="17816" y="19086"/>
                  <a:pt x="18101" y="18762"/>
                </a:cubicBezTo>
                <a:cubicBezTo>
                  <a:pt x="18387" y="18440"/>
                  <a:pt x="18525" y="18010"/>
                  <a:pt x="18525" y="17477"/>
                </a:cubicBezTo>
                <a:cubicBezTo>
                  <a:pt x="18525" y="17386"/>
                  <a:pt x="18522" y="17304"/>
                  <a:pt x="18517" y="17225"/>
                </a:cubicBezTo>
                <a:cubicBezTo>
                  <a:pt x="18503" y="17152"/>
                  <a:pt x="18488" y="17070"/>
                  <a:pt x="18471" y="16980"/>
                </a:cubicBezTo>
                <a:cubicBezTo>
                  <a:pt x="18785" y="16836"/>
                  <a:pt x="19028" y="16596"/>
                  <a:pt x="19195" y="16262"/>
                </a:cubicBezTo>
                <a:cubicBezTo>
                  <a:pt x="19364" y="15929"/>
                  <a:pt x="19446" y="15593"/>
                  <a:pt x="19446" y="15263"/>
                </a:cubicBezTo>
                <a:cubicBezTo>
                  <a:pt x="19449" y="14912"/>
                  <a:pt x="19350" y="14605"/>
                  <a:pt x="19164" y="1434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9049" tIns="19049" rIns="19049" bIns="19049" anchor="ctr"/>
          <a:lstStyle/>
          <a:p>
            <a:pPr defTabSz="171450">
              <a:lnSpc>
                <a:spcPct val="150000"/>
              </a:lnSpc>
              <a:defRPr/>
            </a:pPr>
            <a:endParaRPr lang="es-ES" sz="900" dirty="0">
              <a:solidFill>
                <a:srgbClr val="444EF7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1" name="文本框 13"/>
          <p:cNvSpPr txBox="1">
            <a:spLocks noChangeArrowheads="1"/>
          </p:cNvSpPr>
          <p:nvPr/>
        </p:nvSpPr>
        <p:spPr bwMode="auto">
          <a:xfrm>
            <a:off x="3931920" y="381126"/>
            <a:ext cx="429768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27432" rIns="45720" bIns="27432"/>
          <a:lstStyle>
            <a:defPPr>
              <a:defRPr lang="zh-CN"/>
            </a:defPPr>
            <a:lvl1pPr eaLnBrk="1" hangingPunct="1">
              <a:defRPr sz="9600">
                <a:solidFill>
                  <a:schemeClr val="bg1"/>
                </a:solidFill>
                <a:latin typeface="Helvetica-Roman-SemiB" pitchFamily="2" charset="0"/>
                <a:ea typeface="SimSun-ExtB" panose="02010609060101010101" pitchFamily="49" charset="-122"/>
                <a:cs typeface="Arial" panose="020B0604020202020204" pitchFamily="34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685800" fontAlgn="base">
              <a:spcBef>
                <a:spcPct val="0"/>
              </a:spcBef>
              <a:spcAft>
                <a:spcPct val="0"/>
              </a:spcAft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ctr" defTabSz="914400">
              <a:defRPr/>
            </a:pPr>
            <a:r>
              <a:rPr lang="zh-CN" altLang="zh-CN" sz="3200" b="1" u="sng" dirty="0" smtClean="0"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Demo ③ 数据洞察</a:t>
            </a:r>
            <a:endParaRPr lang="zh-CN" altLang="zh-CN" sz="3200" b="1" u="sng" dirty="0" smtClean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73" name="TextBox 272"/>
          <p:cNvSpPr txBox="1"/>
          <p:nvPr/>
        </p:nvSpPr>
        <p:spPr>
          <a:xfrm>
            <a:off x="3675887" y="1673352"/>
            <a:ext cx="4453128" cy="253288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从“感觉学得怎么样”到“数据告诉你差在哪”</a:t>
            </a:r>
            <a:endParaRPr lang="zh-CN" altLang="en-US" sz="1400" b="1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  <a:p>
            <a:pPr algn="l"/>
            <a:r>
              <a:rPr lang="zh-CN" altLang="en-US" sz="125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统计看板：总览卡（题目 / 练习 / 错题 / 正确率）</a:t>
            </a:r>
            <a:endParaRPr lang="zh-CN" altLang="en-US" sz="125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  <a:p>
            <a:pPr algn="l"/>
            <a:r>
              <a:rPr lang="zh-CN" altLang="en-US" sz="125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图形化：题型与难度分布 · 近两周正确率趋势 · 易错分类 Top5</a:t>
            </a:r>
            <a:endParaRPr lang="zh-CN" altLang="en-US" sz="125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  <a:p>
            <a:pPr algn="l"/>
            <a:r>
              <a:rPr lang="zh-CN" altLang="en-US" sz="125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AI 学情报告：四段式 —— 总体评价 / 薄弱知识点 / 学习建议 / 后续练习计划</a:t>
            </a:r>
            <a:endParaRPr lang="zh-CN" altLang="en-US" sz="125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  <p:transition spd="slow" advClick="0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0"/>
            <a:ext cx="12192000" cy="3250509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7491158" y="3870067"/>
            <a:ext cx="616606" cy="616606"/>
          </a:xfrm>
          <a:prstGeom prst="ellipse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b="1" u="sng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A</a:t>
            </a:r>
            <a:endParaRPr lang="en-US" sz="2400" b="1" u="sng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491158" y="4903031"/>
            <a:ext cx="616606" cy="616606"/>
          </a:xfrm>
          <a:prstGeom prst="ellipse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b="1" u="sng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B</a:t>
            </a:r>
            <a:endParaRPr lang="en-US" sz="2400" b="1" u="sng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7" name="Text Placeholder 33"/>
          <p:cNvSpPr txBox="1"/>
          <p:nvPr/>
        </p:nvSpPr>
        <p:spPr>
          <a:xfrm>
            <a:off x="7484634" y="980608"/>
            <a:ext cx="3504118" cy="58477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3200" b="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共享协作与主题</a:t>
            </a:r>
            <a:endParaRPr lang="zh-CN" altLang="en-US" sz="3200" b="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18" name="TextBox 20"/>
          <p:cNvSpPr txBox="1"/>
          <p:nvPr/>
        </p:nvSpPr>
        <p:spPr>
          <a:xfrm>
            <a:off x="7484634" y="1922726"/>
            <a:ext cx="3865377" cy="830997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3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老师之间的“共享协作”，学生自己的“个性化界面”</a:t>
            </a:r>
            <a:endParaRPr lang="zh-CN" altLang="en-US" sz="13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548591" y="1722356"/>
            <a:ext cx="615522" cy="30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2" name="Text Placeholder 33"/>
          <p:cNvSpPr txBox="1"/>
          <p:nvPr/>
        </p:nvSpPr>
        <p:spPr>
          <a:xfrm>
            <a:off x="8218346" y="3776316"/>
            <a:ext cx="2960689" cy="369332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800" b="0" dirty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只读权限</a:t>
            </a:r>
            <a:endParaRPr lang="zh-CN" altLang="en-US" sz="1800" b="0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23" name="TextBox 20"/>
          <p:cNvSpPr txBox="1"/>
          <p:nvPr/>
        </p:nvSpPr>
        <p:spPr>
          <a:xfrm>
            <a:off x="8218347" y="4141422"/>
            <a:ext cx="3160853" cy="584775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10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只读浏览，不能修改；越权编辑会被系统拒绝</a:t>
            </a:r>
            <a:endParaRPr lang="zh-CN" altLang="en-US" sz="110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26" name="Text Placeholder 33"/>
          <p:cNvSpPr txBox="1"/>
          <p:nvPr/>
        </p:nvSpPr>
        <p:spPr>
          <a:xfrm>
            <a:off x="8218346" y="5020511"/>
            <a:ext cx="2960689" cy="369332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800" b="0" dirty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可编辑权限</a:t>
            </a:r>
            <a:endParaRPr lang="zh-CN" altLang="en-US" sz="1800" b="0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27" name="TextBox 20"/>
          <p:cNvSpPr txBox="1"/>
          <p:nvPr/>
        </p:nvSpPr>
        <p:spPr>
          <a:xfrm>
            <a:off x="8218347" y="5385618"/>
            <a:ext cx="3160853" cy="584775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10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允许对方直接修订，写回原记录，共同维护一套题</a:t>
            </a:r>
            <a:endParaRPr lang="zh-CN" altLang="en-US" sz="110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grpSp>
        <p:nvGrpSpPr>
          <p:cNvPr id="12" name="Group 226"/>
          <p:cNvGrpSpPr>
            <a:grpSpLocks noChangeAspect="1"/>
          </p:cNvGrpSpPr>
          <p:nvPr/>
        </p:nvGrpSpPr>
        <p:grpSpPr>
          <a:xfrm>
            <a:off x="974886" y="686803"/>
            <a:ext cx="2682713" cy="5569205"/>
            <a:chOff x="7242184" y="2673668"/>
            <a:chExt cx="652463" cy="1354138"/>
          </a:xfrm>
        </p:grpSpPr>
        <p:sp>
          <p:nvSpPr>
            <p:cNvPr id="14" name="矩形 59"/>
            <p:cNvSpPr/>
            <p:nvPr/>
          </p:nvSpPr>
          <p:spPr bwMode="auto">
            <a:xfrm>
              <a:off x="7242184" y="2673668"/>
              <a:ext cx="652463" cy="1354138"/>
            </a:xfrm>
            <a:custGeom>
              <a:avLst/>
              <a:gdLst>
                <a:gd name="T0" fmla="*/ 411 w 411"/>
                <a:gd name="T1" fmla="*/ 811 h 853"/>
                <a:gd name="T2" fmla="*/ 370 w 411"/>
                <a:gd name="T3" fmla="*/ 853 h 853"/>
                <a:gd name="T4" fmla="*/ 42 w 411"/>
                <a:gd name="T5" fmla="*/ 853 h 853"/>
                <a:gd name="T6" fmla="*/ 0 w 411"/>
                <a:gd name="T7" fmla="*/ 811 h 853"/>
                <a:gd name="T8" fmla="*/ 0 w 411"/>
                <a:gd name="T9" fmla="*/ 42 h 853"/>
                <a:gd name="T10" fmla="*/ 42 w 411"/>
                <a:gd name="T11" fmla="*/ 0 h 853"/>
                <a:gd name="T12" fmla="*/ 370 w 411"/>
                <a:gd name="T13" fmla="*/ 0 h 853"/>
                <a:gd name="T14" fmla="*/ 411 w 411"/>
                <a:gd name="T15" fmla="*/ 42 h 853"/>
                <a:gd name="T16" fmla="*/ 411 w 411"/>
                <a:gd name="T17" fmla="*/ 811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1" h="853">
                  <a:moveTo>
                    <a:pt x="411" y="811"/>
                  </a:moveTo>
                  <a:cubicBezTo>
                    <a:pt x="411" y="834"/>
                    <a:pt x="392" y="853"/>
                    <a:pt x="370" y="853"/>
                  </a:cubicBezTo>
                  <a:cubicBezTo>
                    <a:pt x="42" y="853"/>
                    <a:pt x="42" y="853"/>
                    <a:pt x="42" y="853"/>
                  </a:cubicBezTo>
                  <a:cubicBezTo>
                    <a:pt x="19" y="853"/>
                    <a:pt x="0" y="834"/>
                    <a:pt x="0" y="811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2" y="0"/>
                    <a:pt x="411" y="19"/>
                    <a:pt x="411" y="42"/>
                  </a:cubicBezTo>
                  <a:lnTo>
                    <a:pt x="411" y="81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5" name="矩形 60"/>
            <p:cNvSpPr/>
            <p:nvPr/>
          </p:nvSpPr>
          <p:spPr bwMode="auto">
            <a:xfrm>
              <a:off x="7250122" y="2681606"/>
              <a:ext cx="636588" cy="1338263"/>
            </a:xfrm>
            <a:custGeom>
              <a:avLst/>
              <a:gdLst>
                <a:gd name="T0" fmla="*/ 37 w 401"/>
                <a:gd name="T1" fmla="*/ 843 h 843"/>
                <a:gd name="T2" fmla="*/ 0 w 401"/>
                <a:gd name="T3" fmla="*/ 806 h 843"/>
                <a:gd name="T4" fmla="*/ 0 w 401"/>
                <a:gd name="T5" fmla="*/ 37 h 843"/>
                <a:gd name="T6" fmla="*/ 37 w 401"/>
                <a:gd name="T7" fmla="*/ 0 h 843"/>
                <a:gd name="T8" fmla="*/ 365 w 401"/>
                <a:gd name="T9" fmla="*/ 0 h 843"/>
                <a:gd name="T10" fmla="*/ 401 w 401"/>
                <a:gd name="T11" fmla="*/ 37 h 843"/>
                <a:gd name="T12" fmla="*/ 401 w 401"/>
                <a:gd name="T13" fmla="*/ 806 h 843"/>
                <a:gd name="T14" fmla="*/ 365 w 401"/>
                <a:gd name="T15" fmla="*/ 843 h 843"/>
                <a:gd name="T16" fmla="*/ 37 w 401"/>
                <a:gd name="T17" fmla="*/ 843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1" h="843">
                  <a:moveTo>
                    <a:pt x="37" y="843"/>
                  </a:moveTo>
                  <a:cubicBezTo>
                    <a:pt x="16" y="843"/>
                    <a:pt x="0" y="827"/>
                    <a:pt x="0" y="80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6"/>
                    <a:pt x="16" y="0"/>
                    <a:pt x="37" y="0"/>
                  </a:cubicBezTo>
                  <a:cubicBezTo>
                    <a:pt x="365" y="0"/>
                    <a:pt x="365" y="0"/>
                    <a:pt x="365" y="0"/>
                  </a:cubicBezTo>
                  <a:cubicBezTo>
                    <a:pt x="385" y="0"/>
                    <a:pt x="401" y="16"/>
                    <a:pt x="401" y="37"/>
                  </a:cubicBezTo>
                  <a:cubicBezTo>
                    <a:pt x="401" y="806"/>
                    <a:pt x="401" y="806"/>
                    <a:pt x="401" y="806"/>
                  </a:cubicBezTo>
                  <a:cubicBezTo>
                    <a:pt x="401" y="827"/>
                    <a:pt x="385" y="843"/>
                    <a:pt x="365" y="843"/>
                  </a:cubicBezTo>
                  <a:lnTo>
                    <a:pt x="37" y="8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6" name="Oval 61"/>
            <p:cNvSpPr>
              <a:spLocks noChangeArrowheads="1"/>
            </p:cNvSpPr>
            <p:nvPr/>
          </p:nvSpPr>
          <p:spPr bwMode="auto">
            <a:xfrm>
              <a:off x="7559684" y="2738756"/>
              <a:ext cx="19050" cy="19050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0" name="Oval 62"/>
            <p:cNvSpPr>
              <a:spLocks noChangeArrowheads="1"/>
            </p:cNvSpPr>
            <p:nvPr/>
          </p:nvSpPr>
          <p:spPr bwMode="auto">
            <a:xfrm>
              <a:off x="7566034" y="2745106"/>
              <a:ext cx="4763" cy="476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1" name="Oval 63"/>
            <p:cNvSpPr>
              <a:spLocks noChangeArrowheads="1"/>
            </p:cNvSpPr>
            <p:nvPr/>
          </p:nvSpPr>
          <p:spPr bwMode="auto">
            <a:xfrm>
              <a:off x="7559684" y="2737168"/>
              <a:ext cx="19050" cy="190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4" name="Oval 64"/>
            <p:cNvSpPr>
              <a:spLocks noChangeArrowheads="1"/>
            </p:cNvSpPr>
            <p:nvPr/>
          </p:nvSpPr>
          <p:spPr bwMode="auto">
            <a:xfrm>
              <a:off x="7566034" y="2743518"/>
              <a:ext cx="4763" cy="4763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5" name="Oval 65"/>
            <p:cNvSpPr>
              <a:spLocks noChangeArrowheads="1"/>
            </p:cNvSpPr>
            <p:nvPr/>
          </p:nvSpPr>
          <p:spPr bwMode="auto">
            <a:xfrm>
              <a:off x="7562859" y="2740343"/>
              <a:ext cx="12700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8" name="Oval 66"/>
            <p:cNvSpPr>
              <a:spLocks noChangeArrowheads="1"/>
            </p:cNvSpPr>
            <p:nvPr/>
          </p:nvSpPr>
          <p:spPr bwMode="auto">
            <a:xfrm>
              <a:off x="7562859" y="2740343"/>
              <a:ext cx="12700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9" name="Oval 67"/>
            <p:cNvSpPr>
              <a:spLocks noChangeArrowheads="1"/>
            </p:cNvSpPr>
            <p:nvPr/>
          </p:nvSpPr>
          <p:spPr bwMode="auto">
            <a:xfrm>
              <a:off x="7566034" y="2743518"/>
              <a:ext cx="6350" cy="6350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30" name="Oval 68"/>
            <p:cNvSpPr>
              <a:spLocks noChangeArrowheads="1"/>
            </p:cNvSpPr>
            <p:nvPr/>
          </p:nvSpPr>
          <p:spPr bwMode="auto">
            <a:xfrm>
              <a:off x="7566034" y="2743518"/>
              <a:ext cx="6350" cy="6350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31" name="矩形9"/>
            <p:cNvSpPr/>
            <p:nvPr/>
          </p:nvSpPr>
          <p:spPr bwMode="auto">
            <a:xfrm>
              <a:off x="7567622" y="2745106"/>
              <a:ext cx="1588" cy="15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32" name="矩形 70"/>
            <p:cNvSpPr/>
            <p:nvPr/>
          </p:nvSpPr>
          <p:spPr bwMode="auto">
            <a:xfrm>
              <a:off x="7567622" y="2745106"/>
              <a:ext cx="1588" cy="15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33" name="Oval 71"/>
            <p:cNvSpPr>
              <a:spLocks noChangeArrowheads="1"/>
            </p:cNvSpPr>
            <p:nvPr/>
          </p:nvSpPr>
          <p:spPr bwMode="auto">
            <a:xfrm>
              <a:off x="7516822" y="3884931"/>
              <a:ext cx="103188" cy="10318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34" name="矩形72"/>
            <p:cNvSpPr/>
            <p:nvPr/>
          </p:nvSpPr>
          <p:spPr bwMode="auto">
            <a:xfrm>
              <a:off x="7542222" y="3910331"/>
              <a:ext cx="52388" cy="52388"/>
            </a:xfrm>
            <a:custGeom>
              <a:avLst/>
              <a:gdLst>
                <a:gd name="T0" fmla="*/ 31 w 33"/>
                <a:gd name="T1" fmla="*/ 22 h 33"/>
                <a:gd name="T2" fmla="*/ 29 w 33"/>
                <a:gd name="T3" fmla="*/ 22 h 33"/>
                <a:gd name="T4" fmla="*/ 22 w 33"/>
                <a:gd name="T5" fmla="*/ 29 h 33"/>
                <a:gd name="T6" fmla="*/ 11 w 33"/>
                <a:gd name="T7" fmla="*/ 29 h 33"/>
                <a:gd name="T8" fmla="*/ 4 w 33"/>
                <a:gd name="T9" fmla="*/ 22 h 33"/>
                <a:gd name="T10" fmla="*/ 4 w 33"/>
                <a:gd name="T11" fmla="*/ 11 h 33"/>
                <a:gd name="T12" fmla="*/ 11 w 33"/>
                <a:gd name="T13" fmla="*/ 4 h 33"/>
                <a:gd name="T14" fmla="*/ 22 w 33"/>
                <a:gd name="T15" fmla="*/ 4 h 33"/>
                <a:gd name="T16" fmla="*/ 29 w 33"/>
                <a:gd name="T17" fmla="*/ 11 h 33"/>
                <a:gd name="T18" fmla="*/ 29 w 33"/>
                <a:gd name="T19" fmla="*/ 22 h 33"/>
                <a:gd name="T20" fmla="*/ 31 w 33"/>
                <a:gd name="T21" fmla="*/ 22 h 33"/>
                <a:gd name="T22" fmla="*/ 33 w 33"/>
                <a:gd name="T23" fmla="*/ 22 h 33"/>
                <a:gd name="T24" fmla="*/ 33 w 33"/>
                <a:gd name="T25" fmla="*/ 11 h 33"/>
                <a:gd name="T26" fmla="*/ 22 w 33"/>
                <a:gd name="T27" fmla="*/ 0 h 33"/>
                <a:gd name="T28" fmla="*/ 11 w 33"/>
                <a:gd name="T29" fmla="*/ 0 h 33"/>
                <a:gd name="T30" fmla="*/ 0 w 33"/>
                <a:gd name="T31" fmla="*/ 11 h 33"/>
                <a:gd name="T32" fmla="*/ 0 w 33"/>
                <a:gd name="T33" fmla="*/ 22 h 33"/>
                <a:gd name="T34" fmla="*/ 11 w 33"/>
                <a:gd name="T35" fmla="*/ 33 h 33"/>
                <a:gd name="T36" fmla="*/ 22 w 33"/>
                <a:gd name="T37" fmla="*/ 33 h 33"/>
                <a:gd name="T38" fmla="*/ 33 w 33"/>
                <a:gd name="T39" fmla="*/ 22 h 33"/>
                <a:gd name="T40" fmla="*/ 31 w 33"/>
                <a:gd name="T41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" h="33">
                  <a:moveTo>
                    <a:pt x="31" y="22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29" y="26"/>
                    <a:pt x="26" y="29"/>
                    <a:pt x="22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7" y="29"/>
                    <a:pt x="4" y="26"/>
                    <a:pt x="4" y="22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7"/>
                    <a:pt x="7" y="4"/>
                    <a:pt x="11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6" y="4"/>
                    <a:pt x="29" y="7"/>
                    <a:pt x="29" y="11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5"/>
                    <a:pt x="28" y="0"/>
                    <a:pt x="2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5" y="33"/>
                    <a:pt x="1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33"/>
                    <a:pt x="33" y="28"/>
                    <a:pt x="33" y="22"/>
                  </a:cubicBezTo>
                  <a:lnTo>
                    <a:pt x="31" y="22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35" name="Rectangle 73"/>
            <p:cNvSpPr>
              <a:spLocks noChangeArrowheads="1"/>
            </p:cNvSpPr>
            <p:nvPr/>
          </p:nvSpPr>
          <p:spPr bwMode="auto">
            <a:xfrm>
              <a:off x="7289809" y="2873693"/>
              <a:ext cx="558800" cy="979488"/>
            </a:xfrm>
            <a:prstGeom prst="rect">
              <a:avLst/>
            </a:prstGeom>
            <a:solidFill>
              <a:srgbClr val="0C0D11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36" name="Rectangle 74"/>
            <p:cNvSpPr>
              <a:spLocks noChangeArrowheads="1"/>
            </p:cNvSpPr>
            <p:nvPr/>
          </p:nvSpPr>
          <p:spPr bwMode="auto">
            <a:xfrm>
              <a:off x="7294572" y="2880043"/>
              <a:ext cx="547688" cy="966788"/>
            </a:xfrm>
            <a:prstGeom prst="rect">
              <a:avLst/>
            </a:prstGeom>
            <a:solidFill>
              <a:srgbClr val="7E7E7E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37" name="矩形 75"/>
            <p:cNvSpPr/>
            <p:nvPr/>
          </p:nvSpPr>
          <p:spPr bwMode="auto">
            <a:xfrm>
              <a:off x="7519997" y="2784793"/>
              <a:ext cx="115888" cy="26988"/>
            </a:xfrm>
            <a:custGeom>
              <a:avLst/>
              <a:gdLst>
                <a:gd name="T0" fmla="*/ 8 w 73"/>
                <a:gd name="T1" fmla="*/ 17 h 17"/>
                <a:gd name="T2" fmla="*/ 0 w 73"/>
                <a:gd name="T3" fmla="*/ 9 h 17"/>
                <a:gd name="T4" fmla="*/ 8 w 73"/>
                <a:gd name="T5" fmla="*/ 0 h 17"/>
                <a:gd name="T6" fmla="*/ 65 w 73"/>
                <a:gd name="T7" fmla="*/ 0 h 17"/>
                <a:gd name="T8" fmla="*/ 73 w 73"/>
                <a:gd name="T9" fmla="*/ 9 h 17"/>
                <a:gd name="T10" fmla="*/ 65 w 73"/>
                <a:gd name="T11" fmla="*/ 17 h 17"/>
                <a:gd name="T12" fmla="*/ 8 w 73"/>
                <a:gd name="T1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17">
                  <a:moveTo>
                    <a:pt x="8" y="17"/>
                  </a:move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0" y="0"/>
                    <a:pt x="73" y="4"/>
                    <a:pt x="73" y="9"/>
                  </a:cubicBezTo>
                  <a:cubicBezTo>
                    <a:pt x="73" y="13"/>
                    <a:pt x="70" y="17"/>
                    <a:pt x="65" y="17"/>
                  </a:cubicBezTo>
                  <a:lnTo>
                    <a:pt x="8" y="17"/>
                  </a:lnTo>
                  <a:close/>
                </a:path>
              </a:pathLst>
            </a:custGeom>
            <a:solidFill>
              <a:srgbClr val="0C0D11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38" name="矩形 76"/>
            <p:cNvSpPr/>
            <p:nvPr/>
          </p:nvSpPr>
          <p:spPr bwMode="auto">
            <a:xfrm>
              <a:off x="7526347" y="2792731"/>
              <a:ext cx="103188" cy="11113"/>
            </a:xfrm>
            <a:custGeom>
              <a:avLst/>
              <a:gdLst>
                <a:gd name="T0" fmla="*/ 65 w 65"/>
                <a:gd name="T1" fmla="*/ 4 h 7"/>
                <a:gd name="T2" fmla="*/ 61 w 65"/>
                <a:gd name="T3" fmla="*/ 7 h 7"/>
                <a:gd name="T4" fmla="*/ 4 w 65"/>
                <a:gd name="T5" fmla="*/ 7 h 7"/>
                <a:gd name="T6" fmla="*/ 0 w 65"/>
                <a:gd name="T7" fmla="*/ 4 h 7"/>
                <a:gd name="T8" fmla="*/ 4 w 65"/>
                <a:gd name="T9" fmla="*/ 0 h 7"/>
                <a:gd name="T10" fmla="*/ 61 w 65"/>
                <a:gd name="T11" fmla="*/ 0 h 7"/>
                <a:gd name="T12" fmla="*/ 65 w 65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7">
                  <a:moveTo>
                    <a:pt x="65" y="4"/>
                  </a:moveTo>
                  <a:cubicBezTo>
                    <a:pt x="65" y="6"/>
                    <a:pt x="63" y="7"/>
                    <a:pt x="61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5" y="2"/>
                    <a:pt x="65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39" name="Oval 77"/>
            <p:cNvSpPr>
              <a:spLocks noChangeArrowheads="1"/>
            </p:cNvSpPr>
            <p:nvPr/>
          </p:nvSpPr>
          <p:spPr bwMode="auto">
            <a:xfrm>
              <a:off x="7481897" y="2789556"/>
              <a:ext cx="17463" cy="1746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</p:grpSp>
      <p:grpSp>
        <p:nvGrpSpPr>
          <p:cNvPr id="41" name="Group 226"/>
          <p:cNvGrpSpPr>
            <a:grpSpLocks noChangeAspect="1"/>
          </p:cNvGrpSpPr>
          <p:nvPr/>
        </p:nvGrpSpPr>
        <p:grpSpPr>
          <a:xfrm>
            <a:off x="4064336" y="686803"/>
            <a:ext cx="2682713" cy="5569205"/>
            <a:chOff x="7242184" y="2673668"/>
            <a:chExt cx="652463" cy="1354138"/>
          </a:xfrm>
        </p:grpSpPr>
        <p:sp>
          <p:nvSpPr>
            <p:cNvPr id="42" name="矩形59"/>
            <p:cNvSpPr/>
            <p:nvPr/>
          </p:nvSpPr>
          <p:spPr bwMode="auto">
            <a:xfrm>
              <a:off x="7242184" y="2673668"/>
              <a:ext cx="652463" cy="1354138"/>
            </a:xfrm>
            <a:custGeom>
              <a:avLst/>
              <a:gdLst>
                <a:gd name="T0" fmla="*/ 411 w 411"/>
                <a:gd name="T1" fmla="*/ 811 h 853"/>
                <a:gd name="T2" fmla="*/ 370 w 411"/>
                <a:gd name="T3" fmla="*/ 853 h 853"/>
                <a:gd name="T4" fmla="*/ 42 w 411"/>
                <a:gd name="T5" fmla="*/ 853 h 853"/>
                <a:gd name="T6" fmla="*/ 0 w 411"/>
                <a:gd name="T7" fmla="*/ 811 h 853"/>
                <a:gd name="T8" fmla="*/ 0 w 411"/>
                <a:gd name="T9" fmla="*/ 42 h 853"/>
                <a:gd name="T10" fmla="*/ 42 w 411"/>
                <a:gd name="T11" fmla="*/ 0 h 853"/>
                <a:gd name="T12" fmla="*/ 370 w 411"/>
                <a:gd name="T13" fmla="*/ 0 h 853"/>
                <a:gd name="T14" fmla="*/ 411 w 411"/>
                <a:gd name="T15" fmla="*/ 42 h 853"/>
                <a:gd name="T16" fmla="*/ 411 w 411"/>
                <a:gd name="T17" fmla="*/ 811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1" h="853">
                  <a:moveTo>
                    <a:pt x="411" y="811"/>
                  </a:moveTo>
                  <a:cubicBezTo>
                    <a:pt x="411" y="834"/>
                    <a:pt x="392" y="853"/>
                    <a:pt x="370" y="853"/>
                  </a:cubicBezTo>
                  <a:cubicBezTo>
                    <a:pt x="42" y="853"/>
                    <a:pt x="42" y="853"/>
                    <a:pt x="42" y="853"/>
                  </a:cubicBezTo>
                  <a:cubicBezTo>
                    <a:pt x="19" y="853"/>
                    <a:pt x="0" y="834"/>
                    <a:pt x="0" y="811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2" y="0"/>
                    <a:pt x="411" y="19"/>
                    <a:pt x="411" y="42"/>
                  </a:cubicBezTo>
                  <a:lnTo>
                    <a:pt x="411" y="81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43" name="矩形60"/>
            <p:cNvSpPr/>
            <p:nvPr/>
          </p:nvSpPr>
          <p:spPr bwMode="auto">
            <a:xfrm>
              <a:off x="7250122" y="2681606"/>
              <a:ext cx="636588" cy="1338263"/>
            </a:xfrm>
            <a:custGeom>
              <a:avLst/>
              <a:gdLst>
                <a:gd name="T0" fmla="*/ 37 w 401"/>
                <a:gd name="T1" fmla="*/ 843 h 843"/>
                <a:gd name="T2" fmla="*/ 0 w 401"/>
                <a:gd name="T3" fmla="*/ 806 h 843"/>
                <a:gd name="T4" fmla="*/ 0 w 401"/>
                <a:gd name="T5" fmla="*/ 37 h 843"/>
                <a:gd name="T6" fmla="*/ 37 w 401"/>
                <a:gd name="T7" fmla="*/ 0 h 843"/>
                <a:gd name="T8" fmla="*/ 365 w 401"/>
                <a:gd name="T9" fmla="*/ 0 h 843"/>
                <a:gd name="T10" fmla="*/ 401 w 401"/>
                <a:gd name="T11" fmla="*/ 37 h 843"/>
                <a:gd name="T12" fmla="*/ 401 w 401"/>
                <a:gd name="T13" fmla="*/ 806 h 843"/>
                <a:gd name="T14" fmla="*/ 365 w 401"/>
                <a:gd name="T15" fmla="*/ 843 h 843"/>
                <a:gd name="T16" fmla="*/ 37 w 401"/>
                <a:gd name="T17" fmla="*/ 843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1" h="843">
                  <a:moveTo>
                    <a:pt x="37" y="843"/>
                  </a:moveTo>
                  <a:cubicBezTo>
                    <a:pt x="16" y="843"/>
                    <a:pt x="0" y="827"/>
                    <a:pt x="0" y="80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6"/>
                    <a:pt x="16" y="0"/>
                    <a:pt x="37" y="0"/>
                  </a:cubicBezTo>
                  <a:cubicBezTo>
                    <a:pt x="365" y="0"/>
                    <a:pt x="365" y="0"/>
                    <a:pt x="365" y="0"/>
                  </a:cubicBezTo>
                  <a:cubicBezTo>
                    <a:pt x="385" y="0"/>
                    <a:pt x="401" y="16"/>
                    <a:pt x="401" y="37"/>
                  </a:cubicBezTo>
                  <a:cubicBezTo>
                    <a:pt x="401" y="806"/>
                    <a:pt x="401" y="806"/>
                    <a:pt x="401" y="806"/>
                  </a:cubicBezTo>
                  <a:cubicBezTo>
                    <a:pt x="401" y="827"/>
                    <a:pt x="385" y="843"/>
                    <a:pt x="365" y="843"/>
                  </a:cubicBezTo>
                  <a:lnTo>
                    <a:pt x="37" y="8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44" name="Oval 61"/>
            <p:cNvSpPr>
              <a:spLocks noChangeArrowheads="1"/>
            </p:cNvSpPr>
            <p:nvPr/>
          </p:nvSpPr>
          <p:spPr bwMode="auto">
            <a:xfrm>
              <a:off x="7559684" y="2738756"/>
              <a:ext cx="19050" cy="19050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45" name="Oval 62"/>
            <p:cNvSpPr>
              <a:spLocks noChangeArrowheads="1"/>
            </p:cNvSpPr>
            <p:nvPr/>
          </p:nvSpPr>
          <p:spPr bwMode="auto">
            <a:xfrm>
              <a:off x="7566034" y="2745106"/>
              <a:ext cx="4763" cy="476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46" name="Oval 63"/>
            <p:cNvSpPr>
              <a:spLocks noChangeArrowheads="1"/>
            </p:cNvSpPr>
            <p:nvPr/>
          </p:nvSpPr>
          <p:spPr bwMode="auto">
            <a:xfrm>
              <a:off x="7559684" y="2737168"/>
              <a:ext cx="19050" cy="190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47" name="Oval 64"/>
            <p:cNvSpPr>
              <a:spLocks noChangeArrowheads="1"/>
            </p:cNvSpPr>
            <p:nvPr/>
          </p:nvSpPr>
          <p:spPr bwMode="auto">
            <a:xfrm>
              <a:off x="7566034" y="2743518"/>
              <a:ext cx="4763" cy="4763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48" name="Oval 65"/>
            <p:cNvSpPr>
              <a:spLocks noChangeArrowheads="1"/>
            </p:cNvSpPr>
            <p:nvPr/>
          </p:nvSpPr>
          <p:spPr bwMode="auto">
            <a:xfrm>
              <a:off x="7562859" y="2740343"/>
              <a:ext cx="12700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49" name="Oval 66"/>
            <p:cNvSpPr>
              <a:spLocks noChangeArrowheads="1"/>
            </p:cNvSpPr>
            <p:nvPr/>
          </p:nvSpPr>
          <p:spPr bwMode="auto">
            <a:xfrm>
              <a:off x="7562859" y="2740343"/>
              <a:ext cx="12700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50" name="Oval 67"/>
            <p:cNvSpPr>
              <a:spLocks noChangeArrowheads="1"/>
            </p:cNvSpPr>
            <p:nvPr/>
          </p:nvSpPr>
          <p:spPr bwMode="auto">
            <a:xfrm>
              <a:off x="7566034" y="2743518"/>
              <a:ext cx="6350" cy="6350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51" name="Oval 68"/>
            <p:cNvSpPr>
              <a:spLocks noChangeArrowheads="1"/>
            </p:cNvSpPr>
            <p:nvPr/>
          </p:nvSpPr>
          <p:spPr bwMode="auto">
            <a:xfrm>
              <a:off x="7566034" y="2743518"/>
              <a:ext cx="6350" cy="6350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52" name="矩形 69"/>
            <p:cNvSpPr/>
            <p:nvPr/>
          </p:nvSpPr>
          <p:spPr bwMode="auto">
            <a:xfrm>
              <a:off x="7567622" y="2745106"/>
              <a:ext cx="1588" cy="15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53" name="矩形 70"/>
            <p:cNvSpPr/>
            <p:nvPr/>
          </p:nvSpPr>
          <p:spPr bwMode="auto">
            <a:xfrm>
              <a:off x="7567622" y="2745106"/>
              <a:ext cx="1588" cy="15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54" name="Oval 71"/>
            <p:cNvSpPr>
              <a:spLocks noChangeArrowheads="1"/>
            </p:cNvSpPr>
            <p:nvPr/>
          </p:nvSpPr>
          <p:spPr bwMode="auto">
            <a:xfrm>
              <a:off x="7516822" y="3884931"/>
              <a:ext cx="103188" cy="10318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55" name="矩形72"/>
            <p:cNvSpPr/>
            <p:nvPr/>
          </p:nvSpPr>
          <p:spPr bwMode="auto">
            <a:xfrm>
              <a:off x="7542222" y="3910331"/>
              <a:ext cx="52388" cy="52388"/>
            </a:xfrm>
            <a:custGeom>
              <a:avLst/>
              <a:gdLst>
                <a:gd name="T0" fmla="*/ 31 w 33"/>
                <a:gd name="T1" fmla="*/ 22 h 33"/>
                <a:gd name="T2" fmla="*/ 29 w 33"/>
                <a:gd name="T3" fmla="*/ 22 h 33"/>
                <a:gd name="T4" fmla="*/ 22 w 33"/>
                <a:gd name="T5" fmla="*/ 29 h 33"/>
                <a:gd name="T6" fmla="*/ 11 w 33"/>
                <a:gd name="T7" fmla="*/ 29 h 33"/>
                <a:gd name="T8" fmla="*/ 4 w 33"/>
                <a:gd name="T9" fmla="*/ 22 h 33"/>
                <a:gd name="T10" fmla="*/ 4 w 33"/>
                <a:gd name="T11" fmla="*/ 11 h 33"/>
                <a:gd name="T12" fmla="*/ 11 w 33"/>
                <a:gd name="T13" fmla="*/ 4 h 33"/>
                <a:gd name="T14" fmla="*/ 22 w 33"/>
                <a:gd name="T15" fmla="*/ 4 h 33"/>
                <a:gd name="T16" fmla="*/ 29 w 33"/>
                <a:gd name="T17" fmla="*/ 11 h 33"/>
                <a:gd name="T18" fmla="*/ 29 w 33"/>
                <a:gd name="T19" fmla="*/ 22 h 33"/>
                <a:gd name="T20" fmla="*/ 31 w 33"/>
                <a:gd name="T21" fmla="*/ 22 h 33"/>
                <a:gd name="T22" fmla="*/ 33 w 33"/>
                <a:gd name="T23" fmla="*/ 22 h 33"/>
                <a:gd name="T24" fmla="*/ 33 w 33"/>
                <a:gd name="T25" fmla="*/ 11 h 33"/>
                <a:gd name="T26" fmla="*/ 22 w 33"/>
                <a:gd name="T27" fmla="*/ 0 h 33"/>
                <a:gd name="T28" fmla="*/ 11 w 33"/>
                <a:gd name="T29" fmla="*/ 0 h 33"/>
                <a:gd name="T30" fmla="*/ 0 w 33"/>
                <a:gd name="T31" fmla="*/ 11 h 33"/>
                <a:gd name="T32" fmla="*/ 0 w 33"/>
                <a:gd name="T33" fmla="*/ 22 h 33"/>
                <a:gd name="T34" fmla="*/ 11 w 33"/>
                <a:gd name="T35" fmla="*/ 33 h 33"/>
                <a:gd name="T36" fmla="*/ 22 w 33"/>
                <a:gd name="T37" fmla="*/ 33 h 33"/>
                <a:gd name="T38" fmla="*/ 33 w 33"/>
                <a:gd name="T39" fmla="*/ 22 h 33"/>
                <a:gd name="T40" fmla="*/ 31 w 33"/>
                <a:gd name="T41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" h="33">
                  <a:moveTo>
                    <a:pt x="31" y="22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29" y="26"/>
                    <a:pt x="26" y="29"/>
                    <a:pt x="22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7" y="29"/>
                    <a:pt x="4" y="26"/>
                    <a:pt x="4" y="22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7"/>
                    <a:pt x="7" y="4"/>
                    <a:pt x="11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6" y="4"/>
                    <a:pt x="29" y="7"/>
                    <a:pt x="29" y="11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5"/>
                    <a:pt x="28" y="0"/>
                    <a:pt x="2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5" y="33"/>
                    <a:pt x="1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33"/>
                    <a:pt x="33" y="28"/>
                    <a:pt x="33" y="22"/>
                  </a:cubicBezTo>
                  <a:lnTo>
                    <a:pt x="31" y="22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56" name="Rectangle 73"/>
            <p:cNvSpPr>
              <a:spLocks noChangeArrowheads="1"/>
            </p:cNvSpPr>
            <p:nvPr/>
          </p:nvSpPr>
          <p:spPr bwMode="auto">
            <a:xfrm>
              <a:off x="7289809" y="2873693"/>
              <a:ext cx="558800" cy="979488"/>
            </a:xfrm>
            <a:prstGeom prst="rect">
              <a:avLst/>
            </a:prstGeom>
            <a:solidFill>
              <a:srgbClr val="0C0D11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57" name="Rectangle 74"/>
            <p:cNvSpPr>
              <a:spLocks noChangeArrowheads="1"/>
            </p:cNvSpPr>
            <p:nvPr/>
          </p:nvSpPr>
          <p:spPr bwMode="auto">
            <a:xfrm>
              <a:off x="7294572" y="2880043"/>
              <a:ext cx="547688" cy="966788"/>
            </a:xfrm>
            <a:prstGeom prst="rect">
              <a:avLst/>
            </a:prstGeom>
            <a:solidFill>
              <a:srgbClr val="7E7E7E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58" name="矩形75"/>
            <p:cNvSpPr/>
            <p:nvPr/>
          </p:nvSpPr>
          <p:spPr bwMode="auto">
            <a:xfrm>
              <a:off x="7519997" y="2784793"/>
              <a:ext cx="115888" cy="26988"/>
            </a:xfrm>
            <a:custGeom>
              <a:avLst/>
              <a:gdLst>
                <a:gd name="T0" fmla="*/ 8 w 73"/>
                <a:gd name="T1" fmla="*/ 17 h 17"/>
                <a:gd name="T2" fmla="*/ 0 w 73"/>
                <a:gd name="T3" fmla="*/ 9 h 17"/>
                <a:gd name="T4" fmla="*/ 8 w 73"/>
                <a:gd name="T5" fmla="*/ 0 h 17"/>
                <a:gd name="T6" fmla="*/ 65 w 73"/>
                <a:gd name="T7" fmla="*/ 0 h 17"/>
                <a:gd name="T8" fmla="*/ 73 w 73"/>
                <a:gd name="T9" fmla="*/ 9 h 17"/>
                <a:gd name="T10" fmla="*/ 65 w 73"/>
                <a:gd name="T11" fmla="*/ 17 h 17"/>
                <a:gd name="T12" fmla="*/ 8 w 73"/>
                <a:gd name="T1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17">
                  <a:moveTo>
                    <a:pt x="8" y="17"/>
                  </a:move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0" y="0"/>
                    <a:pt x="73" y="4"/>
                    <a:pt x="73" y="9"/>
                  </a:cubicBezTo>
                  <a:cubicBezTo>
                    <a:pt x="73" y="13"/>
                    <a:pt x="70" y="17"/>
                    <a:pt x="65" y="17"/>
                  </a:cubicBezTo>
                  <a:lnTo>
                    <a:pt x="8" y="17"/>
                  </a:lnTo>
                  <a:close/>
                </a:path>
              </a:pathLst>
            </a:custGeom>
            <a:solidFill>
              <a:srgbClr val="0C0D11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59" name="矩形76"/>
            <p:cNvSpPr/>
            <p:nvPr/>
          </p:nvSpPr>
          <p:spPr bwMode="auto">
            <a:xfrm>
              <a:off x="7526347" y="2792731"/>
              <a:ext cx="103188" cy="11113"/>
            </a:xfrm>
            <a:custGeom>
              <a:avLst/>
              <a:gdLst>
                <a:gd name="T0" fmla="*/ 65 w 65"/>
                <a:gd name="T1" fmla="*/ 4 h 7"/>
                <a:gd name="T2" fmla="*/ 61 w 65"/>
                <a:gd name="T3" fmla="*/ 7 h 7"/>
                <a:gd name="T4" fmla="*/ 4 w 65"/>
                <a:gd name="T5" fmla="*/ 7 h 7"/>
                <a:gd name="T6" fmla="*/ 0 w 65"/>
                <a:gd name="T7" fmla="*/ 4 h 7"/>
                <a:gd name="T8" fmla="*/ 4 w 65"/>
                <a:gd name="T9" fmla="*/ 0 h 7"/>
                <a:gd name="T10" fmla="*/ 61 w 65"/>
                <a:gd name="T11" fmla="*/ 0 h 7"/>
                <a:gd name="T12" fmla="*/ 65 w 65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7">
                  <a:moveTo>
                    <a:pt x="65" y="4"/>
                  </a:moveTo>
                  <a:cubicBezTo>
                    <a:pt x="65" y="6"/>
                    <a:pt x="63" y="7"/>
                    <a:pt x="61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5" y="2"/>
                    <a:pt x="65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60" name="Oval 77"/>
            <p:cNvSpPr>
              <a:spLocks noChangeArrowheads="1"/>
            </p:cNvSpPr>
            <p:nvPr/>
          </p:nvSpPr>
          <p:spPr bwMode="auto">
            <a:xfrm>
              <a:off x="7481897" y="2789556"/>
              <a:ext cx="17463" cy="1746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vert="horz" wrap="square" lIns="45719" tIns="22859" rIns="45719" bIns="22859" numCol="1" anchor="t" anchorCtr="0" compatLnSpc="1"/>
            <a:lstStyle/>
            <a:p>
              <a:pPr>
                <a:lnSpc>
                  <a:spcPct val="150000"/>
                </a:lnSpc>
              </a:pPr>
              <a:endParaRPr lang="id-ID" sz="140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1189990" y="1535303"/>
            <a:ext cx="2377440" cy="2651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400" b="1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共享给同事</a:t>
            </a:r>
            <a:endParaRPr lang="zh-CN" altLang="en-US" sz="1400" b="1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pPr algn="l"/>
            <a:r>
              <a:rPr lang="zh-CN" altLang="en-US" sz="110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指定用户或公开共享；被共享题目有明确状态标识：已共享 / 被共享 · 只读 / 可编辑</a:t>
            </a:r>
            <a:endParaRPr lang="zh-CN" altLang="en-US" sz="110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279773" y="1494028"/>
            <a:ext cx="2377440" cy="2651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400" b="1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接收方两种用法</a:t>
            </a:r>
            <a:endParaRPr lang="zh-CN" altLang="en-US" sz="1400" b="1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pPr algn="l"/>
            <a:r>
              <a:rPr lang="zh-CN" altLang="en-US" sz="110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订阅：实时跟随老师更新；拷贝为本人副本：二次创作</a:t>
            </a:r>
            <a:endParaRPr lang="zh-CN" altLang="en-US" sz="110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pPr algn="l"/>
            <a:r>
              <a:rPr lang="zh-CN" altLang="en-US" sz="110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界面主题：管理员维护多套皮肤，学生按喜好切换（暗色模式适合晚自习）</a:t>
            </a:r>
            <a:endParaRPr lang="zh-CN" altLang="en-US" sz="110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2397"/>
          <p:cNvSpPr/>
          <p:nvPr/>
        </p:nvSpPr>
        <p:spPr>
          <a:xfrm>
            <a:off x="9009837" y="1988456"/>
            <a:ext cx="2683630" cy="4069443"/>
          </a:xfrm>
          <a:prstGeom prst="rect">
            <a:avLst/>
          </a:prstGeom>
          <a:solidFill>
            <a:schemeClr val="bg1"/>
          </a:solidFill>
          <a:ln w="38100">
            <a:solidFill>
              <a:srgbClr val="444EF7"/>
            </a:solidFill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5" name="Rectangle 2405"/>
          <p:cNvSpPr/>
          <p:nvPr/>
        </p:nvSpPr>
        <p:spPr>
          <a:xfrm>
            <a:off x="6822132" y="3176568"/>
            <a:ext cx="1482593" cy="1382027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6" name="Rectangle 2406"/>
          <p:cNvSpPr/>
          <p:nvPr/>
        </p:nvSpPr>
        <p:spPr>
          <a:xfrm rot="2700000">
            <a:off x="8156124" y="3750908"/>
            <a:ext cx="233346" cy="233346"/>
          </a:xfrm>
          <a:prstGeom prst="rect">
            <a:avLst/>
          </a:prstGeom>
          <a:gradFill>
            <a:gsLst>
              <a:gs pos="68000">
                <a:srgbClr val="444EF7"/>
              </a:gs>
              <a:gs pos="100000">
                <a:schemeClr val="bg1">
                  <a:alpha val="85000"/>
                </a:schemeClr>
              </a:gs>
            </a:gsLst>
            <a:lin ang="189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7" name="Rectangle 2403"/>
          <p:cNvSpPr/>
          <p:nvPr/>
        </p:nvSpPr>
        <p:spPr>
          <a:xfrm>
            <a:off x="5303121" y="3176568"/>
            <a:ext cx="1482593" cy="1382027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8" name="Rectangle 2404"/>
          <p:cNvSpPr/>
          <p:nvPr/>
        </p:nvSpPr>
        <p:spPr>
          <a:xfrm rot="2700000">
            <a:off x="6599013" y="3750908"/>
            <a:ext cx="233346" cy="233346"/>
          </a:xfrm>
          <a:prstGeom prst="rect">
            <a:avLst/>
          </a:prstGeom>
          <a:gradFill>
            <a:gsLst>
              <a:gs pos="68000">
                <a:srgbClr val="444EF7"/>
              </a:gs>
              <a:gs pos="100000">
                <a:schemeClr val="bg1">
                  <a:alpha val="85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9" name="Rectangle 2401"/>
          <p:cNvSpPr/>
          <p:nvPr/>
        </p:nvSpPr>
        <p:spPr>
          <a:xfrm>
            <a:off x="3782399" y="3176568"/>
            <a:ext cx="1482593" cy="1382027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0" name="Rectangle 2402"/>
          <p:cNvSpPr/>
          <p:nvPr/>
        </p:nvSpPr>
        <p:spPr>
          <a:xfrm rot="2700000">
            <a:off x="5078291" y="3750908"/>
            <a:ext cx="233346" cy="233346"/>
          </a:xfrm>
          <a:prstGeom prst="rect">
            <a:avLst/>
          </a:prstGeom>
          <a:gradFill>
            <a:gsLst>
              <a:gs pos="68000">
                <a:srgbClr val="444EF7"/>
              </a:gs>
              <a:gs pos="100000">
                <a:schemeClr val="bg1">
                  <a:alpha val="85000"/>
                </a:schemeClr>
              </a:gs>
            </a:gsLst>
            <a:lin ang="189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1" name="Rectangle 2399"/>
          <p:cNvSpPr/>
          <p:nvPr/>
        </p:nvSpPr>
        <p:spPr>
          <a:xfrm>
            <a:off x="2261982" y="3176568"/>
            <a:ext cx="1482593" cy="1382027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2" name="Rectangle 2400"/>
          <p:cNvSpPr/>
          <p:nvPr/>
        </p:nvSpPr>
        <p:spPr>
          <a:xfrm rot="2700000">
            <a:off x="3557874" y="3750908"/>
            <a:ext cx="233346" cy="233346"/>
          </a:xfrm>
          <a:prstGeom prst="rect">
            <a:avLst/>
          </a:prstGeom>
          <a:gradFill>
            <a:gsLst>
              <a:gs pos="68000">
                <a:srgbClr val="444EF7"/>
              </a:gs>
              <a:gs pos="100000">
                <a:schemeClr val="bg1">
                  <a:alpha val="85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3" name="Rectangle 2397"/>
          <p:cNvSpPr/>
          <p:nvPr/>
        </p:nvSpPr>
        <p:spPr>
          <a:xfrm>
            <a:off x="742972" y="3176568"/>
            <a:ext cx="1482593" cy="1382027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4" name="Rectangle 2398"/>
          <p:cNvSpPr/>
          <p:nvPr/>
        </p:nvSpPr>
        <p:spPr>
          <a:xfrm rot="2700000">
            <a:off x="2038864" y="3750908"/>
            <a:ext cx="233346" cy="233346"/>
          </a:xfrm>
          <a:prstGeom prst="rect">
            <a:avLst/>
          </a:prstGeom>
          <a:gradFill>
            <a:gsLst>
              <a:gs pos="68000">
                <a:srgbClr val="444EF7"/>
              </a:gs>
              <a:gs pos="100000">
                <a:schemeClr val="bg1">
                  <a:alpha val="85000"/>
                </a:schemeClr>
              </a:gs>
            </a:gsLst>
            <a:lin ang="189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5" name="TextBox 2377"/>
          <p:cNvSpPr txBox="1"/>
          <p:nvPr/>
        </p:nvSpPr>
        <p:spPr>
          <a:xfrm>
            <a:off x="1171682" y="1658655"/>
            <a:ext cx="625171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rgbClr val="444EF7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01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444EF7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cxnSp>
        <p:nvCxnSpPr>
          <p:cNvPr id="16" name="Straight Connector 2378"/>
          <p:cNvCxnSpPr/>
          <p:nvPr/>
        </p:nvCxnSpPr>
        <p:spPr>
          <a:xfrm flipV="1">
            <a:off x="1484267" y="2795269"/>
            <a:ext cx="0" cy="21837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2380"/>
          <p:cNvSpPr txBox="1"/>
          <p:nvPr/>
        </p:nvSpPr>
        <p:spPr>
          <a:xfrm>
            <a:off x="4203799" y="1658655"/>
            <a:ext cx="625171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rgbClr val="444EF7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03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444EF7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cxnSp>
        <p:nvCxnSpPr>
          <p:cNvPr id="18" name="Straight Connector 2381"/>
          <p:cNvCxnSpPr/>
          <p:nvPr/>
        </p:nvCxnSpPr>
        <p:spPr>
          <a:xfrm flipV="1">
            <a:off x="4516384" y="2795269"/>
            <a:ext cx="0" cy="21837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2383"/>
          <p:cNvSpPr txBox="1"/>
          <p:nvPr/>
        </p:nvSpPr>
        <p:spPr>
          <a:xfrm>
            <a:off x="7235915" y="1658655"/>
            <a:ext cx="625171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rgbClr val="444EF7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05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444EF7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cxnSp>
        <p:nvCxnSpPr>
          <p:cNvPr id="20" name="Straight Connector 2384"/>
          <p:cNvCxnSpPr/>
          <p:nvPr/>
        </p:nvCxnSpPr>
        <p:spPr>
          <a:xfrm flipV="1">
            <a:off x="7548499" y="2795269"/>
            <a:ext cx="0" cy="21837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389"/>
          <p:cNvSpPr txBox="1"/>
          <p:nvPr/>
        </p:nvSpPr>
        <p:spPr>
          <a:xfrm>
            <a:off x="2686907" y="4942654"/>
            <a:ext cx="625171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rgbClr val="444EF7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02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444EF7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cxnSp>
        <p:nvCxnSpPr>
          <p:cNvPr id="24" name="Straight Connector 2390"/>
          <p:cNvCxnSpPr/>
          <p:nvPr/>
        </p:nvCxnSpPr>
        <p:spPr>
          <a:xfrm flipV="1">
            <a:off x="2999492" y="4712287"/>
            <a:ext cx="0" cy="21837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392"/>
          <p:cNvSpPr txBox="1"/>
          <p:nvPr/>
        </p:nvSpPr>
        <p:spPr>
          <a:xfrm>
            <a:off x="5724671" y="4942654"/>
            <a:ext cx="625171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rgbClr val="444EF7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04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444EF7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cxnSp>
        <p:nvCxnSpPr>
          <p:cNvPr id="26" name="Straight Connector 2393"/>
          <p:cNvCxnSpPr/>
          <p:nvPr/>
        </p:nvCxnSpPr>
        <p:spPr>
          <a:xfrm flipV="1">
            <a:off x="6037256" y="4712287"/>
            <a:ext cx="0" cy="21837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941832" y="2249424"/>
            <a:ext cx="1353312" cy="1234440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algn="ctr" defTabSz="1219200">
              <a:lnSpc>
                <a:spcPct val="100000"/>
              </a:lnSpc>
              <a:spcBef>
                <a:spcPct val="20000"/>
              </a:spcBef>
              <a:defRPr b="1">
                <a:solidFill>
                  <a:srgbClr val="000000">
                    <a:lumMod val="75000"/>
                    <a:lumOff val="25000"/>
                  </a:srgb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000" b="0" dirty="0"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Vue 3 + Element Plus + ECharts 图表</a:t>
            </a:r>
            <a:endParaRPr lang="zh-CN" altLang="en-US" sz="1000" b="0" dirty="0"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858768" y="2249424"/>
            <a:ext cx="1353312" cy="1234440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algn="ctr" defTabSz="1219200">
              <a:lnSpc>
                <a:spcPct val="100000"/>
              </a:lnSpc>
              <a:spcBef>
                <a:spcPct val="20000"/>
              </a:spcBef>
              <a:defRPr b="1">
                <a:solidFill>
                  <a:srgbClr val="000000">
                    <a:lumMod val="75000"/>
                    <a:lumOff val="25000"/>
                  </a:srgb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000" b="0" dirty="0"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Spring Boot 3 + MyBatis + MySQL 8</a:t>
            </a:r>
            <a:endParaRPr lang="zh-CN" altLang="en-US" sz="1000" b="0" dirty="0"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986016" y="2258568"/>
            <a:ext cx="1188720" cy="1234440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algn="ctr" defTabSz="1219200">
              <a:lnSpc>
                <a:spcPct val="100000"/>
              </a:lnSpc>
              <a:spcBef>
                <a:spcPct val="20000"/>
              </a:spcBef>
              <a:defRPr b="1">
                <a:solidFill>
                  <a:srgbClr val="000000">
                    <a:lumMod val="75000"/>
                    <a:lumOff val="25000"/>
                  </a:srgb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000" b="0" dirty="0"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Electron 桌面端：Windows / macOS / Linux 三平台</a:t>
            </a:r>
            <a:endParaRPr lang="zh-CN" altLang="en-US" sz="1000" b="0" dirty="0"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468880" y="5586984"/>
            <a:ext cx="1353312" cy="1005840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algn="ctr" defTabSz="1219200">
              <a:lnSpc>
                <a:spcPct val="100000"/>
              </a:lnSpc>
              <a:spcBef>
                <a:spcPct val="20000"/>
              </a:spcBef>
              <a:defRPr b="1">
                <a:solidFill>
                  <a:srgbClr val="000000">
                    <a:lumMod val="75000"/>
                    <a:lumOff val="25000"/>
                  </a:srgb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000" b="0" dirty="0"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JWT + 服务端会话白名单 · BCrypt 密码 · 登录限流 · 越权校验</a:t>
            </a:r>
            <a:endParaRPr lang="zh-CN" altLang="en-US" sz="1000" b="0" dirty="0"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385816" y="5586984"/>
            <a:ext cx="1353312" cy="1005840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algn="ctr" defTabSz="1219200">
              <a:lnSpc>
                <a:spcPct val="100000"/>
              </a:lnSpc>
              <a:spcBef>
                <a:spcPct val="20000"/>
              </a:spcBef>
              <a:defRPr b="1">
                <a:solidFill>
                  <a:srgbClr val="000000">
                    <a:lumMod val="75000"/>
                    <a:lumOff val="25000"/>
                  </a:srgb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000" b="0" dirty="0"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GitHub Actions 自动构建发布 · 9 个 Release · 后端 17 测试类 193 单测</a:t>
            </a:r>
            <a:endParaRPr lang="zh-CN" altLang="en-US" sz="1000" b="0" dirty="0"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38989" y="3669358"/>
            <a:ext cx="1110719" cy="338554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algn="ctr" defTabSz="1219200">
              <a:lnSpc>
                <a:spcPct val="100000"/>
              </a:lnSpc>
              <a:spcBef>
                <a:spcPct val="20000"/>
              </a:spcBef>
              <a:defRPr b="1">
                <a:solidFill>
                  <a:srgbClr val="000000">
                    <a:lumMod val="75000"/>
                    <a:lumOff val="25000"/>
                  </a:srgb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zh-CN" sz="1200" b="0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前端</a:t>
            </a:r>
            <a:endParaRPr lang="zh-CN" altLang="zh-CN" sz="1200" b="0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53699" y="3669358"/>
            <a:ext cx="1110719" cy="338554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algn="ctr" defTabSz="1219200">
              <a:lnSpc>
                <a:spcPct val="100000"/>
              </a:lnSpc>
              <a:spcBef>
                <a:spcPct val="20000"/>
              </a:spcBef>
              <a:defRPr b="1">
                <a:solidFill>
                  <a:srgbClr val="000000">
                    <a:lumMod val="75000"/>
                    <a:lumOff val="25000"/>
                  </a:srgb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zh-CN" sz="1200" b="0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安全</a:t>
            </a:r>
            <a:endParaRPr lang="zh-CN" altLang="zh-CN" sz="1200" b="0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968409" y="3669358"/>
            <a:ext cx="1110719" cy="338554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algn="ctr" defTabSz="1219200">
              <a:lnSpc>
                <a:spcPct val="100000"/>
              </a:lnSpc>
              <a:spcBef>
                <a:spcPct val="20000"/>
              </a:spcBef>
              <a:defRPr b="1">
                <a:solidFill>
                  <a:srgbClr val="000000">
                    <a:lumMod val="75000"/>
                    <a:lumOff val="25000"/>
                  </a:srgb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zh-CN" sz="1200" b="0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后端</a:t>
            </a:r>
            <a:endParaRPr lang="zh-CN" altLang="zh-CN" sz="1200" b="0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483119" y="3669358"/>
            <a:ext cx="1110719" cy="338554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algn="ctr" defTabSz="1219200">
              <a:lnSpc>
                <a:spcPct val="100000"/>
              </a:lnSpc>
              <a:spcBef>
                <a:spcPct val="20000"/>
              </a:spcBef>
              <a:defRPr b="1">
                <a:solidFill>
                  <a:srgbClr val="000000">
                    <a:lumMod val="75000"/>
                    <a:lumOff val="25000"/>
                  </a:srgb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zh-CN" sz="1200" b="0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工程化</a:t>
            </a:r>
            <a:endParaRPr lang="zh-CN" altLang="zh-CN" sz="1200" b="0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997829" y="3669358"/>
            <a:ext cx="1110719" cy="338554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algn="ctr" defTabSz="1219200">
              <a:lnSpc>
                <a:spcPct val="100000"/>
              </a:lnSpc>
              <a:spcBef>
                <a:spcPct val="20000"/>
              </a:spcBef>
              <a:defRPr b="1">
                <a:solidFill>
                  <a:srgbClr val="000000">
                    <a:lumMod val="75000"/>
                    <a:lumOff val="25000"/>
                  </a:srgb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zh-CN" sz="1200" b="0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桌面端</a:t>
            </a:r>
            <a:endParaRPr lang="zh-CN" altLang="zh-CN" sz="1200" b="0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191002" y="69850"/>
            <a:ext cx="3809998" cy="646331"/>
          </a:xfrm>
          <a:prstGeom prst="rect">
            <a:avLst/>
          </a:prstGeom>
          <a:noFill/>
        </p:spPr>
        <p:txBody>
          <a:bodyPr wrap="square" lIns="45720" tIns="27432" rIns="45720" bIns="27432"/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600" b="1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技术架构与工程化</a:t>
            </a:r>
            <a:endParaRPr lang="zh-CN" altLang="en-US" sz="3600" b="1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2141839" y="346785"/>
            <a:ext cx="7908323" cy="108542"/>
            <a:chOff x="1837039" y="691984"/>
            <a:chExt cx="7908323" cy="108542"/>
          </a:xfrm>
        </p:grpSpPr>
        <p:cxnSp>
          <p:nvCxnSpPr>
            <p:cNvPr id="57" name="直接连接符 56"/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/>
          <p:cNvSpPr txBox="1"/>
          <p:nvPr/>
        </p:nvSpPr>
        <p:spPr>
          <a:xfrm>
            <a:off x="9125712" y="2048256"/>
            <a:ext cx="246888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/>
            <a:r>
              <a:rPr lang="zh-CN" altLang="en-US" sz="1000" b="0" dirty="0"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架构简图</a:t>
            </a:r>
            <a:endParaRPr lang="zh-CN" altLang="en-US" sz="1000" b="0" dirty="0"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9098280" y="2331720"/>
            <a:ext cx="2487168" cy="384048"/>
          </a:xfrm>
          <a:prstGeom prst="roundRect">
            <a:avLst/>
          </a:prstGeom>
          <a:solidFill>
            <a:srgbClr val="444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125712" y="2359152"/>
            <a:ext cx="2432304" cy="32918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/>
            <a:r>
              <a:rPr lang="zh-CN" altLang="en-US" sz="1000" b="0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浏览器 / 桌面端</a:t>
            </a:r>
            <a:endParaRPr lang="zh-CN" altLang="en-US" sz="1000" b="0" dirty="0">
              <a:solidFill>
                <a:srgbClr val="FFFFF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65" name="Down Arrow 64"/>
          <p:cNvSpPr/>
          <p:nvPr/>
        </p:nvSpPr>
        <p:spPr>
          <a:xfrm>
            <a:off x="10259568" y="2743200"/>
            <a:ext cx="164592" cy="201168"/>
          </a:xfrm>
          <a:prstGeom prst="downArrow">
            <a:avLst/>
          </a:prstGeom>
          <a:solidFill>
            <a:srgbClr val="9AA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098280" y="2962656"/>
            <a:ext cx="2487168" cy="384048"/>
          </a:xfrm>
          <a:prstGeom prst="roundRect">
            <a:avLst/>
          </a:prstGeom>
          <a:solidFill>
            <a:srgbClr val="444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125712" y="2990088"/>
            <a:ext cx="2432304" cy="32918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/>
            <a:r>
              <a:rPr lang="zh-CN" altLang="en-US" sz="1000" b="0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Spring Boot 3 API</a:t>
            </a:r>
            <a:endParaRPr lang="zh-CN" altLang="en-US" sz="1000" b="0" dirty="0">
              <a:solidFill>
                <a:srgbClr val="FFFFF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68" name="Down Arrow 67"/>
          <p:cNvSpPr/>
          <p:nvPr/>
        </p:nvSpPr>
        <p:spPr>
          <a:xfrm>
            <a:off x="10259568" y="3374136"/>
            <a:ext cx="164592" cy="201168"/>
          </a:xfrm>
          <a:prstGeom prst="downArrow">
            <a:avLst/>
          </a:prstGeom>
          <a:solidFill>
            <a:srgbClr val="9AA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098280" y="3593592"/>
            <a:ext cx="2487168" cy="384048"/>
          </a:xfrm>
          <a:prstGeom prst="roundRect">
            <a:avLst/>
          </a:prstGeom>
          <a:solidFill>
            <a:srgbClr val="444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125712" y="3621024"/>
            <a:ext cx="2432304" cy="32918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/>
            <a:r>
              <a:rPr lang="zh-CN" altLang="en-US" sz="1000" b="0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MySQL 8（init.sql）</a:t>
            </a:r>
            <a:endParaRPr lang="zh-CN" altLang="en-US" sz="1000" b="0" dirty="0">
              <a:solidFill>
                <a:srgbClr val="FFFFF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11503152" y="2715768"/>
            <a:ext cx="0" cy="1911096"/>
          </a:xfrm>
          <a:prstGeom prst="line">
            <a:avLst/>
          </a:prstGeom>
          <a:ln w="15875">
            <a:solidFill>
              <a:srgbClr val="9AA0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9098280" y="4626864"/>
            <a:ext cx="2487168" cy="548640"/>
          </a:xfrm>
          <a:prstGeom prst="roundRect">
            <a:avLst/>
          </a:prstGeom>
          <a:solidFill>
            <a:srgbClr val="E8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125712" y="4654296"/>
            <a:ext cx="2432304" cy="49377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/>
            <a:r>
              <a:rPr lang="zh-CN" altLang="en-US" sz="1000" b="1" dirty="0"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用户自选大模型服务商</a:t>
            </a:r>
            <a:endParaRPr lang="zh-CN" altLang="en-US" sz="1000" b="1" dirty="0"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  <a:p>
            <a:pPr algn="ctr"/>
            <a:r>
              <a:rPr lang="zh-CN" altLang="en-US" sz="900" b="0" dirty="0"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AI 支路 · 前端直连 · Key 存本机</a:t>
            </a:r>
            <a:endParaRPr lang="zh-CN" altLang="en-US" sz="900" b="0" dirty="0"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圆角矩形 24"/>
          <p:cNvSpPr/>
          <p:nvPr/>
        </p:nvSpPr>
        <p:spPr>
          <a:xfrm>
            <a:off x="5127194" y="4378604"/>
            <a:ext cx="1937613" cy="605138"/>
          </a:xfrm>
          <a:prstGeom prst="roundRect">
            <a:avLst>
              <a:gd name="adj" fmla="val 50000"/>
            </a:avLst>
          </a:prstGeom>
          <a:solidFill>
            <a:srgbClr val="444EF7"/>
          </a:solidFill>
          <a:ln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8876195" y="4378604"/>
            <a:ext cx="1937613" cy="605138"/>
          </a:xfrm>
          <a:prstGeom prst="roundRect">
            <a:avLst>
              <a:gd name="adj" fmla="val 50000"/>
            </a:avLst>
          </a:prstGeom>
          <a:solidFill>
            <a:srgbClr val="444EF7"/>
          </a:solidFill>
          <a:ln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288156" y="4378604"/>
            <a:ext cx="1937613" cy="605138"/>
          </a:xfrm>
          <a:prstGeom prst="roundRect">
            <a:avLst>
              <a:gd name="adj" fmla="val 50000"/>
            </a:avLst>
          </a:prstGeom>
          <a:solidFill>
            <a:srgbClr val="444EF7"/>
          </a:solidFill>
          <a:ln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79" name="矩形78"/>
          <p:cNvSpPr/>
          <p:nvPr/>
        </p:nvSpPr>
        <p:spPr>
          <a:xfrm>
            <a:off x="1391955" y="2282850"/>
            <a:ext cx="1730018" cy="1730018"/>
          </a:xfrm>
          <a:prstGeom prst="flowChartDecision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391955" y="2439526"/>
            <a:ext cx="1730018" cy="1730018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5">
              <a:solidFill>
                <a:srgbClr val="FFFFF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232758" y="2279670"/>
            <a:ext cx="1730018" cy="1730018"/>
          </a:xfrm>
          <a:prstGeom prst="flowChartDecision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88" name="矩形87"/>
          <p:cNvSpPr/>
          <p:nvPr/>
        </p:nvSpPr>
        <p:spPr>
          <a:xfrm>
            <a:off x="5232758" y="2436347"/>
            <a:ext cx="1730018" cy="1730018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5">
              <a:solidFill>
                <a:srgbClr val="FFFFF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9003603" y="2273387"/>
            <a:ext cx="1730018" cy="1730018"/>
          </a:xfrm>
          <a:prstGeom prst="flowChartDecision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9003603" y="2430063"/>
            <a:ext cx="1730018" cy="1730018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5">
              <a:solidFill>
                <a:srgbClr val="FFFFF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14" name="Text Placeholder 33"/>
          <p:cNvSpPr txBox="1"/>
          <p:nvPr/>
        </p:nvSpPr>
        <p:spPr>
          <a:xfrm>
            <a:off x="1556940" y="4481118"/>
            <a:ext cx="1328397" cy="400110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lnSpc>
                <a:spcPct val="150000"/>
              </a:lnSpc>
              <a:spcBef>
                <a:spcPct val="20000"/>
              </a:spcBef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1400" b="0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本地模型</a:t>
            </a:r>
            <a:endParaRPr lang="zh-CN" altLang="en-US" sz="1400" b="0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16" name="Text Placeholder 33"/>
          <p:cNvSpPr txBox="1"/>
          <p:nvPr/>
        </p:nvSpPr>
        <p:spPr>
          <a:xfrm>
            <a:off x="5432886" y="4481118"/>
            <a:ext cx="1326229" cy="400110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lnSpc>
                <a:spcPct val="150000"/>
              </a:lnSpc>
              <a:spcBef>
                <a:spcPct val="20000"/>
              </a:spcBef>
              <a:defRPr sz="8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1400" b="0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人工确认</a:t>
            </a:r>
            <a:endParaRPr lang="zh-CN" altLang="en-US" sz="1400" b="0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17" name="TextBox 20"/>
          <p:cNvSpPr txBox="1"/>
          <p:nvPr/>
        </p:nvSpPr>
        <p:spPr>
          <a:xfrm>
            <a:off x="1059679" y="5225042"/>
            <a:ext cx="2322920" cy="830997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05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支持本地大模型（Ollama），需要数据完全不出内网时可选</a:t>
            </a:r>
            <a:endParaRPr lang="zh-CN" altLang="en-US" sz="105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119" name="TextBox 20"/>
          <p:cNvSpPr txBox="1"/>
          <p:nvPr/>
        </p:nvSpPr>
        <p:spPr>
          <a:xfrm>
            <a:off x="4934540" y="5203565"/>
            <a:ext cx="2322920" cy="830997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05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AI 不参与自动决策：判分、权限、入库全为确定性代码，AI 输出仅为“建议 / 草稿”，人工确认后生效</a:t>
            </a:r>
            <a:endParaRPr lang="zh-CN" altLang="en-US" sz="105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121" name="Text Placeholder 33"/>
          <p:cNvSpPr txBox="1"/>
          <p:nvPr/>
        </p:nvSpPr>
        <p:spPr>
          <a:xfrm>
            <a:off x="9181887" y="4481118"/>
            <a:ext cx="1326229" cy="400110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lnSpc>
                <a:spcPct val="150000"/>
              </a:lnSpc>
              <a:spcBef>
                <a:spcPct val="20000"/>
              </a:spcBef>
              <a:defRPr sz="8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1400" b="0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无 Key 可用</a:t>
            </a:r>
            <a:endParaRPr lang="zh-CN" altLang="en-US" sz="1400" b="0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23" name="TextBox 20"/>
          <p:cNvSpPr txBox="1"/>
          <p:nvPr/>
        </p:nvSpPr>
        <p:spPr>
          <a:xfrm>
            <a:off x="8683541" y="5203565"/>
            <a:ext cx="2322920" cy="830997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05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无 Key 不影响全部核心功能 —— 练习、判分、统计完全可用</a:t>
            </a:r>
            <a:endParaRPr lang="zh-CN" altLang="en-US" sz="105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74" name="Text Placeholder 33"/>
          <p:cNvSpPr txBox="1"/>
          <p:nvPr/>
        </p:nvSpPr>
        <p:spPr>
          <a:xfrm>
            <a:off x="1675130" y="2997008"/>
            <a:ext cx="1092018" cy="58477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lnSpc>
                <a:spcPct val="150000"/>
              </a:lnSpc>
              <a:spcBef>
                <a:spcPct val="20000"/>
              </a:spcBef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zh-CN" sz="2000" b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④</a:t>
            </a:r>
            <a:endParaRPr lang="zh-CN" altLang="zh-CN" sz="2000" b="0" dirty="0" smtClean="0">
              <a:solidFill>
                <a:srgbClr val="000000">
                  <a:lumMod val="75000"/>
                  <a:lumOff val="25000"/>
                </a:srgb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81" name="Text Placeholder 33"/>
          <p:cNvSpPr txBox="1"/>
          <p:nvPr/>
        </p:nvSpPr>
        <p:spPr>
          <a:xfrm>
            <a:off x="5497911" y="2997008"/>
            <a:ext cx="1092018" cy="58477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lnSpc>
                <a:spcPct val="150000"/>
              </a:lnSpc>
              <a:spcBef>
                <a:spcPct val="20000"/>
              </a:spcBef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zh-CN" sz="2000" b="0" dirty="0">
                <a:solidFill>
                  <a:srgbClr val="000000">
                    <a:lumMod val="75000"/>
                    <a:lumOff val="25000"/>
                  </a:srgb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⑤</a:t>
            </a:r>
            <a:endParaRPr lang="zh-CN" altLang="zh-CN" sz="2000" b="0" dirty="0">
              <a:solidFill>
                <a:srgbClr val="000000">
                  <a:lumMod val="75000"/>
                  <a:lumOff val="25000"/>
                </a:srgb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89" name="Text Placeholder 33"/>
          <p:cNvSpPr txBox="1"/>
          <p:nvPr/>
        </p:nvSpPr>
        <p:spPr>
          <a:xfrm>
            <a:off x="9283882" y="2997008"/>
            <a:ext cx="1092018" cy="58477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lnSpc>
                <a:spcPct val="150000"/>
              </a:lnSpc>
              <a:spcBef>
                <a:spcPct val="20000"/>
              </a:spcBef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zh-CN" sz="2000" b="0" dirty="0">
                <a:solidFill>
                  <a:srgbClr val="000000">
                    <a:lumMod val="75000"/>
                    <a:lumOff val="25000"/>
                  </a:srgb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⑥</a:t>
            </a:r>
            <a:endParaRPr lang="zh-CN" altLang="zh-CN" sz="2000" b="0" dirty="0">
              <a:solidFill>
                <a:srgbClr val="000000">
                  <a:lumMod val="75000"/>
                  <a:lumOff val="25000"/>
                </a:srgb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191002" y="69850"/>
            <a:ext cx="3809998" cy="646331"/>
          </a:xfrm>
          <a:prstGeom prst="rect">
            <a:avLst/>
          </a:prstGeom>
          <a:noFill/>
        </p:spPr>
        <p:txBody>
          <a:bodyPr wrap="square" lIns="45720" tIns="27432" rIns="45720" bIns="27432"/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2500" b="1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数据自主可控 × AI 隐私</a:t>
            </a:r>
            <a:endParaRPr lang="zh-CN" altLang="en-US" sz="2500" b="1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141839" y="346785"/>
            <a:ext cx="7908323" cy="108542"/>
            <a:chOff x="1837039" y="691984"/>
            <a:chExt cx="7908323" cy="108542"/>
          </a:xfrm>
        </p:grpSpPr>
        <p:cxnSp>
          <p:nvCxnSpPr>
            <p:cNvPr id="31" name="直接连接符 30"/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Rounded Rectangle 123"/>
          <p:cNvSpPr/>
          <p:nvPr/>
        </p:nvSpPr>
        <p:spPr>
          <a:xfrm>
            <a:off x="539496" y="1316736"/>
            <a:ext cx="11082528" cy="1920240"/>
          </a:xfrm>
          <a:prstGeom prst="roundRect">
            <a:avLst/>
          </a:prstGeom>
          <a:solidFill>
            <a:srgbClr val="F1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777240" y="1389888"/>
            <a:ext cx="10607040" cy="17830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35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① 可私有化部署：学校可部署在内网，题目与练习数据不出校</a:t>
            </a:r>
            <a:endParaRPr lang="zh-CN" altLang="en-US" sz="135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pPr algn="l"/>
            <a:r>
              <a:rPr lang="zh-CN" altLang="en-US" sz="135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② AI 由用户自己配置服务商与 Key，Key 只存本机浏览器，不上传本项目服务器</a:t>
            </a:r>
            <a:endParaRPr lang="zh-CN" altLang="en-US" sz="135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pPr algn="l"/>
            <a:r>
              <a:rPr lang="zh-CN" altLang="en-US" sz="135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③ 仅用户点击分析 / 补全时，才把当前单题文本或统计摘要发送给大模型，无隐式收集</a:t>
            </a:r>
            <a:endParaRPr lang="zh-CN" altLang="en-US" sz="135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8813" y="4453190"/>
            <a:ext cx="6428606" cy="1763709"/>
          </a:xfrm>
          <a:prstGeom prst="rect">
            <a:avLst/>
          </a:prstGeom>
          <a:solidFill>
            <a:schemeClr val="bg1"/>
          </a:solidFill>
          <a:ln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74" name="Group 11"/>
          <p:cNvGrpSpPr/>
          <p:nvPr/>
        </p:nvGrpSpPr>
        <p:grpSpPr>
          <a:xfrm>
            <a:off x="658813" y="4056905"/>
            <a:ext cx="1499614" cy="396286"/>
            <a:chOff x="4561827" y="3437117"/>
            <a:chExt cx="1499779" cy="396330"/>
          </a:xfrm>
          <a:solidFill>
            <a:srgbClr val="444EF7"/>
          </a:solidFill>
        </p:grpSpPr>
        <p:sp>
          <p:nvSpPr>
            <p:cNvPr id="87" name="矩形"/>
            <p:cNvSpPr/>
            <p:nvPr/>
          </p:nvSpPr>
          <p:spPr>
            <a:xfrm rot="5400000" flipH="1">
              <a:off x="5186867" y="2958707"/>
              <a:ext cx="249700" cy="1499779"/>
            </a:xfrm>
            <a:prstGeom prst="round2SameRect">
              <a:avLst>
                <a:gd name="adj1" fmla="val 0"/>
                <a:gd name="adj2" fmla="val 0"/>
              </a:avLst>
            </a:prstGeom>
            <a:gradFill>
              <a:gsLst>
                <a:gs pos="0">
                  <a:srgbClr val="444EF7"/>
                </a:gs>
                <a:gs pos="95000">
                  <a:srgbClr val="444EF7"/>
                </a:gs>
              </a:gsLst>
              <a:lin ang="2400000" scaled="0"/>
            </a:gradFill>
            <a:ln>
              <a:solidFill>
                <a:srgbClr val="444EF7"/>
              </a:solidFill>
            </a:ln>
            <a:effectLst>
              <a:outerShdw blurRad="393700" dist="63500" dir="5400000" algn="t" rotWithShape="0">
                <a:srgbClr val="444EF7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2400" b="1" u="sng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88" name="Oval 15"/>
            <p:cNvSpPr/>
            <p:nvPr/>
          </p:nvSpPr>
          <p:spPr>
            <a:xfrm>
              <a:off x="5220257" y="3437117"/>
              <a:ext cx="320492" cy="320492"/>
            </a:xfrm>
            <a:prstGeom prst="ellipse">
              <a:avLst/>
            </a:prstGeom>
            <a:gradFill>
              <a:gsLst>
                <a:gs pos="0">
                  <a:srgbClr val="444EF7"/>
                </a:gs>
                <a:gs pos="95000">
                  <a:srgbClr val="444EF7"/>
                </a:gs>
              </a:gsLst>
              <a:lin ang="2400000" scaled="0"/>
            </a:gradFill>
            <a:ln>
              <a:noFill/>
            </a:ln>
            <a:effectLst>
              <a:outerShdw blurRad="393700" dist="63500" dir="5400000" algn="t" rotWithShape="0">
                <a:srgbClr val="444EF7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2400" b="1" u="sng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</p:grpSp>
      <p:sp>
        <p:nvSpPr>
          <p:cNvPr id="80" name="TextBox 18"/>
          <p:cNvSpPr txBox="1"/>
          <p:nvPr/>
        </p:nvSpPr>
        <p:spPr>
          <a:xfrm>
            <a:off x="963626" y="4852925"/>
            <a:ext cx="1595775" cy="46166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2400" b="0" dirty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一键部署</a:t>
            </a:r>
            <a:endParaRPr lang="zh-CN" altLang="en-US" sz="2400" b="0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81" name="TextBox 20"/>
          <p:cNvSpPr txBox="1"/>
          <p:nvPr/>
        </p:nvSpPr>
        <p:spPr>
          <a:xfrm>
            <a:off x="963627" y="5421937"/>
            <a:ext cx="2826399" cy="584775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10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MySQL 导入 init.sql → 启动后端 jar → 托管前端即可</a:t>
            </a:r>
            <a:endParaRPr lang="zh-CN" altLang="en-US" sz="110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191002" y="69850"/>
            <a:ext cx="3809998" cy="646331"/>
          </a:xfrm>
          <a:prstGeom prst="rect">
            <a:avLst/>
          </a:prstGeom>
          <a:noFill/>
        </p:spPr>
        <p:txBody>
          <a:bodyPr wrap="square" lIns="45720" tIns="27432" rIns="45720" bIns="27432"/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6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开源与交付</a:t>
            </a:r>
            <a:endParaRPr lang="zh-CN" altLang="en-US" sz="36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2141839" y="346785"/>
            <a:ext cx="7908323" cy="108542"/>
            <a:chOff x="1837039" y="691984"/>
            <a:chExt cx="7908323" cy="108542"/>
          </a:xfrm>
        </p:grpSpPr>
        <p:cxnSp>
          <p:nvCxnSpPr>
            <p:cNvPr id="41" name="直接连接符 40"/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Rectangle 14"/>
          <p:cNvSpPr/>
          <p:nvPr/>
        </p:nvSpPr>
        <p:spPr>
          <a:xfrm>
            <a:off x="7488393" y="1422400"/>
            <a:ext cx="4008282" cy="4814888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8002263" y="2634383"/>
            <a:ext cx="1453877" cy="246221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pPr>
              <a:defRPr/>
            </a:pPr>
            <a:r>
              <a:rPr lang="zh-CN" altLang="zh-CN" sz="1000" b="0" dirty="0" smtClean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GITHUB RELEASES</a:t>
            </a:r>
            <a:endParaRPr lang="zh-CN" altLang="zh-CN" sz="1000" b="0" dirty="0" smtClean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002263" y="1716604"/>
            <a:ext cx="2625144" cy="1015663"/>
          </a:xfrm>
          <a:prstGeom prst="rect">
            <a:avLst/>
          </a:prstGeom>
          <a:noFill/>
        </p:spPr>
        <p:txBody>
          <a:bodyPr wrap="square" lIns="45720" tIns="27432" rIns="45720" bIns="27432"/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00000"/>
              </a:lnSpc>
              <a:defRPr/>
            </a:pPr>
            <a:r>
              <a:rPr lang="zh-CN" altLang="zh-CN" sz="5900" b="1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9</a:t>
            </a:r>
            <a:endParaRPr lang="zh-CN" altLang="zh-CN" sz="5900" b="1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8107038" y="2982132"/>
            <a:ext cx="823914" cy="62804"/>
            <a:chOff x="5685630" y="1095375"/>
            <a:chExt cx="823914" cy="62804"/>
          </a:xfrm>
          <a:solidFill>
            <a:schemeClr val="bg1"/>
          </a:solidFill>
        </p:grpSpPr>
        <p:cxnSp>
          <p:nvCxnSpPr>
            <p:cNvPr id="64" name="直接连接符 63"/>
            <p:cNvCxnSpPr/>
            <p:nvPr/>
          </p:nvCxnSpPr>
          <p:spPr>
            <a:xfrm>
              <a:off x="5969000" y="1095375"/>
              <a:ext cx="257175" cy="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6252369" y="1095375"/>
              <a:ext cx="257175" cy="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5685630" y="1095375"/>
              <a:ext cx="257175" cy="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等腰三角形 84"/>
            <p:cNvSpPr/>
            <p:nvPr/>
          </p:nvSpPr>
          <p:spPr>
            <a:xfrm flipV="1">
              <a:off x="6043611" y="1109375"/>
              <a:ext cx="104775" cy="48804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</p:grpSp>
      <p:sp>
        <p:nvSpPr>
          <p:cNvPr id="86" name="文本框 66"/>
          <p:cNvSpPr txBox="1">
            <a:spLocks noChangeArrowheads="1"/>
          </p:cNvSpPr>
          <p:nvPr/>
        </p:nvSpPr>
        <p:spPr bwMode="auto">
          <a:xfrm>
            <a:off x="8006383" y="4363726"/>
            <a:ext cx="2842066" cy="1569660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lnSpc>
                <a:spcPct val="100000"/>
              </a:lnSpc>
              <a:defRPr sz="1600" u="none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1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开源免费 · 拿来即用：任何人都能下载、修改甚至商用；三平台安装包与后端 jar 均可直接下载。</a:t>
            </a:r>
            <a:endParaRPr lang="zh-CN" altLang="en-US" sz="11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98" name="文本框 13"/>
          <p:cNvSpPr txBox="1">
            <a:spLocks noChangeArrowheads="1"/>
          </p:cNvSpPr>
          <p:nvPr/>
        </p:nvSpPr>
        <p:spPr bwMode="auto">
          <a:xfrm>
            <a:off x="8002263" y="3540106"/>
            <a:ext cx="30572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27432" rIns="45720" bIns="27432"/>
          <a:lstStyle>
            <a:defPPr>
              <a:defRPr lang="zh-CN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685800" fontAlgn="base">
              <a:spcBef>
                <a:spcPct val="0"/>
              </a:spcBef>
              <a:spcAft>
                <a:spcPct val="0"/>
              </a:spcAft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sz="3200" b="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个版本已发布</a:t>
            </a:r>
            <a:endParaRPr lang="zh-CN" altLang="en-US" sz="3200" b="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658813" y="1902814"/>
            <a:ext cx="6428606" cy="1763709"/>
          </a:xfrm>
          <a:prstGeom prst="rect">
            <a:avLst/>
          </a:prstGeom>
          <a:solidFill>
            <a:schemeClr val="bg1"/>
          </a:solidFill>
          <a:ln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101" name="Group 11"/>
          <p:cNvGrpSpPr/>
          <p:nvPr/>
        </p:nvGrpSpPr>
        <p:grpSpPr>
          <a:xfrm>
            <a:off x="658813" y="1506529"/>
            <a:ext cx="1499614" cy="396286"/>
            <a:chOff x="4561827" y="3437117"/>
            <a:chExt cx="1499779" cy="396330"/>
          </a:xfrm>
          <a:solidFill>
            <a:srgbClr val="444EF7"/>
          </a:solidFill>
        </p:grpSpPr>
        <p:sp>
          <p:nvSpPr>
            <p:cNvPr id="102" name="矩形"/>
            <p:cNvSpPr/>
            <p:nvPr/>
          </p:nvSpPr>
          <p:spPr>
            <a:xfrm rot="5400000" flipH="1">
              <a:off x="5186867" y="2958707"/>
              <a:ext cx="249700" cy="1499779"/>
            </a:xfrm>
            <a:prstGeom prst="round2SameRect">
              <a:avLst>
                <a:gd name="adj1" fmla="val 0"/>
                <a:gd name="adj2" fmla="val 0"/>
              </a:avLst>
            </a:prstGeom>
            <a:gradFill>
              <a:gsLst>
                <a:gs pos="0">
                  <a:srgbClr val="444EF7"/>
                </a:gs>
                <a:gs pos="95000">
                  <a:srgbClr val="444EF7"/>
                </a:gs>
              </a:gsLst>
              <a:lin ang="2400000" scaled="0"/>
            </a:gradFill>
            <a:ln>
              <a:solidFill>
                <a:srgbClr val="444EF7"/>
              </a:solidFill>
            </a:ln>
            <a:effectLst>
              <a:outerShdw blurRad="393700" dist="63500" dir="5400000" algn="t" rotWithShape="0">
                <a:srgbClr val="444EF7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2400" b="1" u="sng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03" name="Oval 15"/>
            <p:cNvSpPr/>
            <p:nvPr/>
          </p:nvSpPr>
          <p:spPr>
            <a:xfrm>
              <a:off x="5220257" y="3437117"/>
              <a:ext cx="320492" cy="320492"/>
            </a:xfrm>
            <a:prstGeom prst="ellipse">
              <a:avLst/>
            </a:prstGeom>
            <a:gradFill>
              <a:gsLst>
                <a:gs pos="0">
                  <a:srgbClr val="444EF7"/>
                </a:gs>
                <a:gs pos="95000">
                  <a:srgbClr val="444EF7"/>
                </a:gs>
              </a:gsLst>
              <a:lin ang="2400000" scaled="0"/>
            </a:gradFill>
            <a:ln>
              <a:noFill/>
            </a:ln>
            <a:effectLst>
              <a:outerShdw blurRad="393700" dist="63500" dir="5400000" algn="t" rotWithShape="0">
                <a:srgbClr val="444EF7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2400" b="1" u="sng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</p:grpSp>
      <p:sp>
        <p:nvSpPr>
          <p:cNvPr id="104" name="TextBox 18"/>
          <p:cNvSpPr txBox="1"/>
          <p:nvPr/>
        </p:nvSpPr>
        <p:spPr>
          <a:xfrm>
            <a:off x="963626" y="2302549"/>
            <a:ext cx="1595775" cy="46166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2400" b="0" dirty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MIT 开源</a:t>
            </a:r>
            <a:endParaRPr lang="zh-CN" altLang="en-US" sz="2400" b="0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105" name="TextBox 20"/>
          <p:cNvSpPr txBox="1"/>
          <p:nvPr/>
        </p:nvSpPr>
        <p:spPr>
          <a:xfrm>
            <a:off x="963627" y="2871561"/>
            <a:ext cx="2826399" cy="584775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10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GitHub 公开仓库（MIT 协议），100 次提交、9 个 Release（含正式版 v1.3.0）</a:t>
            </a:r>
            <a:endParaRPr lang="zh-CN" altLang="en-US" sz="110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297680" y="2011680"/>
            <a:ext cx="2743200" cy="1554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400" b="1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交付物齐全</a:t>
            </a:r>
            <a:endParaRPr lang="zh-CN" altLang="en-US" sz="1400" b="1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pPr algn="l"/>
            <a:r>
              <a:rPr lang="zh-CN" altLang="en-US" sz="105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Windows .exe / macOS .dmg / Linux .deb、.AppImage 桌面安装包 + 后端 jar + 网页版</a:t>
            </a:r>
            <a:endParaRPr lang="zh-CN" altLang="en-US" sz="105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297680" y="4572000"/>
            <a:ext cx="2743200" cy="1554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/>
            <a:r>
              <a:rPr lang="zh-CN" altLang="en-US" sz="1400" b="1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完整文档</a:t>
            </a:r>
            <a:endParaRPr lang="zh-CN" altLang="en-US" sz="1400" b="1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pPr algn="l"/>
            <a:r>
              <a:rPr lang="zh-CN" altLang="en-US" sz="105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README、CHANGELOG、部署指南、AI 配置说明</a:t>
            </a:r>
            <a:endParaRPr lang="zh-CN" altLang="en-US" sz="105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976739" y="4507333"/>
            <a:ext cx="2976261" cy="1617496"/>
          </a:xfrm>
          <a:prstGeom prst="roundRect">
            <a:avLst/>
          </a:prstGeom>
          <a:solidFill>
            <a:schemeClr val="bg1"/>
          </a:solidFill>
          <a:ln>
            <a:solidFill>
              <a:srgbClr val="444EF7"/>
            </a:solidFill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843677" y="4228351"/>
            <a:ext cx="2104272" cy="504363"/>
          </a:xfrm>
          <a:prstGeom prst="roundRect">
            <a:avLst>
              <a:gd name="adj" fmla="val 50000"/>
            </a:avLst>
          </a:prstGeom>
          <a:solidFill>
            <a:srgbClr val="444EF7"/>
          </a:solidFill>
          <a:ln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62" name="矩形 689"/>
          <p:cNvSpPr/>
          <p:nvPr/>
        </p:nvSpPr>
        <p:spPr bwMode="auto">
          <a:xfrm>
            <a:off x="658813" y="1576350"/>
            <a:ext cx="10837862" cy="2316200"/>
          </a:xfrm>
          <a:custGeom>
            <a:avLst/>
            <a:gdLst>
              <a:gd name="T0" fmla="*/ 0 w 2821"/>
              <a:gd name="T1" fmla="*/ 0 h 680"/>
              <a:gd name="T2" fmla="*/ 2506 w 2821"/>
              <a:gd name="T3" fmla="*/ 0 h 680"/>
              <a:gd name="T4" fmla="*/ 2676 w 2821"/>
              <a:gd name="T5" fmla="*/ 170 h 680"/>
              <a:gd name="T6" fmla="*/ 2506 w 2821"/>
              <a:gd name="T7" fmla="*/ 340 h 680"/>
              <a:gd name="T8" fmla="*/ 374 w 2821"/>
              <a:gd name="T9" fmla="*/ 340 h 680"/>
              <a:gd name="T10" fmla="*/ 204 w 2821"/>
              <a:gd name="T11" fmla="*/ 510 h 680"/>
              <a:gd name="T12" fmla="*/ 374 w 2821"/>
              <a:gd name="T13" fmla="*/ 680 h 680"/>
              <a:gd name="T14" fmla="*/ 2821 w 2821"/>
              <a:gd name="T15" fmla="*/ 680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21" h="680">
                <a:moveTo>
                  <a:pt x="0" y="0"/>
                </a:moveTo>
                <a:cubicBezTo>
                  <a:pt x="2506" y="0"/>
                  <a:pt x="2506" y="0"/>
                  <a:pt x="2506" y="0"/>
                </a:cubicBezTo>
                <a:cubicBezTo>
                  <a:pt x="2600" y="0"/>
                  <a:pt x="2676" y="76"/>
                  <a:pt x="2676" y="170"/>
                </a:cubicBezTo>
                <a:cubicBezTo>
                  <a:pt x="2676" y="264"/>
                  <a:pt x="2600" y="340"/>
                  <a:pt x="2506" y="340"/>
                </a:cubicBezTo>
                <a:cubicBezTo>
                  <a:pt x="374" y="340"/>
                  <a:pt x="374" y="340"/>
                  <a:pt x="374" y="340"/>
                </a:cubicBezTo>
                <a:cubicBezTo>
                  <a:pt x="280" y="340"/>
                  <a:pt x="204" y="416"/>
                  <a:pt x="204" y="510"/>
                </a:cubicBezTo>
                <a:cubicBezTo>
                  <a:pt x="204" y="604"/>
                  <a:pt x="280" y="680"/>
                  <a:pt x="374" y="680"/>
                </a:cubicBezTo>
                <a:cubicBezTo>
                  <a:pt x="2821" y="680"/>
                  <a:pt x="2821" y="680"/>
                  <a:pt x="2821" y="680"/>
                </a:cubicBezTo>
              </a:path>
            </a:pathLst>
          </a:custGeom>
          <a:noFill/>
          <a:ln w="12700" cap="flat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spc="-31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6" name="Rectangle 660"/>
          <p:cNvSpPr>
            <a:spLocks noChangeArrowheads="1"/>
          </p:cNvSpPr>
          <p:nvPr/>
        </p:nvSpPr>
        <p:spPr bwMode="auto">
          <a:xfrm>
            <a:off x="3077031" y="2348333"/>
            <a:ext cx="6037940" cy="92943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solidFill>
                <a:schemeClr val="lt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71865" y="2497149"/>
            <a:ext cx="2448272" cy="553998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/>
          <a:p>
            <a:pPr algn="ctr"/>
            <a:r>
              <a:rPr lang="zh-CN" sz="2400" b="0" u="sng" spc="-31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路线图</a:t>
            </a:r>
            <a:endParaRPr lang="zh-CN" sz="2400" b="0" u="sng" spc="-31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5" name="矩形663"/>
          <p:cNvSpPr/>
          <p:nvPr/>
        </p:nvSpPr>
        <p:spPr bwMode="auto">
          <a:xfrm>
            <a:off x="11266487" y="3819527"/>
            <a:ext cx="130175" cy="149225"/>
          </a:xfrm>
          <a:custGeom>
            <a:avLst/>
            <a:gdLst>
              <a:gd name="T0" fmla="*/ 0 w 82"/>
              <a:gd name="T1" fmla="*/ 0 h 94"/>
              <a:gd name="T2" fmla="*/ 82 w 82"/>
              <a:gd name="T3" fmla="*/ 46 h 94"/>
              <a:gd name="T4" fmla="*/ 0 w 82"/>
              <a:gd name="T5" fmla="*/ 94 h 94"/>
              <a:gd name="T6" fmla="*/ 0 w 82"/>
              <a:gd name="T7" fmla="*/ 0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" h="94">
                <a:moveTo>
                  <a:pt x="0" y="0"/>
                </a:moveTo>
                <a:lnTo>
                  <a:pt x="82" y="46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spc="-31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7" name="矩形 661"/>
          <p:cNvSpPr>
            <a:spLocks noEditPoints="1"/>
          </p:cNvSpPr>
          <p:nvPr/>
        </p:nvSpPr>
        <p:spPr bwMode="auto">
          <a:xfrm>
            <a:off x="4708527" y="2603500"/>
            <a:ext cx="254000" cy="196851"/>
          </a:xfrm>
          <a:custGeom>
            <a:avLst/>
            <a:gdLst>
              <a:gd name="T0" fmla="*/ 26 w 80"/>
              <a:gd name="T1" fmla="*/ 0 h 62"/>
              <a:gd name="T2" fmla="*/ 11 w 80"/>
              <a:gd name="T3" fmla="*/ 9 h 62"/>
              <a:gd name="T4" fmla="*/ 3 w 80"/>
              <a:gd name="T5" fmla="*/ 22 h 62"/>
              <a:gd name="T6" fmla="*/ 0 w 80"/>
              <a:gd name="T7" fmla="*/ 41 h 62"/>
              <a:gd name="T8" fmla="*/ 0 w 80"/>
              <a:gd name="T9" fmla="*/ 62 h 62"/>
              <a:gd name="T10" fmla="*/ 29 w 80"/>
              <a:gd name="T11" fmla="*/ 62 h 62"/>
              <a:gd name="T12" fmla="*/ 29 w 80"/>
              <a:gd name="T13" fmla="*/ 33 h 62"/>
              <a:gd name="T14" fmla="*/ 15 w 80"/>
              <a:gd name="T15" fmla="*/ 33 h 62"/>
              <a:gd name="T16" fmla="*/ 19 w 80"/>
              <a:gd name="T17" fmla="*/ 20 h 62"/>
              <a:gd name="T18" fmla="*/ 32 w 80"/>
              <a:gd name="T19" fmla="*/ 12 h 62"/>
              <a:gd name="T20" fmla="*/ 26 w 80"/>
              <a:gd name="T21" fmla="*/ 0 h 62"/>
              <a:gd name="T22" fmla="*/ 74 w 80"/>
              <a:gd name="T23" fmla="*/ 0 h 62"/>
              <a:gd name="T24" fmla="*/ 59 w 80"/>
              <a:gd name="T25" fmla="*/ 9 h 62"/>
              <a:gd name="T26" fmla="*/ 51 w 80"/>
              <a:gd name="T27" fmla="*/ 22 h 62"/>
              <a:gd name="T28" fmla="*/ 49 w 80"/>
              <a:gd name="T29" fmla="*/ 41 h 62"/>
              <a:gd name="T30" fmla="*/ 49 w 80"/>
              <a:gd name="T31" fmla="*/ 62 h 62"/>
              <a:gd name="T32" fmla="*/ 77 w 80"/>
              <a:gd name="T33" fmla="*/ 62 h 62"/>
              <a:gd name="T34" fmla="*/ 77 w 80"/>
              <a:gd name="T35" fmla="*/ 33 h 62"/>
              <a:gd name="T36" fmla="*/ 63 w 80"/>
              <a:gd name="T37" fmla="*/ 33 h 62"/>
              <a:gd name="T38" fmla="*/ 67 w 80"/>
              <a:gd name="T39" fmla="*/ 20 h 62"/>
              <a:gd name="T40" fmla="*/ 80 w 80"/>
              <a:gd name="T41" fmla="*/ 12 h 62"/>
              <a:gd name="T42" fmla="*/ 74 w 80"/>
              <a:gd name="T43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80" h="62">
                <a:moveTo>
                  <a:pt x="26" y="0"/>
                </a:moveTo>
                <a:cubicBezTo>
                  <a:pt x="20" y="2"/>
                  <a:pt x="15" y="5"/>
                  <a:pt x="11" y="9"/>
                </a:cubicBezTo>
                <a:cubicBezTo>
                  <a:pt x="7" y="12"/>
                  <a:pt x="4" y="17"/>
                  <a:pt x="3" y="22"/>
                </a:cubicBezTo>
                <a:cubicBezTo>
                  <a:pt x="1" y="26"/>
                  <a:pt x="0" y="33"/>
                  <a:pt x="0" y="41"/>
                </a:cubicBezTo>
                <a:cubicBezTo>
                  <a:pt x="0" y="62"/>
                  <a:pt x="0" y="62"/>
                  <a:pt x="0" y="62"/>
                </a:cubicBezTo>
                <a:cubicBezTo>
                  <a:pt x="29" y="62"/>
                  <a:pt x="29" y="62"/>
                  <a:pt x="29" y="62"/>
                </a:cubicBezTo>
                <a:cubicBezTo>
                  <a:pt x="29" y="33"/>
                  <a:pt x="29" y="33"/>
                  <a:pt x="29" y="33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27"/>
                  <a:pt x="17" y="23"/>
                  <a:pt x="19" y="20"/>
                </a:cubicBezTo>
                <a:cubicBezTo>
                  <a:pt x="22" y="16"/>
                  <a:pt x="26" y="13"/>
                  <a:pt x="32" y="12"/>
                </a:cubicBezTo>
                <a:cubicBezTo>
                  <a:pt x="26" y="0"/>
                  <a:pt x="26" y="0"/>
                  <a:pt x="26" y="0"/>
                </a:cubicBezTo>
                <a:moveTo>
                  <a:pt x="74" y="0"/>
                </a:moveTo>
                <a:cubicBezTo>
                  <a:pt x="68" y="2"/>
                  <a:pt x="63" y="5"/>
                  <a:pt x="59" y="9"/>
                </a:cubicBezTo>
                <a:cubicBezTo>
                  <a:pt x="55" y="12"/>
                  <a:pt x="52" y="17"/>
                  <a:pt x="51" y="22"/>
                </a:cubicBezTo>
                <a:cubicBezTo>
                  <a:pt x="49" y="26"/>
                  <a:pt x="49" y="33"/>
                  <a:pt x="49" y="41"/>
                </a:cubicBezTo>
                <a:cubicBezTo>
                  <a:pt x="49" y="62"/>
                  <a:pt x="49" y="62"/>
                  <a:pt x="49" y="62"/>
                </a:cubicBezTo>
                <a:cubicBezTo>
                  <a:pt x="77" y="62"/>
                  <a:pt x="77" y="62"/>
                  <a:pt x="77" y="62"/>
                </a:cubicBezTo>
                <a:cubicBezTo>
                  <a:pt x="77" y="33"/>
                  <a:pt x="77" y="33"/>
                  <a:pt x="77" y="33"/>
                </a:cubicBezTo>
                <a:cubicBezTo>
                  <a:pt x="63" y="33"/>
                  <a:pt x="63" y="33"/>
                  <a:pt x="63" y="33"/>
                </a:cubicBezTo>
                <a:cubicBezTo>
                  <a:pt x="64" y="27"/>
                  <a:pt x="65" y="23"/>
                  <a:pt x="67" y="20"/>
                </a:cubicBezTo>
                <a:cubicBezTo>
                  <a:pt x="70" y="16"/>
                  <a:pt x="74" y="13"/>
                  <a:pt x="80" y="12"/>
                </a:cubicBezTo>
                <a:cubicBezTo>
                  <a:pt x="74" y="0"/>
                  <a:pt x="74" y="0"/>
                  <a:pt x="74" y="0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spc="-31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8" name="矩形 662"/>
          <p:cNvSpPr>
            <a:spLocks noEditPoints="1"/>
          </p:cNvSpPr>
          <p:nvPr/>
        </p:nvSpPr>
        <p:spPr bwMode="auto">
          <a:xfrm>
            <a:off x="7229476" y="2603500"/>
            <a:ext cx="254000" cy="196851"/>
          </a:xfrm>
          <a:custGeom>
            <a:avLst/>
            <a:gdLst>
              <a:gd name="T0" fmla="*/ 31 w 80"/>
              <a:gd name="T1" fmla="*/ 0 h 62"/>
              <a:gd name="T2" fmla="*/ 3 w 80"/>
              <a:gd name="T3" fmla="*/ 0 h 62"/>
              <a:gd name="T4" fmla="*/ 3 w 80"/>
              <a:gd name="T5" fmla="*/ 29 h 62"/>
              <a:gd name="T6" fmla="*/ 17 w 80"/>
              <a:gd name="T7" fmla="*/ 29 h 62"/>
              <a:gd name="T8" fmla="*/ 13 w 80"/>
              <a:gd name="T9" fmla="*/ 42 h 62"/>
              <a:gd name="T10" fmla="*/ 0 w 80"/>
              <a:gd name="T11" fmla="*/ 50 h 62"/>
              <a:gd name="T12" fmla="*/ 6 w 80"/>
              <a:gd name="T13" fmla="*/ 62 h 62"/>
              <a:gd name="T14" fmla="*/ 21 w 80"/>
              <a:gd name="T15" fmla="*/ 53 h 62"/>
              <a:gd name="T16" fmla="*/ 29 w 80"/>
              <a:gd name="T17" fmla="*/ 40 h 62"/>
              <a:gd name="T18" fmla="*/ 31 w 80"/>
              <a:gd name="T19" fmla="*/ 21 h 62"/>
              <a:gd name="T20" fmla="*/ 31 w 80"/>
              <a:gd name="T21" fmla="*/ 0 h 62"/>
              <a:gd name="T22" fmla="*/ 80 w 80"/>
              <a:gd name="T23" fmla="*/ 0 h 62"/>
              <a:gd name="T24" fmla="*/ 51 w 80"/>
              <a:gd name="T25" fmla="*/ 0 h 62"/>
              <a:gd name="T26" fmla="*/ 51 w 80"/>
              <a:gd name="T27" fmla="*/ 29 h 62"/>
              <a:gd name="T28" fmla="*/ 65 w 80"/>
              <a:gd name="T29" fmla="*/ 29 h 62"/>
              <a:gd name="T30" fmla="*/ 61 w 80"/>
              <a:gd name="T31" fmla="*/ 42 h 62"/>
              <a:gd name="T32" fmla="*/ 49 w 80"/>
              <a:gd name="T33" fmla="*/ 50 h 62"/>
              <a:gd name="T34" fmla="*/ 54 w 80"/>
              <a:gd name="T35" fmla="*/ 62 h 62"/>
              <a:gd name="T36" fmla="*/ 69 w 80"/>
              <a:gd name="T37" fmla="*/ 53 h 62"/>
              <a:gd name="T38" fmla="*/ 77 w 80"/>
              <a:gd name="T39" fmla="*/ 40 h 62"/>
              <a:gd name="T40" fmla="*/ 80 w 80"/>
              <a:gd name="T41" fmla="*/ 21 h 62"/>
              <a:gd name="T42" fmla="*/ 80 w 80"/>
              <a:gd name="T43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80" h="62">
                <a:moveTo>
                  <a:pt x="31" y="0"/>
                </a:moveTo>
                <a:cubicBezTo>
                  <a:pt x="3" y="0"/>
                  <a:pt x="3" y="0"/>
                  <a:pt x="3" y="0"/>
                </a:cubicBezTo>
                <a:cubicBezTo>
                  <a:pt x="3" y="29"/>
                  <a:pt x="3" y="29"/>
                  <a:pt x="3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6" y="34"/>
                  <a:pt x="15" y="39"/>
                  <a:pt x="13" y="42"/>
                </a:cubicBezTo>
                <a:cubicBezTo>
                  <a:pt x="10" y="46"/>
                  <a:pt x="6" y="48"/>
                  <a:pt x="0" y="50"/>
                </a:cubicBezTo>
                <a:cubicBezTo>
                  <a:pt x="6" y="62"/>
                  <a:pt x="6" y="62"/>
                  <a:pt x="6" y="62"/>
                </a:cubicBezTo>
                <a:cubicBezTo>
                  <a:pt x="12" y="60"/>
                  <a:pt x="17" y="57"/>
                  <a:pt x="21" y="53"/>
                </a:cubicBezTo>
                <a:cubicBezTo>
                  <a:pt x="25" y="49"/>
                  <a:pt x="28" y="45"/>
                  <a:pt x="29" y="40"/>
                </a:cubicBezTo>
                <a:cubicBezTo>
                  <a:pt x="31" y="35"/>
                  <a:pt x="31" y="29"/>
                  <a:pt x="31" y="21"/>
                </a:cubicBezTo>
                <a:cubicBezTo>
                  <a:pt x="31" y="0"/>
                  <a:pt x="31" y="0"/>
                  <a:pt x="31" y="0"/>
                </a:cubicBezTo>
                <a:moveTo>
                  <a:pt x="80" y="0"/>
                </a:moveTo>
                <a:cubicBezTo>
                  <a:pt x="51" y="0"/>
                  <a:pt x="51" y="0"/>
                  <a:pt x="51" y="0"/>
                </a:cubicBezTo>
                <a:cubicBezTo>
                  <a:pt x="51" y="29"/>
                  <a:pt x="51" y="29"/>
                  <a:pt x="51" y="29"/>
                </a:cubicBezTo>
                <a:cubicBezTo>
                  <a:pt x="65" y="29"/>
                  <a:pt x="65" y="29"/>
                  <a:pt x="65" y="29"/>
                </a:cubicBezTo>
                <a:cubicBezTo>
                  <a:pt x="65" y="34"/>
                  <a:pt x="63" y="39"/>
                  <a:pt x="61" y="42"/>
                </a:cubicBezTo>
                <a:cubicBezTo>
                  <a:pt x="58" y="46"/>
                  <a:pt x="54" y="48"/>
                  <a:pt x="49" y="50"/>
                </a:cubicBezTo>
                <a:cubicBezTo>
                  <a:pt x="54" y="62"/>
                  <a:pt x="54" y="62"/>
                  <a:pt x="54" y="62"/>
                </a:cubicBezTo>
                <a:cubicBezTo>
                  <a:pt x="60" y="60"/>
                  <a:pt x="65" y="57"/>
                  <a:pt x="69" y="53"/>
                </a:cubicBezTo>
                <a:cubicBezTo>
                  <a:pt x="73" y="49"/>
                  <a:pt x="76" y="45"/>
                  <a:pt x="77" y="40"/>
                </a:cubicBezTo>
                <a:cubicBezTo>
                  <a:pt x="79" y="35"/>
                  <a:pt x="80" y="29"/>
                  <a:pt x="80" y="21"/>
                </a:cubicBezTo>
                <a:cubicBezTo>
                  <a:pt x="80" y="0"/>
                  <a:pt x="80" y="0"/>
                  <a:pt x="80" y="0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spc="-31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5" name="矩形 669"/>
          <p:cNvSpPr/>
          <p:nvPr/>
        </p:nvSpPr>
        <p:spPr bwMode="auto">
          <a:xfrm>
            <a:off x="2315269" y="3691103"/>
            <a:ext cx="400044" cy="402894"/>
          </a:xfrm>
          <a:custGeom>
            <a:avLst/>
            <a:gdLst>
              <a:gd name="T0" fmla="*/ 15 w 211"/>
              <a:gd name="T1" fmla="*/ 78 h 212"/>
              <a:gd name="T2" fmla="*/ 15 w 211"/>
              <a:gd name="T3" fmla="*/ 134 h 212"/>
              <a:gd name="T4" fmla="*/ 78 w 211"/>
              <a:gd name="T5" fmla="*/ 197 h 212"/>
              <a:gd name="T6" fmla="*/ 133 w 211"/>
              <a:gd name="T7" fmla="*/ 197 h 212"/>
              <a:gd name="T8" fmla="*/ 196 w 211"/>
              <a:gd name="T9" fmla="*/ 134 h 212"/>
              <a:gd name="T10" fmla="*/ 196 w 211"/>
              <a:gd name="T11" fmla="*/ 78 h 212"/>
              <a:gd name="T12" fmla="*/ 133 w 211"/>
              <a:gd name="T13" fmla="*/ 16 h 212"/>
              <a:gd name="T14" fmla="*/ 78 w 211"/>
              <a:gd name="T15" fmla="*/ 16 h 212"/>
              <a:gd name="T16" fmla="*/ 15 w 211"/>
              <a:gd name="T17" fmla="*/ 78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212">
                <a:moveTo>
                  <a:pt x="15" y="78"/>
                </a:moveTo>
                <a:cubicBezTo>
                  <a:pt x="0" y="94"/>
                  <a:pt x="0" y="119"/>
                  <a:pt x="15" y="134"/>
                </a:cubicBezTo>
                <a:cubicBezTo>
                  <a:pt x="78" y="197"/>
                  <a:pt x="78" y="197"/>
                  <a:pt x="78" y="197"/>
                </a:cubicBezTo>
                <a:cubicBezTo>
                  <a:pt x="93" y="212"/>
                  <a:pt x="118" y="212"/>
                  <a:pt x="133" y="197"/>
                </a:cubicBezTo>
                <a:cubicBezTo>
                  <a:pt x="196" y="134"/>
                  <a:pt x="196" y="134"/>
                  <a:pt x="196" y="134"/>
                </a:cubicBezTo>
                <a:cubicBezTo>
                  <a:pt x="211" y="119"/>
                  <a:pt x="211" y="94"/>
                  <a:pt x="196" y="78"/>
                </a:cubicBezTo>
                <a:cubicBezTo>
                  <a:pt x="133" y="16"/>
                  <a:pt x="133" y="16"/>
                  <a:pt x="133" y="16"/>
                </a:cubicBezTo>
                <a:cubicBezTo>
                  <a:pt x="118" y="0"/>
                  <a:pt x="93" y="0"/>
                  <a:pt x="78" y="16"/>
                </a:cubicBezTo>
                <a:lnTo>
                  <a:pt x="15" y="78"/>
                </a:lnTo>
                <a:close/>
              </a:path>
            </a:pathLst>
          </a:cu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solidFill>
                <a:schemeClr val="l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61" name="矩形 657"/>
          <p:cNvSpPr/>
          <p:nvPr/>
        </p:nvSpPr>
        <p:spPr bwMode="auto">
          <a:xfrm>
            <a:off x="451304" y="961567"/>
            <a:ext cx="1165225" cy="1206500"/>
          </a:xfrm>
          <a:custGeom>
            <a:avLst/>
            <a:gdLst>
              <a:gd name="T0" fmla="*/ 367 w 367"/>
              <a:gd name="T1" fmla="*/ 190 h 380"/>
              <a:gd name="T2" fmla="*/ 367 w 367"/>
              <a:gd name="T3" fmla="*/ 191 h 380"/>
              <a:gd name="T4" fmla="*/ 366 w 367"/>
              <a:gd name="T5" fmla="*/ 193 h 380"/>
              <a:gd name="T6" fmla="*/ 366 w 367"/>
              <a:gd name="T7" fmla="*/ 194 h 380"/>
              <a:gd name="T8" fmla="*/ 366 w 367"/>
              <a:gd name="T9" fmla="*/ 194 h 380"/>
              <a:gd name="T10" fmla="*/ 350 w 367"/>
              <a:gd name="T11" fmla="*/ 206 h 380"/>
              <a:gd name="T12" fmla="*/ 308 w 367"/>
              <a:gd name="T13" fmla="*/ 213 h 380"/>
              <a:gd name="T14" fmla="*/ 255 w 367"/>
              <a:gd name="T15" fmla="*/ 211 h 380"/>
              <a:gd name="T16" fmla="*/ 222 w 367"/>
              <a:gd name="T17" fmla="*/ 254 h 380"/>
              <a:gd name="T18" fmla="*/ 229 w 367"/>
              <a:gd name="T19" fmla="*/ 254 h 380"/>
              <a:gd name="T20" fmla="*/ 239 w 367"/>
              <a:gd name="T21" fmla="*/ 264 h 380"/>
              <a:gd name="T22" fmla="*/ 229 w 367"/>
              <a:gd name="T23" fmla="*/ 274 h 380"/>
              <a:gd name="T24" fmla="*/ 206 w 367"/>
              <a:gd name="T25" fmla="*/ 274 h 380"/>
              <a:gd name="T26" fmla="*/ 180 w 367"/>
              <a:gd name="T27" fmla="*/ 307 h 380"/>
              <a:gd name="T28" fmla="*/ 197 w 367"/>
              <a:gd name="T29" fmla="*/ 307 h 380"/>
              <a:gd name="T30" fmla="*/ 207 w 367"/>
              <a:gd name="T31" fmla="*/ 317 h 380"/>
              <a:gd name="T32" fmla="*/ 197 w 367"/>
              <a:gd name="T33" fmla="*/ 327 h 380"/>
              <a:gd name="T34" fmla="*/ 165 w 367"/>
              <a:gd name="T35" fmla="*/ 327 h 380"/>
              <a:gd name="T36" fmla="*/ 123 w 367"/>
              <a:gd name="T37" fmla="*/ 380 h 380"/>
              <a:gd name="T38" fmla="*/ 105 w 367"/>
              <a:gd name="T39" fmla="*/ 369 h 380"/>
              <a:gd name="T40" fmla="*/ 181 w 367"/>
              <a:gd name="T41" fmla="*/ 209 h 380"/>
              <a:gd name="T42" fmla="*/ 58 w 367"/>
              <a:gd name="T43" fmla="*/ 206 h 380"/>
              <a:gd name="T44" fmla="*/ 23 w 367"/>
              <a:gd name="T45" fmla="*/ 249 h 380"/>
              <a:gd name="T46" fmla="*/ 0 w 367"/>
              <a:gd name="T47" fmla="*/ 249 h 380"/>
              <a:gd name="T48" fmla="*/ 19 w 367"/>
              <a:gd name="T49" fmla="*/ 190 h 380"/>
              <a:gd name="T50" fmla="*/ 0 w 367"/>
              <a:gd name="T51" fmla="*/ 131 h 380"/>
              <a:gd name="T52" fmla="*/ 23 w 367"/>
              <a:gd name="T53" fmla="*/ 131 h 380"/>
              <a:gd name="T54" fmla="*/ 58 w 367"/>
              <a:gd name="T55" fmla="*/ 174 h 380"/>
              <a:gd name="T56" fmla="*/ 181 w 367"/>
              <a:gd name="T57" fmla="*/ 171 h 380"/>
              <a:gd name="T58" fmla="*/ 105 w 367"/>
              <a:gd name="T59" fmla="*/ 11 h 380"/>
              <a:gd name="T60" fmla="*/ 123 w 367"/>
              <a:gd name="T61" fmla="*/ 0 h 380"/>
              <a:gd name="T62" fmla="*/ 165 w 367"/>
              <a:gd name="T63" fmla="*/ 53 h 380"/>
              <a:gd name="T64" fmla="*/ 197 w 367"/>
              <a:gd name="T65" fmla="*/ 53 h 380"/>
              <a:gd name="T66" fmla="*/ 207 w 367"/>
              <a:gd name="T67" fmla="*/ 63 h 380"/>
              <a:gd name="T68" fmla="*/ 197 w 367"/>
              <a:gd name="T69" fmla="*/ 73 h 380"/>
              <a:gd name="T70" fmla="*/ 180 w 367"/>
              <a:gd name="T71" fmla="*/ 73 h 380"/>
              <a:gd name="T72" fmla="*/ 206 w 367"/>
              <a:gd name="T73" fmla="*/ 106 h 380"/>
              <a:gd name="T74" fmla="*/ 229 w 367"/>
              <a:gd name="T75" fmla="*/ 106 h 380"/>
              <a:gd name="T76" fmla="*/ 239 w 367"/>
              <a:gd name="T77" fmla="*/ 116 h 380"/>
              <a:gd name="T78" fmla="*/ 229 w 367"/>
              <a:gd name="T79" fmla="*/ 126 h 380"/>
              <a:gd name="T80" fmla="*/ 222 w 367"/>
              <a:gd name="T81" fmla="*/ 126 h 380"/>
              <a:gd name="T82" fmla="*/ 255 w 367"/>
              <a:gd name="T83" fmla="*/ 169 h 380"/>
              <a:gd name="T84" fmla="*/ 308 w 367"/>
              <a:gd name="T85" fmla="*/ 167 h 380"/>
              <a:gd name="T86" fmla="*/ 350 w 367"/>
              <a:gd name="T87" fmla="*/ 174 h 380"/>
              <a:gd name="T88" fmla="*/ 366 w 367"/>
              <a:gd name="T89" fmla="*/ 186 h 380"/>
              <a:gd name="T90" fmla="*/ 366 w 367"/>
              <a:gd name="T91" fmla="*/ 186 h 380"/>
              <a:gd name="T92" fmla="*/ 366 w 367"/>
              <a:gd name="T93" fmla="*/ 187 h 380"/>
              <a:gd name="T94" fmla="*/ 367 w 367"/>
              <a:gd name="T95" fmla="*/ 189 h 380"/>
              <a:gd name="T96" fmla="*/ 367 w 367"/>
              <a:gd name="T97" fmla="*/ 190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67" h="380">
                <a:moveTo>
                  <a:pt x="367" y="190"/>
                </a:moveTo>
                <a:cubicBezTo>
                  <a:pt x="367" y="190"/>
                  <a:pt x="367" y="191"/>
                  <a:pt x="367" y="191"/>
                </a:cubicBezTo>
                <a:cubicBezTo>
                  <a:pt x="367" y="192"/>
                  <a:pt x="367" y="193"/>
                  <a:pt x="366" y="193"/>
                </a:cubicBezTo>
                <a:cubicBezTo>
                  <a:pt x="366" y="194"/>
                  <a:pt x="366" y="194"/>
                  <a:pt x="366" y="194"/>
                </a:cubicBezTo>
                <a:cubicBezTo>
                  <a:pt x="366" y="194"/>
                  <a:pt x="366" y="194"/>
                  <a:pt x="366" y="194"/>
                </a:cubicBezTo>
                <a:cubicBezTo>
                  <a:pt x="364" y="199"/>
                  <a:pt x="358" y="203"/>
                  <a:pt x="350" y="206"/>
                </a:cubicBezTo>
                <a:cubicBezTo>
                  <a:pt x="339" y="211"/>
                  <a:pt x="324" y="213"/>
                  <a:pt x="308" y="213"/>
                </a:cubicBezTo>
                <a:cubicBezTo>
                  <a:pt x="255" y="211"/>
                  <a:pt x="255" y="211"/>
                  <a:pt x="255" y="211"/>
                </a:cubicBezTo>
                <a:cubicBezTo>
                  <a:pt x="222" y="254"/>
                  <a:pt x="222" y="254"/>
                  <a:pt x="222" y="254"/>
                </a:cubicBezTo>
                <a:cubicBezTo>
                  <a:pt x="229" y="254"/>
                  <a:pt x="229" y="254"/>
                  <a:pt x="229" y="254"/>
                </a:cubicBezTo>
                <a:cubicBezTo>
                  <a:pt x="235" y="254"/>
                  <a:pt x="239" y="259"/>
                  <a:pt x="239" y="264"/>
                </a:cubicBezTo>
                <a:cubicBezTo>
                  <a:pt x="239" y="270"/>
                  <a:pt x="235" y="274"/>
                  <a:pt x="229" y="274"/>
                </a:cubicBezTo>
                <a:cubicBezTo>
                  <a:pt x="206" y="274"/>
                  <a:pt x="206" y="274"/>
                  <a:pt x="206" y="274"/>
                </a:cubicBezTo>
                <a:cubicBezTo>
                  <a:pt x="180" y="307"/>
                  <a:pt x="180" y="307"/>
                  <a:pt x="180" y="307"/>
                </a:cubicBezTo>
                <a:cubicBezTo>
                  <a:pt x="197" y="307"/>
                  <a:pt x="197" y="307"/>
                  <a:pt x="197" y="307"/>
                </a:cubicBezTo>
                <a:cubicBezTo>
                  <a:pt x="202" y="307"/>
                  <a:pt x="207" y="311"/>
                  <a:pt x="207" y="317"/>
                </a:cubicBezTo>
                <a:cubicBezTo>
                  <a:pt x="207" y="322"/>
                  <a:pt x="202" y="327"/>
                  <a:pt x="197" y="327"/>
                </a:cubicBezTo>
                <a:cubicBezTo>
                  <a:pt x="165" y="327"/>
                  <a:pt x="165" y="327"/>
                  <a:pt x="165" y="327"/>
                </a:cubicBezTo>
                <a:cubicBezTo>
                  <a:pt x="123" y="380"/>
                  <a:pt x="123" y="380"/>
                  <a:pt x="123" y="380"/>
                </a:cubicBezTo>
                <a:cubicBezTo>
                  <a:pt x="105" y="369"/>
                  <a:pt x="105" y="369"/>
                  <a:pt x="105" y="369"/>
                </a:cubicBezTo>
                <a:cubicBezTo>
                  <a:pt x="181" y="209"/>
                  <a:pt x="181" y="209"/>
                  <a:pt x="181" y="209"/>
                </a:cubicBezTo>
                <a:cubicBezTo>
                  <a:pt x="58" y="206"/>
                  <a:pt x="58" y="206"/>
                  <a:pt x="58" y="206"/>
                </a:cubicBezTo>
                <a:cubicBezTo>
                  <a:pt x="23" y="249"/>
                  <a:pt x="23" y="249"/>
                  <a:pt x="23" y="249"/>
                </a:cubicBezTo>
                <a:cubicBezTo>
                  <a:pt x="0" y="249"/>
                  <a:pt x="0" y="249"/>
                  <a:pt x="0" y="249"/>
                </a:cubicBezTo>
                <a:cubicBezTo>
                  <a:pt x="19" y="190"/>
                  <a:pt x="19" y="190"/>
                  <a:pt x="19" y="190"/>
                </a:cubicBezTo>
                <a:cubicBezTo>
                  <a:pt x="0" y="131"/>
                  <a:pt x="0" y="131"/>
                  <a:pt x="0" y="131"/>
                </a:cubicBezTo>
                <a:cubicBezTo>
                  <a:pt x="23" y="131"/>
                  <a:pt x="23" y="131"/>
                  <a:pt x="23" y="131"/>
                </a:cubicBezTo>
                <a:cubicBezTo>
                  <a:pt x="58" y="174"/>
                  <a:pt x="58" y="174"/>
                  <a:pt x="58" y="174"/>
                </a:cubicBezTo>
                <a:cubicBezTo>
                  <a:pt x="181" y="171"/>
                  <a:pt x="181" y="171"/>
                  <a:pt x="181" y="17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23" y="0"/>
                  <a:pt x="123" y="0"/>
                  <a:pt x="123" y="0"/>
                </a:cubicBezTo>
                <a:cubicBezTo>
                  <a:pt x="165" y="53"/>
                  <a:pt x="165" y="53"/>
                  <a:pt x="165" y="53"/>
                </a:cubicBezTo>
                <a:cubicBezTo>
                  <a:pt x="197" y="53"/>
                  <a:pt x="197" y="53"/>
                  <a:pt x="197" y="53"/>
                </a:cubicBezTo>
                <a:cubicBezTo>
                  <a:pt x="202" y="53"/>
                  <a:pt x="207" y="58"/>
                  <a:pt x="207" y="63"/>
                </a:cubicBezTo>
                <a:cubicBezTo>
                  <a:pt x="207" y="69"/>
                  <a:pt x="202" y="73"/>
                  <a:pt x="197" y="73"/>
                </a:cubicBezTo>
                <a:cubicBezTo>
                  <a:pt x="180" y="73"/>
                  <a:pt x="180" y="73"/>
                  <a:pt x="180" y="73"/>
                </a:cubicBezTo>
                <a:cubicBezTo>
                  <a:pt x="206" y="106"/>
                  <a:pt x="206" y="106"/>
                  <a:pt x="206" y="106"/>
                </a:cubicBezTo>
                <a:cubicBezTo>
                  <a:pt x="229" y="106"/>
                  <a:pt x="229" y="106"/>
                  <a:pt x="229" y="106"/>
                </a:cubicBezTo>
                <a:cubicBezTo>
                  <a:pt x="235" y="106"/>
                  <a:pt x="239" y="110"/>
                  <a:pt x="239" y="116"/>
                </a:cubicBezTo>
                <a:cubicBezTo>
                  <a:pt x="239" y="121"/>
                  <a:pt x="235" y="126"/>
                  <a:pt x="229" y="126"/>
                </a:cubicBezTo>
                <a:cubicBezTo>
                  <a:pt x="222" y="126"/>
                  <a:pt x="222" y="126"/>
                  <a:pt x="222" y="126"/>
                </a:cubicBezTo>
                <a:cubicBezTo>
                  <a:pt x="255" y="169"/>
                  <a:pt x="255" y="169"/>
                  <a:pt x="255" y="169"/>
                </a:cubicBezTo>
                <a:cubicBezTo>
                  <a:pt x="308" y="167"/>
                  <a:pt x="308" y="167"/>
                  <a:pt x="308" y="167"/>
                </a:cubicBezTo>
                <a:cubicBezTo>
                  <a:pt x="324" y="167"/>
                  <a:pt x="339" y="169"/>
                  <a:pt x="350" y="174"/>
                </a:cubicBezTo>
                <a:cubicBezTo>
                  <a:pt x="358" y="177"/>
                  <a:pt x="364" y="181"/>
                  <a:pt x="366" y="186"/>
                </a:cubicBezTo>
                <a:cubicBezTo>
                  <a:pt x="366" y="186"/>
                  <a:pt x="366" y="186"/>
                  <a:pt x="366" y="186"/>
                </a:cubicBezTo>
                <a:cubicBezTo>
                  <a:pt x="366" y="187"/>
                  <a:pt x="366" y="187"/>
                  <a:pt x="366" y="187"/>
                </a:cubicBezTo>
                <a:cubicBezTo>
                  <a:pt x="367" y="187"/>
                  <a:pt x="367" y="188"/>
                  <a:pt x="367" y="189"/>
                </a:cubicBezTo>
                <a:cubicBezTo>
                  <a:pt x="367" y="189"/>
                  <a:pt x="367" y="190"/>
                  <a:pt x="367" y="19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spc="-31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69" name="TextBox 7"/>
          <p:cNvSpPr txBox="1"/>
          <p:nvPr/>
        </p:nvSpPr>
        <p:spPr>
          <a:xfrm>
            <a:off x="2163457" y="4256760"/>
            <a:ext cx="1635320" cy="46166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校内课程试点</a:t>
            </a:r>
            <a:endParaRPr lang="zh-CN" altLang="en-US" sz="16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70" name="TextBox 8"/>
          <p:cNvSpPr txBox="1"/>
          <p:nvPr/>
        </p:nvSpPr>
        <p:spPr>
          <a:xfrm>
            <a:off x="2163457" y="5117640"/>
            <a:ext cx="2162371" cy="830997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05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在高校课程做真实试点，用教师反馈迭代产品</a:t>
            </a:r>
            <a:endParaRPr lang="zh-CN" altLang="en-US" sz="105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191002" y="69850"/>
            <a:ext cx="3809998" cy="646331"/>
          </a:xfrm>
          <a:prstGeom prst="rect">
            <a:avLst/>
          </a:prstGeom>
          <a:noFill/>
        </p:spPr>
        <p:txBody>
          <a:bodyPr wrap="square" lIns="45720" tIns="27432" rIns="45720" bIns="27432"/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250" b="1" dirty="0" smtClean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商业模式与发展规划</a:t>
            </a:r>
            <a:endParaRPr lang="zh-CN" altLang="en-US" sz="3250" b="1" dirty="0" smtClean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2141839" y="346785"/>
            <a:ext cx="7908323" cy="108542"/>
            <a:chOff x="1837039" y="691984"/>
            <a:chExt cx="7908323" cy="108542"/>
          </a:xfrm>
        </p:grpSpPr>
        <p:cxnSp>
          <p:nvCxnSpPr>
            <p:cNvPr id="79" name="直接连接符 78"/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7"/>
          <p:cNvSpPr txBox="1"/>
          <p:nvPr/>
        </p:nvSpPr>
        <p:spPr>
          <a:xfrm>
            <a:off x="2717241" y="3481272"/>
            <a:ext cx="1081536" cy="46166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zh-CN" sz="1600" b="0" dirty="0" smtClean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近期</a:t>
            </a:r>
            <a:endParaRPr lang="zh-CN" altLang="zh-CN" sz="1600" b="0" dirty="0" smtClean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436238" y="4507333"/>
            <a:ext cx="2976261" cy="1617496"/>
          </a:xfrm>
          <a:prstGeom prst="roundRect">
            <a:avLst/>
          </a:prstGeom>
          <a:solidFill>
            <a:schemeClr val="bg1"/>
          </a:solidFill>
          <a:ln>
            <a:solidFill>
              <a:srgbClr val="444EF7"/>
            </a:solidFill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5303176" y="4228351"/>
            <a:ext cx="2104272" cy="504363"/>
          </a:xfrm>
          <a:prstGeom prst="roundRect">
            <a:avLst>
              <a:gd name="adj" fmla="val 50000"/>
            </a:avLst>
          </a:prstGeom>
          <a:solidFill>
            <a:srgbClr val="444EF7"/>
          </a:solidFill>
          <a:ln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6" name="矩形 669"/>
          <p:cNvSpPr/>
          <p:nvPr/>
        </p:nvSpPr>
        <p:spPr bwMode="auto">
          <a:xfrm>
            <a:off x="5774768" y="3691103"/>
            <a:ext cx="400044" cy="402894"/>
          </a:xfrm>
          <a:custGeom>
            <a:avLst/>
            <a:gdLst>
              <a:gd name="T0" fmla="*/ 15 w 211"/>
              <a:gd name="T1" fmla="*/ 78 h 212"/>
              <a:gd name="T2" fmla="*/ 15 w 211"/>
              <a:gd name="T3" fmla="*/ 134 h 212"/>
              <a:gd name="T4" fmla="*/ 78 w 211"/>
              <a:gd name="T5" fmla="*/ 197 h 212"/>
              <a:gd name="T6" fmla="*/ 133 w 211"/>
              <a:gd name="T7" fmla="*/ 197 h 212"/>
              <a:gd name="T8" fmla="*/ 196 w 211"/>
              <a:gd name="T9" fmla="*/ 134 h 212"/>
              <a:gd name="T10" fmla="*/ 196 w 211"/>
              <a:gd name="T11" fmla="*/ 78 h 212"/>
              <a:gd name="T12" fmla="*/ 133 w 211"/>
              <a:gd name="T13" fmla="*/ 16 h 212"/>
              <a:gd name="T14" fmla="*/ 78 w 211"/>
              <a:gd name="T15" fmla="*/ 16 h 212"/>
              <a:gd name="T16" fmla="*/ 15 w 211"/>
              <a:gd name="T17" fmla="*/ 78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212">
                <a:moveTo>
                  <a:pt x="15" y="78"/>
                </a:moveTo>
                <a:cubicBezTo>
                  <a:pt x="0" y="94"/>
                  <a:pt x="0" y="119"/>
                  <a:pt x="15" y="134"/>
                </a:cubicBezTo>
                <a:cubicBezTo>
                  <a:pt x="78" y="197"/>
                  <a:pt x="78" y="197"/>
                  <a:pt x="78" y="197"/>
                </a:cubicBezTo>
                <a:cubicBezTo>
                  <a:pt x="93" y="212"/>
                  <a:pt x="118" y="212"/>
                  <a:pt x="133" y="197"/>
                </a:cubicBezTo>
                <a:cubicBezTo>
                  <a:pt x="196" y="134"/>
                  <a:pt x="196" y="134"/>
                  <a:pt x="196" y="134"/>
                </a:cubicBezTo>
                <a:cubicBezTo>
                  <a:pt x="211" y="119"/>
                  <a:pt x="211" y="94"/>
                  <a:pt x="196" y="78"/>
                </a:cubicBezTo>
                <a:cubicBezTo>
                  <a:pt x="133" y="16"/>
                  <a:pt x="133" y="16"/>
                  <a:pt x="133" y="16"/>
                </a:cubicBezTo>
                <a:cubicBezTo>
                  <a:pt x="118" y="0"/>
                  <a:pt x="93" y="0"/>
                  <a:pt x="78" y="16"/>
                </a:cubicBezTo>
                <a:lnTo>
                  <a:pt x="15" y="78"/>
                </a:lnTo>
                <a:close/>
              </a:path>
            </a:pathLst>
          </a:cu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solidFill>
                <a:schemeClr val="l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8" name="TextBox 7"/>
          <p:cNvSpPr txBox="1"/>
          <p:nvPr/>
        </p:nvSpPr>
        <p:spPr>
          <a:xfrm>
            <a:off x="5622956" y="4256760"/>
            <a:ext cx="1635320" cy="46166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智能组卷</a:t>
            </a:r>
            <a:endParaRPr lang="zh-CN" altLang="en-US" sz="16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50" name="TextBox 8"/>
          <p:cNvSpPr txBox="1"/>
          <p:nvPr/>
        </p:nvSpPr>
        <p:spPr>
          <a:xfrm>
            <a:off x="5622956" y="5117640"/>
            <a:ext cx="2162371" cy="830997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05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按知识点、难度、题型比例自动组卷</a:t>
            </a:r>
            <a:endParaRPr lang="zh-CN" altLang="en-US" sz="105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51" name="TextBox 7"/>
          <p:cNvSpPr txBox="1"/>
          <p:nvPr/>
        </p:nvSpPr>
        <p:spPr>
          <a:xfrm>
            <a:off x="6176740" y="3481272"/>
            <a:ext cx="1081536" cy="46166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zh-CN" sz="1600" b="0" dirty="0" smtClean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中期</a:t>
            </a:r>
            <a:endParaRPr lang="zh-CN" altLang="zh-CN" sz="1600" b="0" dirty="0" smtClean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8895737" y="4507333"/>
            <a:ext cx="2976261" cy="1617496"/>
          </a:xfrm>
          <a:prstGeom prst="roundRect">
            <a:avLst/>
          </a:prstGeom>
          <a:solidFill>
            <a:schemeClr val="bg1"/>
          </a:solidFill>
          <a:ln>
            <a:solidFill>
              <a:srgbClr val="444EF7"/>
            </a:solidFill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8762675" y="4228351"/>
            <a:ext cx="2104272" cy="504363"/>
          </a:xfrm>
          <a:prstGeom prst="roundRect">
            <a:avLst>
              <a:gd name="adj" fmla="val 50000"/>
            </a:avLst>
          </a:prstGeom>
          <a:solidFill>
            <a:srgbClr val="444EF7"/>
          </a:solidFill>
          <a:ln>
            <a:solidFill>
              <a:srgbClr val="444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54" name="矩形 669"/>
          <p:cNvSpPr/>
          <p:nvPr/>
        </p:nvSpPr>
        <p:spPr bwMode="auto">
          <a:xfrm>
            <a:off x="9234267" y="3691103"/>
            <a:ext cx="400044" cy="402894"/>
          </a:xfrm>
          <a:custGeom>
            <a:avLst/>
            <a:gdLst>
              <a:gd name="T0" fmla="*/ 15 w 211"/>
              <a:gd name="T1" fmla="*/ 78 h 212"/>
              <a:gd name="T2" fmla="*/ 15 w 211"/>
              <a:gd name="T3" fmla="*/ 134 h 212"/>
              <a:gd name="T4" fmla="*/ 78 w 211"/>
              <a:gd name="T5" fmla="*/ 197 h 212"/>
              <a:gd name="T6" fmla="*/ 133 w 211"/>
              <a:gd name="T7" fmla="*/ 197 h 212"/>
              <a:gd name="T8" fmla="*/ 196 w 211"/>
              <a:gd name="T9" fmla="*/ 134 h 212"/>
              <a:gd name="T10" fmla="*/ 196 w 211"/>
              <a:gd name="T11" fmla="*/ 78 h 212"/>
              <a:gd name="T12" fmla="*/ 133 w 211"/>
              <a:gd name="T13" fmla="*/ 16 h 212"/>
              <a:gd name="T14" fmla="*/ 78 w 211"/>
              <a:gd name="T15" fmla="*/ 16 h 212"/>
              <a:gd name="T16" fmla="*/ 15 w 211"/>
              <a:gd name="T17" fmla="*/ 78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212">
                <a:moveTo>
                  <a:pt x="15" y="78"/>
                </a:moveTo>
                <a:cubicBezTo>
                  <a:pt x="0" y="94"/>
                  <a:pt x="0" y="119"/>
                  <a:pt x="15" y="134"/>
                </a:cubicBezTo>
                <a:cubicBezTo>
                  <a:pt x="78" y="197"/>
                  <a:pt x="78" y="197"/>
                  <a:pt x="78" y="197"/>
                </a:cubicBezTo>
                <a:cubicBezTo>
                  <a:pt x="93" y="212"/>
                  <a:pt x="118" y="212"/>
                  <a:pt x="133" y="197"/>
                </a:cubicBezTo>
                <a:cubicBezTo>
                  <a:pt x="196" y="134"/>
                  <a:pt x="196" y="134"/>
                  <a:pt x="196" y="134"/>
                </a:cubicBezTo>
                <a:cubicBezTo>
                  <a:pt x="211" y="119"/>
                  <a:pt x="211" y="94"/>
                  <a:pt x="196" y="78"/>
                </a:cubicBezTo>
                <a:cubicBezTo>
                  <a:pt x="133" y="16"/>
                  <a:pt x="133" y="16"/>
                  <a:pt x="133" y="16"/>
                </a:cubicBezTo>
                <a:cubicBezTo>
                  <a:pt x="118" y="0"/>
                  <a:pt x="93" y="0"/>
                  <a:pt x="78" y="16"/>
                </a:cubicBezTo>
                <a:lnTo>
                  <a:pt x="15" y="78"/>
                </a:lnTo>
                <a:close/>
              </a:path>
            </a:pathLst>
          </a:cu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400" b="1" u="sng" dirty="0">
              <a:solidFill>
                <a:schemeClr val="l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55" name="TextBox 7"/>
          <p:cNvSpPr txBox="1"/>
          <p:nvPr/>
        </p:nvSpPr>
        <p:spPr>
          <a:xfrm>
            <a:off x="9082455" y="4256760"/>
            <a:ext cx="1635320" cy="46166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个性化出题</a:t>
            </a:r>
            <a:endParaRPr lang="zh-CN" altLang="en-US" sz="16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56" name="TextBox 8"/>
          <p:cNvSpPr txBox="1"/>
          <p:nvPr/>
        </p:nvSpPr>
        <p:spPr>
          <a:xfrm>
            <a:off x="9082455" y="5117640"/>
            <a:ext cx="2162371" cy="830997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05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让每个学习者拥有专属的“智能学习教练”</a:t>
            </a:r>
            <a:endParaRPr lang="zh-CN" altLang="en-US" sz="105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57" name="TextBox 7"/>
          <p:cNvSpPr txBox="1"/>
          <p:nvPr/>
        </p:nvSpPr>
        <p:spPr>
          <a:xfrm>
            <a:off x="9636239" y="3481272"/>
            <a:ext cx="1081536" cy="461665"/>
          </a:xfrm>
          <a:prstGeom prst="rect">
            <a:avLst/>
          </a:prstGeom>
          <a:noFill/>
        </p:spPr>
        <p:txBody>
          <a:bodyPr wrap="square" lIns="45720" tIns="27432" rIns="45720" bIns="27432" rtlCol="0"/>
          <a:lstStyle>
            <a:defPPr>
              <a:defRPr lang="zh-CN"/>
            </a:defPPr>
            <a:lvl1pPr defTabSz="1219200">
              <a:spcBef>
                <a:spcPct val="2000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zh-CN" sz="1600" b="0" dirty="0" smtClean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远期</a:t>
            </a:r>
            <a:endParaRPr lang="zh-CN" altLang="zh-CN" sz="1600" b="0" dirty="0" smtClean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58" name="TextBox 8"/>
          <p:cNvSpPr txBox="1"/>
          <p:nvPr/>
        </p:nvSpPr>
        <p:spPr>
          <a:xfrm>
            <a:off x="1764792" y="868680"/>
            <a:ext cx="6135624" cy="731520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050" b="0" dirty="0">
                <a:solidFill>
                  <a:srgbClr val="444EF7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现状：开源免费 · 9 个版本 · 无付费功能（如实口径）</a:t>
            </a:r>
            <a:endParaRPr lang="zh-CN" altLang="en-US" sz="1050" b="0" dirty="0">
              <a:solidFill>
                <a:srgbClr val="444EF7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r>
              <a:rPr lang="zh-CN" altLang="en-US" sz="1050" b="0" dirty="0">
                <a:solidFill>
                  <a:srgbClr val="444EF7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规划一：私有化部署授权 + 实施培训（学校 / 机构场景）</a:t>
            </a:r>
            <a:endParaRPr lang="zh-CN" altLang="en-US" sz="1050" b="0" dirty="0">
              <a:solidFill>
                <a:srgbClr val="444EF7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r>
              <a:rPr lang="zh-CN" altLang="en-US" sz="1050" b="0" dirty="0">
                <a:solidFill>
                  <a:srgbClr val="444EF7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规划二：定制开发（对接教务系统、国产化适配）</a:t>
            </a:r>
            <a:endParaRPr lang="zh-CN" altLang="en-US" sz="1050" b="0" dirty="0">
              <a:solidFill>
                <a:srgbClr val="444EF7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  <a:p>
            <a:r>
              <a:rPr lang="zh-CN" altLang="en-US" sz="1050" b="0" dirty="0">
                <a:solidFill>
                  <a:srgbClr val="444EF7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规划三：托管 SaaS 版（需合规评估后推进）</a:t>
            </a:r>
            <a:endParaRPr lang="zh-CN" altLang="en-US" sz="1050" b="0" dirty="0">
              <a:solidFill>
                <a:srgbClr val="444EF7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4791075" y="3274236"/>
            <a:ext cx="6705600" cy="1681593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2400" b="1" u="sng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1284" name="文本框 66"/>
          <p:cNvSpPr txBox="1">
            <a:spLocks noChangeArrowheads="1"/>
          </p:cNvSpPr>
          <p:nvPr/>
        </p:nvSpPr>
        <p:spPr bwMode="auto">
          <a:xfrm>
            <a:off x="6243742" y="2295595"/>
            <a:ext cx="5252937" cy="830997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60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产品设计、进度与对外汇报</a:t>
            </a:r>
            <a:endParaRPr lang="zh-CN" altLang="en-US" sz="160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2" name="文本框 13"/>
          <p:cNvSpPr txBox="1">
            <a:spLocks noChangeArrowheads="1"/>
          </p:cNvSpPr>
          <p:nvPr/>
        </p:nvSpPr>
        <p:spPr bwMode="auto">
          <a:xfrm>
            <a:off x="6237811" y="1700322"/>
            <a:ext cx="52486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27432" rIns="45720" bIns="27432"/>
          <a:lstStyle>
            <a:defPPr>
              <a:defRPr lang="zh-CN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685800" fontAlgn="base">
              <a:spcBef>
                <a:spcPct val="0"/>
              </a:spcBef>
              <a:spcAft>
                <a:spcPct val="0"/>
              </a:spcAft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sz="2000" b="1" dirty="0" smtClean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队长 / 产品 —— 韩昊骋</a:t>
            </a:r>
            <a:endParaRPr lang="zh-CN" altLang="en-US" sz="2000" b="1" dirty="0" smtClean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73" name="任意多边形 72"/>
          <p:cNvSpPr/>
          <p:nvPr/>
        </p:nvSpPr>
        <p:spPr bwMode="auto">
          <a:xfrm>
            <a:off x="6354931" y="2178210"/>
            <a:ext cx="535942" cy="0"/>
          </a:xfrm>
          <a:custGeom>
            <a:avLst/>
            <a:gdLst>
              <a:gd name="connsiteX0" fmla="*/ 0 w 504825"/>
              <a:gd name="connsiteY0" fmla="*/ 0 h 0"/>
              <a:gd name="connsiteX1" fmla="*/ 504825 w 50482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48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eaLnBrk="0" hangingPunct="0">
              <a:defRPr/>
            </a:pPr>
            <a:endParaRPr lang="zh-CN" altLang="en-US" sz="1735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58" name="文本框 66"/>
          <p:cNvSpPr txBox="1">
            <a:spLocks noChangeArrowheads="1"/>
          </p:cNvSpPr>
          <p:nvPr/>
        </p:nvSpPr>
        <p:spPr bwMode="auto">
          <a:xfrm>
            <a:off x="6243741" y="4044302"/>
            <a:ext cx="5252934" cy="830997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6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后端、数据库与部署</a:t>
            </a:r>
            <a:endParaRPr lang="zh-CN" altLang="en-US" sz="16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59" name="文本框 13"/>
          <p:cNvSpPr txBox="1">
            <a:spLocks noChangeArrowheads="1"/>
          </p:cNvSpPr>
          <p:nvPr/>
        </p:nvSpPr>
        <p:spPr bwMode="auto">
          <a:xfrm>
            <a:off x="6237810" y="3449029"/>
            <a:ext cx="52486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27432" rIns="45720" bIns="27432"/>
          <a:lstStyle>
            <a:defPPr>
              <a:defRPr lang="zh-CN"/>
            </a:defPPr>
            <a:lvl1pPr eaLnBrk="1" hangingPunct="1">
              <a:defRPr sz="9600">
                <a:solidFill>
                  <a:schemeClr val="bg1"/>
                </a:solidFill>
                <a:latin typeface="Helvetica-Roman-SemiB" pitchFamily="2" charset="0"/>
                <a:ea typeface="SimSun-ExtB" panose="02010609060101010101" pitchFamily="49" charset="-122"/>
                <a:cs typeface="Arial" panose="020B0604020202020204" pitchFamily="34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685800" fontAlgn="base">
              <a:spcBef>
                <a:spcPct val="0"/>
              </a:spcBef>
              <a:spcAft>
                <a:spcPct val="0"/>
              </a:spcAft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</a:lvl9pPr>
          </a:lstStyle>
          <a:p>
            <a:pPr defTabSz="914400">
              <a:defRPr/>
            </a:pPr>
            <a:r>
              <a:rPr lang="zh-CN" altLang="en-US" sz="2400" b="1" dirty="0" smtClean="0"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开发 —— 耿桂彤</a:t>
            </a:r>
            <a:endParaRPr lang="zh-CN" altLang="en-US" sz="2400" b="1" dirty="0" smtClean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61" name="任意多边形 60"/>
          <p:cNvSpPr/>
          <p:nvPr/>
        </p:nvSpPr>
        <p:spPr bwMode="auto">
          <a:xfrm>
            <a:off x="6354930" y="3926917"/>
            <a:ext cx="535942" cy="0"/>
          </a:xfrm>
          <a:custGeom>
            <a:avLst/>
            <a:gdLst>
              <a:gd name="connsiteX0" fmla="*/ 0 w 504825"/>
              <a:gd name="connsiteY0" fmla="*/ 0 h 0"/>
              <a:gd name="connsiteX1" fmla="*/ 504825 w 50482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48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eaLnBrk="0" hangingPunct="0">
              <a:defRPr/>
            </a:pPr>
            <a:endParaRPr lang="zh-CN" altLang="en-US" sz="1735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63" name="文本框 66"/>
          <p:cNvSpPr txBox="1">
            <a:spLocks noChangeArrowheads="1"/>
          </p:cNvSpPr>
          <p:nvPr/>
        </p:nvSpPr>
        <p:spPr bwMode="auto">
          <a:xfrm>
            <a:off x="6243740" y="5684711"/>
            <a:ext cx="5252934" cy="830997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600" b="0" dirty="0"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前端、桌面端与 AI 集成</a:t>
            </a:r>
            <a:endParaRPr lang="zh-CN" altLang="en-US" sz="1600" b="0" dirty="0"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64" name="文本框 13"/>
          <p:cNvSpPr txBox="1">
            <a:spLocks noChangeArrowheads="1"/>
          </p:cNvSpPr>
          <p:nvPr/>
        </p:nvSpPr>
        <p:spPr bwMode="auto">
          <a:xfrm>
            <a:off x="6237809" y="5089438"/>
            <a:ext cx="52486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27432" rIns="45720" bIns="27432"/>
          <a:lstStyle>
            <a:defPPr>
              <a:defRPr lang="zh-CN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685800" fontAlgn="base">
              <a:spcBef>
                <a:spcPct val="0"/>
              </a:spcBef>
              <a:spcAft>
                <a:spcPct val="0"/>
              </a:spcAft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sz="2400" b="1" dirty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SemiBold" panose="02020600000000000000" pitchFamily="18" charset="-122"/>
              </a:rPr>
              <a:t>开发 —— 郭智斌</a:t>
            </a:r>
            <a:endParaRPr lang="zh-CN" altLang="en-US" sz="2400" b="1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66" name="任意多边形 65"/>
          <p:cNvSpPr/>
          <p:nvPr/>
        </p:nvSpPr>
        <p:spPr bwMode="auto">
          <a:xfrm>
            <a:off x="6354929" y="5567326"/>
            <a:ext cx="535942" cy="0"/>
          </a:xfrm>
          <a:custGeom>
            <a:avLst/>
            <a:gdLst>
              <a:gd name="connsiteX0" fmla="*/ 0 w 504825"/>
              <a:gd name="connsiteY0" fmla="*/ 0 h 0"/>
              <a:gd name="connsiteX1" fmla="*/ 504825 w 50482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48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eaLnBrk="0" hangingPunct="0">
              <a:defRPr/>
            </a:pPr>
            <a:endParaRPr lang="zh-CN" altLang="en-US" sz="1735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8813" y="1829552"/>
            <a:ext cx="1970087" cy="4407735"/>
          </a:xfrm>
          <a:prstGeom prst="rect">
            <a:avLst/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7" name="文本框 13"/>
          <p:cNvSpPr txBox="1">
            <a:spLocks noChangeArrowheads="1"/>
          </p:cNvSpPr>
          <p:nvPr/>
        </p:nvSpPr>
        <p:spPr bwMode="auto">
          <a:xfrm>
            <a:off x="922104" y="2450766"/>
            <a:ext cx="12907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27432" rIns="45720" bIns="27432"/>
          <a:lstStyle>
            <a:defPPr>
              <a:defRPr lang="zh-CN"/>
            </a:defPPr>
            <a:lvl1pPr eaLnBrk="1" hangingPunct="1">
              <a:defRPr sz="9600">
                <a:solidFill>
                  <a:schemeClr val="bg1"/>
                </a:solidFill>
                <a:latin typeface="Helvetica-Roman-SemiB" pitchFamily="2" charset="0"/>
                <a:ea typeface="SimSun-ExtB" panose="02010609060101010101" pitchFamily="49" charset="-122"/>
                <a:cs typeface="Arial" panose="020B0604020202020204" pitchFamily="34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685800" fontAlgn="base">
              <a:spcBef>
                <a:spcPct val="0"/>
              </a:spcBef>
              <a:spcAft>
                <a:spcPct val="0"/>
              </a:spcAft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ctr" defTabSz="914400">
              <a:defRPr/>
            </a:pPr>
            <a:r>
              <a:rPr lang="zh-CN" altLang="zh-CN" sz="3200" b="1" u="sng" dirty="0" smtClean="0"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3 人</a:t>
            </a:r>
            <a:endParaRPr lang="zh-CN" altLang="zh-CN" sz="3200" b="1" u="sng" dirty="0" smtClean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5" name="Rounded Rectangle 25"/>
          <p:cNvSpPr/>
          <p:nvPr/>
        </p:nvSpPr>
        <p:spPr>
          <a:xfrm>
            <a:off x="5409034" y="1777838"/>
            <a:ext cx="686966" cy="6544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b="1" u="sng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01</a:t>
            </a:r>
            <a:endParaRPr lang="en-GB" sz="2400" b="1" u="sng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7" name="Rounded Rectangle 25"/>
          <p:cNvSpPr/>
          <p:nvPr/>
        </p:nvSpPr>
        <p:spPr>
          <a:xfrm>
            <a:off x="5409034" y="3539746"/>
            <a:ext cx="686966" cy="654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b="1" u="sng" dirty="0">
                <a:solidFill>
                  <a:srgbClr val="444EF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02</a:t>
            </a:r>
            <a:endParaRPr lang="en-GB" sz="2400" b="1" u="sng" dirty="0">
              <a:solidFill>
                <a:srgbClr val="444EF7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8" name="Rounded Rectangle 25"/>
          <p:cNvSpPr/>
          <p:nvPr/>
        </p:nvSpPr>
        <p:spPr>
          <a:xfrm>
            <a:off x="5409034" y="5246875"/>
            <a:ext cx="686966" cy="6544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44EF7"/>
              </a:gs>
              <a:gs pos="95000">
                <a:srgbClr val="444EF7"/>
              </a:gs>
            </a:gsLst>
            <a:lin ang="2400000" scaled="0"/>
          </a:gradFill>
          <a:ln>
            <a:noFill/>
          </a:ln>
          <a:effectLst>
            <a:outerShdw blurRad="393700" dist="63500" dir="5400000" algn="t" rotWithShape="0">
              <a:srgbClr val="444EF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b="1" u="sng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03</a:t>
            </a:r>
            <a:endParaRPr lang="en-GB" sz="2400" b="1" u="sng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191002" y="69850"/>
            <a:ext cx="3809998" cy="646331"/>
          </a:xfrm>
          <a:prstGeom prst="rect">
            <a:avLst/>
          </a:prstGeom>
          <a:noFill/>
        </p:spPr>
        <p:txBody>
          <a:bodyPr wrap="square" lIns="45720" tIns="27432" rIns="45720" bIns="27432"/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6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团队</a:t>
            </a:r>
            <a:endParaRPr lang="zh-CN" altLang="en-US" sz="36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141839" y="346785"/>
            <a:ext cx="7908323" cy="108542"/>
            <a:chOff x="1837039" y="691984"/>
            <a:chExt cx="7908323" cy="108542"/>
          </a:xfrm>
        </p:grpSpPr>
        <p:cxnSp>
          <p:nvCxnSpPr>
            <p:cNvPr id="33" name="直接连接符 32"/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文本框 66"/>
          <p:cNvSpPr txBox="1">
            <a:spLocks noChangeArrowheads="1"/>
          </p:cNvSpPr>
          <p:nvPr/>
        </p:nvSpPr>
        <p:spPr bwMode="auto">
          <a:xfrm>
            <a:off x="951740" y="3350346"/>
            <a:ext cx="1483658" cy="2308324"/>
          </a:xfrm>
          <a:prstGeom prst="rect">
            <a:avLst/>
          </a:prstGeom>
        </p:spPr>
        <p:txBody>
          <a:bodyPr wrap="square" lIns="45720" tIns="27432" rIns="45720" bIns="27432"/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r>
              <a:rPr lang="zh-CN" altLang="en-US" sz="11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3 名在校大学生，来自山东财经大学燕山学院</a:t>
            </a:r>
            <a:r>
              <a:rPr lang="en-US" altLang="zh-CN" sz="11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 </a:t>
            </a:r>
            <a:r>
              <a:rPr lang="zh-CN" altLang="en-US" sz="11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计算机科学与技术专业；从需求梳理、架构设计到自动化发布，全部由团队成员独立完成。</a:t>
            </a:r>
            <a:endParaRPr lang="zh-CN" altLang="en-US" sz="11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  <p:sp>
        <p:nvSpPr>
          <p:cNvPr id="11285" name="TextBox 11284"/>
          <p:cNvSpPr txBox="1"/>
          <p:nvPr/>
        </p:nvSpPr>
        <p:spPr>
          <a:xfrm>
            <a:off x="2788920" y="2331720"/>
            <a:ext cx="2240280" cy="2926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/>
            <a:r>
              <a:rPr lang="zh-CN" altLang="en-US" sz="14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sym typeface="思源宋体 CN SemiBold" panose="02020600000000000000" pitchFamily="18" charset="-122"/>
              </a:rPr>
              <a:t>离“教与学”的场景最近 —— 用户就是我们的同学和老师</a:t>
            </a:r>
            <a:endParaRPr lang="zh-CN" altLang="en-US" sz="14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44E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1" name="矩形 259"/>
          <p:cNvSpPr>
            <a:spLocks noChangeArrowheads="1"/>
          </p:cNvSpPr>
          <p:nvPr/>
        </p:nvSpPr>
        <p:spPr bwMode="auto">
          <a:xfrm>
            <a:off x="1019175" y="2628898"/>
            <a:ext cx="101536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tIns="27432" rIns="45720" bIns="27432"/>
          <a:lstStyle/>
          <a:p>
            <a:pPr algn="ctr" defTabSz="913765">
              <a:spcBef>
                <a:spcPct val="20000"/>
              </a:spcBef>
            </a:pPr>
            <a:r>
              <a:rPr lang="zh-CN" altLang="en-US" sz="4800" b="1" cap="all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SemiBold" panose="02020600000000000000" pitchFamily="18" charset="-122"/>
              </a:rPr>
              <a:t>让每一道好题都被好好使用</a:t>
            </a:r>
            <a:endParaRPr lang="zh-CN" altLang="en-US" sz="4800" b="1" cap="all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41448" y="4389120"/>
            <a:ext cx="7315200" cy="1005840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让“出题、练题、讲题”告别纸质文档与散落表格，沉淀为可共享、可复用、可进化的知识资产；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让每位学习者拥有专属的智能学习教练。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致谢：导员</a:t>
            </a:r>
            <a:r>
              <a:rPr lang="en-US" altLang="zh-CN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-</a:t>
            </a:r>
            <a:r>
              <a:rPr lang="zh-CN" altLang="en-US" sz="1200" b="0" dirty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黑月怡</a:t>
            </a:r>
            <a:endParaRPr lang="zh-CN" altLang="en-US" sz="1200" b="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635946" y="2368844"/>
            <a:ext cx="920109" cy="118536"/>
            <a:chOff x="908146" y="1355577"/>
            <a:chExt cx="920109" cy="118536"/>
          </a:xfrm>
        </p:grpSpPr>
        <p:sp>
          <p:nvSpPr>
            <p:cNvPr id="14" name="椭圆 13"/>
            <p:cNvSpPr/>
            <p:nvPr/>
          </p:nvSpPr>
          <p:spPr>
            <a:xfrm>
              <a:off x="908146" y="1355577"/>
              <a:ext cx="118536" cy="118536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175337" y="1355577"/>
              <a:ext cx="118536" cy="118536"/>
            </a:xfrm>
            <a:prstGeom prst="ellipse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1442528" y="1355577"/>
              <a:ext cx="118536" cy="118536"/>
            </a:xfrm>
            <a:prstGeom prst="ellipse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709719" y="1355577"/>
              <a:ext cx="118536" cy="118536"/>
            </a:xfrm>
            <a:prstGeom prst="ellipse">
              <a:avLst/>
            </a:prstGeom>
            <a:solidFill>
              <a:schemeClr val="bg1"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</p:grpSp>
      <p:sp>
        <p:nvSpPr>
          <p:cNvPr id="25" name="Cross 17"/>
          <p:cNvSpPr/>
          <p:nvPr/>
        </p:nvSpPr>
        <p:spPr>
          <a:xfrm>
            <a:off x="5998246" y="579844"/>
            <a:ext cx="195508" cy="195508"/>
          </a:xfrm>
          <a:prstGeom prst="plus">
            <a:avLst>
              <a:gd name="adj" fmla="val 3698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159900" y="5778500"/>
            <a:ext cx="98722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159900" y="1498600"/>
            <a:ext cx="9872200" cy="0"/>
          </a:xfrm>
          <a:prstGeom prst="line">
            <a:avLst/>
          </a:prstGeom>
          <a:ln w="3619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3862783" y="4075394"/>
            <a:ext cx="4466435" cy="276999"/>
          </a:xfrm>
          <a:prstGeom prst="rect">
            <a:avLst/>
          </a:prstGeom>
        </p:spPr>
        <p:txBody>
          <a:bodyPr wrap="square" lIns="45720" tIns="27432" rIns="45720" bIns="27432"/>
          <a:lstStyle/>
          <a:p>
            <a:pPr algn="ctr" defTabSz="914400">
              <a:defRPr/>
            </a:pPr>
            <a:r>
              <a:rPr lang="zh-CN" altLang="zh-CN" sz="1050" b="0" dirty="0" smtClean="0">
                <a:solidFill>
                  <a:schemeClr val="bg1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rPr>
              <a:t>THANKS · github.com/Han-Haocheng/IntelligentQuestionBank</a:t>
            </a:r>
            <a:endParaRPr lang="zh-CN" altLang="zh-CN" sz="1050" b="0" dirty="0" smtClean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  <p:tag name="KSO_WPP_MARK_KEY" val="46b6700f-dc96-4dec-aeba-8332ee722fce"/>
  <p:tag name="COMMONDATA" val="eyJoZGlkIjoiNmU0ZmNjMjcyNjVhYWVmODFmMDA2NGIyZTQxOWE2NzQifQ=="/>
</p:tagLst>
</file>

<file path=ppt/theme/theme1.xml><?xml version="1.0" encoding="utf-8"?>
<a:theme xmlns:a="http://schemas.openxmlformats.org/drawingml/2006/main" name="pl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0axlpoj">
      <a:majorFont>
        <a:latin typeface="思源宋体 CN SemiBold"/>
        <a:ea typeface="思源宋体 CN SemiBold"/>
        <a:cs typeface=""/>
      </a:majorFont>
      <a:minorFont>
        <a:latin typeface="思源宋体 CN SemiBold"/>
        <a:ea typeface="思源宋体 CN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 CN Semi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 CN SemiBold"/>
        <a:ea typeface=""/>
        <a:cs typeface=""/>
        <a:font script="Jpan" typeface="ＭＳ Ｐゴシック"/>
        <a:font script="Hang" typeface="맑은 고딕"/>
        <a:font script="Hans" typeface="思源宋体 CN SemiBold"/>
        <a:font script="Hant" typeface="新細明體"/>
        <a:font script="Arab" typeface="思源宋体 CN SemiBold"/>
        <a:font script="Hebr" typeface="思源宋体 CN Semi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宋体 CN Semi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 CN Semi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 CN SemiBold"/>
        <a:ea typeface=""/>
        <a:cs typeface=""/>
        <a:font script="Jpan" typeface="ＭＳ Ｐゴシック"/>
        <a:font script="Hang" typeface="맑은 고딕"/>
        <a:font script="Hans" typeface="思源宋体 CN SemiBold"/>
        <a:font script="Hant" typeface="新細明體"/>
        <a:font script="Arab" typeface="思源宋体 CN SemiBold"/>
        <a:font script="Hebr" typeface="思源宋体 CN Semi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宋体 CN Semi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3066</Words>
  <Application>WPS 演示</Application>
  <PresentationFormat>宽屏</PresentationFormat>
  <Paragraphs>362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宋体</vt:lpstr>
      <vt:lpstr>Wingdings</vt:lpstr>
      <vt:lpstr>思源宋体 CN SemiBold</vt:lpstr>
      <vt:lpstr>方正书宋_GBK</vt:lpstr>
      <vt:lpstr>微软雅黑</vt:lpstr>
      <vt:lpstr>Calibri</vt:lpstr>
      <vt:lpstr>思源宋体 CN Heavy</vt:lpstr>
      <vt:lpstr>汉仪润圆-65简</vt:lpstr>
      <vt:lpstr>宋体</vt:lpstr>
      <vt:lpstr>Arial Unicode MS</vt:lpstr>
      <vt:lpstr>HYZhongYuanJ</vt:lpstr>
      <vt:lpstr>Helvetica-Roman-SemiB</vt:lpstr>
      <vt:lpstr>SimSun-ExtB</vt:lpstr>
      <vt:lpstr>C059</vt:lpstr>
      <vt:lpstr>思源宋体 CN SemiBold</vt:lpstr>
      <vt:lpstr>pl主题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HanHaocheng</cp:lastModifiedBy>
  <cp:revision>481</cp:revision>
  <dcterms:created xsi:type="dcterms:W3CDTF">2026-09-10T12:16:49Z</dcterms:created>
  <dcterms:modified xsi:type="dcterms:W3CDTF">2026-09-10T12:16:49Z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3A3261E89E5BB22BB293A26AF5FE48CB_41</vt:lpwstr>
  </property>
  <property fmtid="{D5CDD505-2E9C-101B-9397-08002B2CF9AE}" pid="3" name="KSOProductBuildVer">
    <vt:lpwstr>2052-12.1.2.28080</vt:lpwstr>
  </property>
  <property fmtid="{D5CDD505-2E9C-101B-9397-08002B2CF9AE}" pid="4" name="KSOTemplateUUID">
    <vt:lpwstr>v1.0_mb_kidoa9iEZgGtV8VWHk/UJQ==</vt:lpwstr>
  </property>
</Properties>
</file>